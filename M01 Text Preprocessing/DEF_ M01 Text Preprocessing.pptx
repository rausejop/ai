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10287000" cx="18288000"/>
  <p:notesSz cx="6858000" cy="9144000"/>
  <p:embeddedFontLst>
    <p:embeddedFont>
      <p:font typeface="Jost"/>
      <p:bold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8" roundtripDataSignature="AMtx7mipkkJ3EWBOWk/xNZBSaD12gfVs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Jost-boldItalic.fntdata"/><Relationship Id="rId14" Type="http://schemas.openxmlformats.org/officeDocument/2006/relationships/slide" Target="slides/slide9.xml"/><Relationship Id="rId36" Type="http://schemas.openxmlformats.org/officeDocument/2006/relationships/font" Target="fonts/Jost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jp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jp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jp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jp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jpg"/><Relationship Id="rId4" Type="http://schemas.openxmlformats.org/officeDocument/2006/relationships/image" Target="../media/image4.jpg"/><Relationship Id="rId5" Type="http://schemas.openxmlformats.org/officeDocument/2006/relationships/image" Target="../media/image1.png"/><Relationship Id="rId6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jp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jp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jp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jp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jpg"/><Relationship Id="rId4" Type="http://schemas.openxmlformats.org/officeDocument/2006/relationships/image" Target="../media/image1.png"/><Relationship Id="rId5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jp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jpg"/><Relationship Id="rId4" Type="http://schemas.openxmlformats.org/officeDocument/2006/relationships/image" Target="../media/image1.png"/><Relationship Id="rId5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jpg"/><Relationship Id="rId4" Type="http://schemas.openxmlformats.org/officeDocument/2006/relationships/image" Target="../media/image1.png"/><Relationship Id="rId5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jpg"/><Relationship Id="rId4" Type="http://schemas.openxmlformats.org/officeDocument/2006/relationships/image" Target="../media/image1.png"/><Relationship Id="rId5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jpg"/><Relationship Id="rId4" Type="http://schemas.openxmlformats.org/officeDocument/2006/relationships/image" Target="../media/image1.png"/><Relationship Id="rId5" Type="http://schemas.openxmlformats.org/officeDocument/2006/relationships/image" Target="../media/image18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jpg"/><Relationship Id="rId4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jpg"/><Relationship Id="rId4" Type="http://schemas.openxmlformats.org/officeDocument/2006/relationships/image" Target="../media/image1.png"/><Relationship Id="rId5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jpg"/><Relationship Id="rId4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jpg"/><Relationship Id="rId4" Type="http://schemas.openxmlformats.org/officeDocument/2006/relationships/image" Target="../media/image1.png"/><Relationship Id="rId5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jpg"/><Relationship Id="rId4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jpg"/><Relationship Id="rId4" Type="http://schemas.openxmlformats.org/officeDocument/2006/relationships/image" Target="../media/image1.png"/><Relationship Id="rId5" Type="http://schemas.openxmlformats.org/officeDocument/2006/relationships/image" Target="../media/image2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jpg"/><Relationship Id="rId4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jpg"/><Relationship Id="rId4" Type="http://schemas.openxmlformats.org/officeDocument/2006/relationships/image" Target="../media/image1.png"/><Relationship Id="rId5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jpg"/><Relationship Id="rId4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95" l="0" r="-56482" t="-52941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descr="Bandera de España - Wikipedia, la enciclopedia libre" id="86" name="Google Shape;86;p1"/>
          <p:cNvSpPr/>
          <p:nvPr/>
        </p:nvSpPr>
        <p:spPr>
          <a:xfrm>
            <a:off x="4574261" y="746736"/>
            <a:ext cx="956362" cy="563911"/>
          </a:xfrm>
          <a:custGeom>
            <a:rect b="b" l="l" r="r" t="t"/>
            <a:pathLst>
              <a:path extrusionOk="0" h="1315720" w="2231390">
                <a:moveTo>
                  <a:pt x="0" y="0"/>
                </a:moveTo>
                <a:lnTo>
                  <a:pt x="2231390" y="0"/>
                </a:lnTo>
                <a:lnTo>
                  <a:pt x="2231390" y="1315720"/>
                </a:lnTo>
                <a:lnTo>
                  <a:pt x="0" y="1315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" l="0" r="-1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>
            <a:off x="5753321" y="746736"/>
            <a:ext cx="956362" cy="563911"/>
          </a:xfrm>
          <a:custGeom>
            <a:rect b="b" l="l" r="r" t="t"/>
            <a:pathLst>
              <a:path extrusionOk="0" h="1315720" w="2231390">
                <a:moveTo>
                  <a:pt x="0" y="0"/>
                </a:moveTo>
                <a:lnTo>
                  <a:pt x="2231390" y="0"/>
                </a:lnTo>
                <a:lnTo>
                  <a:pt x="2231390" y="1315720"/>
                </a:lnTo>
                <a:lnTo>
                  <a:pt x="0" y="1315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1620" l="0" r="-1" t="0"/>
            </a:stretch>
          </a:blipFill>
          <a:ln>
            <a:noFill/>
          </a:ln>
        </p:spPr>
      </p:sp>
      <p:sp>
        <p:nvSpPr>
          <p:cNvPr descr="Bandera de Jordania - Wikipedia, la enciclopedia libre" id="88" name="Google Shape;88;p1"/>
          <p:cNvSpPr/>
          <p:nvPr/>
        </p:nvSpPr>
        <p:spPr>
          <a:xfrm>
            <a:off x="6935692" y="746736"/>
            <a:ext cx="956362" cy="563911"/>
          </a:xfrm>
          <a:custGeom>
            <a:rect b="b" l="l" r="r" t="t"/>
            <a:pathLst>
              <a:path extrusionOk="0" h="1315720" w="2231390">
                <a:moveTo>
                  <a:pt x="0" y="0"/>
                </a:moveTo>
                <a:lnTo>
                  <a:pt x="2231390" y="0"/>
                </a:lnTo>
                <a:lnTo>
                  <a:pt x="2231390" y="1315720"/>
                </a:lnTo>
                <a:lnTo>
                  <a:pt x="0" y="13157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-1" l="0" r="-17928" t="0"/>
            </a:stretch>
          </a:blipFill>
          <a:ln>
            <a:noFill/>
          </a:ln>
        </p:spPr>
      </p:sp>
      <p:grpSp>
        <p:nvGrpSpPr>
          <p:cNvPr id="89" name="Google Shape;89;p1"/>
          <p:cNvGrpSpPr/>
          <p:nvPr/>
        </p:nvGrpSpPr>
        <p:grpSpPr>
          <a:xfrm>
            <a:off x="1259561" y="710571"/>
            <a:ext cx="3086100" cy="600092"/>
            <a:chOff x="0" y="-9525"/>
            <a:chExt cx="812800" cy="158049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91" name="Google Shape;91;p1"/>
            <p:cNvSpPr txBox="1"/>
            <p:nvPr/>
          </p:nvSpPr>
          <p:spPr>
            <a:xfrm>
              <a:off x="0" y="-9525"/>
              <a:ext cx="812800" cy="158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/>
            </a:p>
          </p:txBody>
        </p:sp>
      </p:grpSp>
      <p:sp>
        <p:nvSpPr>
          <p:cNvPr id="92" name="Google Shape;92;p1"/>
          <p:cNvSpPr txBox="1"/>
          <p:nvPr/>
        </p:nvSpPr>
        <p:spPr>
          <a:xfrm>
            <a:off x="1259550" y="4477258"/>
            <a:ext cx="13313400" cy="31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92"/>
              <a:buFont typeface="Arial"/>
              <a:buNone/>
            </a:pPr>
            <a:r>
              <a:rPr b="1" i="0" lang="en-US" sz="14592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 b="0" i="0" sz="1400" u="none" cap="none" strike="noStrike">
              <a:solidFill>
                <a:srgbClr val="00000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259550" y="7954400"/>
            <a:ext cx="8989800" cy="11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Advanced NLP &amp; Large Language Models (LLMs)</a:t>
            </a:r>
            <a:endParaRPr b="0" i="0" sz="1400" u="none" cap="none" strike="noStrike">
              <a:solidFill>
                <a:srgbClr val="000000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95" l="0" r="-56482" t="-52941"/>
            </a:stretch>
          </a:blipFill>
          <a:ln>
            <a:noFill/>
          </a:ln>
        </p:spPr>
      </p:sp>
      <p:sp>
        <p:nvSpPr>
          <p:cNvPr id="99" name="Google Shape;99;p2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/>
          </a:p>
        </p:txBody>
      </p:sp>
      <p:grpSp>
        <p:nvGrpSpPr>
          <p:cNvPr id="100" name="Google Shape;100;p2"/>
          <p:cNvGrpSpPr/>
          <p:nvPr/>
        </p:nvGrpSpPr>
        <p:grpSpPr>
          <a:xfrm>
            <a:off x="1259561" y="710571"/>
            <a:ext cx="3086100" cy="600092"/>
            <a:chOff x="0" y="-9525"/>
            <a:chExt cx="812800" cy="158049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2" name="Google Shape;102;p2"/>
            <p:cNvSpPr txBox="1"/>
            <p:nvPr/>
          </p:nvSpPr>
          <p:spPr>
            <a:xfrm>
              <a:off x="0" y="-9525"/>
              <a:ext cx="812800" cy="158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/>
            </a:p>
          </p:txBody>
        </p:sp>
      </p:grpSp>
      <p:grpSp>
        <p:nvGrpSpPr>
          <p:cNvPr id="103" name="Google Shape;103;p2"/>
          <p:cNvGrpSpPr/>
          <p:nvPr/>
        </p:nvGrpSpPr>
        <p:grpSpPr>
          <a:xfrm>
            <a:off x="1140401" y="1999376"/>
            <a:ext cx="5872986" cy="720872"/>
            <a:chOff x="0" y="-9525"/>
            <a:chExt cx="1443136" cy="189863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1443136" cy="180338"/>
            </a:xfrm>
            <a:custGeom>
              <a:rect b="b" l="l" r="r" t="t"/>
              <a:pathLst>
                <a:path extrusionOk="0" h="180338" w="1443136">
                  <a:moveTo>
                    <a:pt x="0" y="0"/>
                  </a:moveTo>
                  <a:lnTo>
                    <a:pt x="1443136" y="0"/>
                  </a:lnTo>
                  <a:lnTo>
                    <a:pt x="1443136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05" name="Google Shape;105;p2"/>
            <p:cNvSpPr txBox="1"/>
            <p:nvPr/>
          </p:nvSpPr>
          <p:spPr>
            <a:xfrm>
              <a:off x="0" y="-9525"/>
              <a:ext cx="1443136" cy="1898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2"/>
          <p:cNvSpPr txBox="1"/>
          <p:nvPr/>
        </p:nvSpPr>
        <p:spPr>
          <a:xfrm>
            <a:off x="1259561" y="2047829"/>
            <a:ext cx="10060500" cy="69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FFFFFF"/>
                </a:solidFill>
                <a:latin typeface="Jost"/>
                <a:ea typeface="Jost"/>
                <a:cs typeface="Jost"/>
                <a:sym typeface="Jost"/>
              </a:rPr>
              <a:t>M01: </a:t>
            </a:r>
            <a:r>
              <a:rPr b="0" i="0" lang="en-US" sz="4123" u="none" cap="none" strike="noStrike">
                <a:solidFill>
                  <a:srgbClr val="FFFFFF"/>
                </a:solidFill>
                <a:latin typeface="Jost"/>
                <a:ea typeface="Jost"/>
                <a:cs typeface="Jost"/>
                <a:sym typeface="Jost"/>
              </a:rPr>
              <a:t>Text Preprocessing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M02: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Word and Sentence Embeddings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M03: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Transformer Architectures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M04: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Entity-Centric NLP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M05: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Applied NLP Tasks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M06: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Multimodal NLP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M07: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LLM Fundamentals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M08: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Prompt Engineering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M09: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Fine-Tuning &amp; PEFT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M10: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RAG &amp; Real-World Projects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95" l="0" r="-56482" t="-52941"/>
            </a:stretch>
          </a:blipFill>
          <a:ln>
            <a:noFill/>
          </a:ln>
        </p:spPr>
      </p:sp>
      <p:sp>
        <p:nvSpPr>
          <p:cNvPr id="113" name="Google Shape;113;p4"/>
          <p:cNvSpPr txBox="1"/>
          <p:nvPr/>
        </p:nvSpPr>
        <p:spPr>
          <a:xfrm>
            <a:off x="1028700" y="2425176"/>
            <a:ext cx="14094300" cy="11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94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TEXT PREPROCESSING</a:t>
            </a:r>
            <a:endParaRPr/>
          </a:p>
        </p:txBody>
      </p:sp>
      <p:sp>
        <p:nvSpPr>
          <p:cNvPr id="114" name="Google Shape;114;p4"/>
          <p:cNvSpPr txBox="1"/>
          <p:nvPr/>
        </p:nvSpPr>
        <p:spPr>
          <a:xfrm>
            <a:off x="1028700" y="5172770"/>
            <a:ext cx="8518500" cy="7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21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BPE Byte Pair Encoding</a:t>
            </a:r>
            <a:endParaRPr/>
          </a:p>
        </p:txBody>
      </p:sp>
      <p:grpSp>
        <p:nvGrpSpPr>
          <p:cNvPr id="115" name="Google Shape;115;p4"/>
          <p:cNvGrpSpPr/>
          <p:nvPr/>
        </p:nvGrpSpPr>
        <p:grpSpPr>
          <a:xfrm>
            <a:off x="1028700" y="1028700"/>
            <a:ext cx="5382906" cy="1023288"/>
            <a:chOff x="0" y="0"/>
            <a:chExt cx="1417720" cy="269508"/>
          </a:xfrm>
        </p:grpSpPr>
        <p:sp>
          <p:nvSpPr>
            <p:cNvPr id="116" name="Google Shape;116;p4"/>
            <p:cNvSpPr/>
            <p:nvPr/>
          </p:nvSpPr>
          <p:spPr>
            <a:xfrm>
              <a:off x="0" y="0"/>
              <a:ext cx="1417720" cy="269508"/>
            </a:xfrm>
            <a:custGeom>
              <a:rect b="b" l="l" r="r" t="t"/>
              <a:pathLst>
                <a:path extrusionOk="0" h="269508" w="1417720">
                  <a:moveTo>
                    <a:pt x="0" y="0"/>
                  </a:moveTo>
                  <a:lnTo>
                    <a:pt x="1417720" y="0"/>
                  </a:lnTo>
                  <a:lnTo>
                    <a:pt x="1417720" y="269508"/>
                  </a:lnTo>
                  <a:lnTo>
                    <a:pt x="0" y="26950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17" name="Google Shape;117;p4"/>
            <p:cNvSpPr txBox="1"/>
            <p:nvPr/>
          </p:nvSpPr>
          <p:spPr>
            <a:xfrm>
              <a:off x="0" y="0"/>
              <a:ext cx="1417720" cy="2695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4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MODULE M01</a:t>
              </a:r>
              <a:endParaRPr/>
            </a:p>
          </p:txBody>
        </p:sp>
      </p:grpSp>
      <p:grpSp>
        <p:nvGrpSpPr>
          <p:cNvPr id="118" name="Google Shape;118;p4"/>
          <p:cNvGrpSpPr/>
          <p:nvPr/>
        </p:nvGrpSpPr>
        <p:grpSpPr>
          <a:xfrm>
            <a:off x="1028700" y="3796780"/>
            <a:ext cx="5382906" cy="1023288"/>
            <a:chOff x="0" y="0"/>
            <a:chExt cx="1417720" cy="269508"/>
          </a:xfrm>
        </p:grpSpPr>
        <p:sp>
          <p:nvSpPr>
            <p:cNvPr id="119" name="Google Shape;119;p4"/>
            <p:cNvSpPr/>
            <p:nvPr/>
          </p:nvSpPr>
          <p:spPr>
            <a:xfrm>
              <a:off x="0" y="0"/>
              <a:ext cx="1417720" cy="269508"/>
            </a:xfrm>
            <a:custGeom>
              <a:rect b="b" l="l" r="r" t="t"/>
              <a:pathLst>
                <a:path extrusionOk="0" h="269508" w="1417720">
                  <a:moveTo>
                    <a:pt x="0" y="0"/>
                  </a:moveTo>
                  <a:lnTo>
                    <a:pt x="1417720" y="0"/>
                  </a:lnTo>
                  <a:lnTo>
                    <a:pt x="1417720" y="269508"/>
                  </a:lnTo>
                  <a:lnTo>
                    <a:pt x="0" y="26950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20" name="Google Shape;120;p4"/>
            <p:cNvSpPr txBox="1"/>
            <p:nvPr/>
          </p:nvSpPr>
          <p:spPr>
            <a:xfrm>
              <a:off x="0" y="0"/>
              <a:ext cx="1417720" cy="2695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4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CHAPTER M01.2</a:t>
              </a:r>
              <a:endParaRPr/>
            </a:p>
          </p:txBody>
        </p:sp>
      </p:grpSp>
      <p:sp>
        <p:nvSpPr>
          <p:cNvPr id="121" name="Google Shape;121;p4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95" l="0" r="-56482" t="-52941"/>
            </a:stretch>
          </a:blipFill>
          <a:ln>
            <a:noFill/>
          </a:ln>
        </p:spPr>
      </p:sp>
      <p:grpSp>
        <p:nvGrpSpPr>
          <p:cNvPr id="127" name="Google Shape;127;p3"/>
          <p:cNvGrpSpPr/>
          <p:nvPr/>
        </p:nvGrpSpPr>
        <p:grpSpPr>
          <a:xfrm>
            <a:off x="1259561" y="710571"/>
            <a:ext cx="3086100" cy="600092"/>
            <a:chOff x="0" y="-9525"/>
            <a:chExt cx="812800" cy="158049"/>
          </a:xfrm>
        </p:grpSpPr>
        <p:sp>
          <p:nvSpPr>
            <p:cNvPr id="128" name="Google Shape;128;p3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29" name="Google Shape;129;p3"/>
            <p:cNvSpPr txBox="1"/>
            <p:nvPr/>
          </p:nvSpPr>
          <p:spPr>
            <a:xfrm>
              <a:off x="0" y="-9525"/>
              <a:ext cx="812800" cy="158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/>
            </a:p>
          </p:txBody>
        </p:sp>
      </p:grpSp>
      <p:grpSp>
        <p:nvGrpSpPr>
          <p:cNvPr id="130" name="Google Shape;130;p3"/>
          <p:cNvGrpSpPr/>
          <p:nvPr/>
        </p:nvGrpSpPr>
        <p:grpSpPr>
          <a:xfrm>
            <a:off x="1160376" y="2039325"/>
            <a:ext cx="9747941" cy="720872"/>
            <a:chOff x="0" y="-9525"/>
            <a:chExt cx="2404287" cy="189863"/>
          </a:xfrm>
        </p:grpSpPr>
        <p:sp>
          <p:nvSpPr>
            <p:cNvPr id="131" name="Google Shape;131;p3"/>
            <p:cNvSpPr/>
            <p:nvPr/>
          </p:nvSpPr>
          <p:spPr>
            <a:xfrm>
              <a:off x="0" y="0"/>
              <a:ext cx="2404287" cy="180338"/>
            </a:xfrm>
            <a:custGeom>
              <a:rect b="b" l="l" r="r" t="t"/>
              <a:pathLst>
                <a:path extrusionOk="0" h="180338" w="2404287">
                  <a:moveTo>
                    <a:pt x="0" y="0"/>
                  </a:moveTo>
                  <a:lnTo>
                    <a:pt x="2404287" y="0"/>
                  </a:lnTo>
                  <a:lnTo>
                    <a:pt x="2404287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32" name="Google Shape;132;p3"/>
            <p:cNvSpPr txBox="1"/>
            <p:nvPr/>
          </p:nvSpPr>
          <p:spPr>
            <a:xfrm>
              <a:off x="0" y="-9525"/>
              <a:ext cx="2404287" cy="1898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3"/>
          <p:cNvSpPr txBox="1"/>
          <p:nvPr/>
        </p:nvSpPr>
        <p:spPr>
          <a:xfrm>
            <a:off x="1259561" y="2047829"/>
            <a:ext cx="13122900" cy="55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FFFFFF"/>
                </a:solidFill>
                <a:latin typeface="Jost"/>
                <a:ea typeface="Jost"/>
                <a:cs typeface="Jost"/>
                <a:sym typeface="Jost"/>
              </a:rPr>
              <a:t>1. Getting Started with Text Processing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2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. Fundamentals of Tokenization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3.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Byte-Pair Encoding (BPE) and Subword Tokenization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4.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Advanced Subword Tokenization with SentencePiece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Stopwords and Vocabulary Management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6.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Processing Multilingual and Cross-Lingual Text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7.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Summary and Next Steps</a:t>
            </a:r>
            <a:endParaRPr/>
          </a:p>
          <a:p>
            <a:pPr indent="0" lvl="0" marL="0" marR="0" rtl="0" algn="l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123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p3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95" l="0" r="-56482" t="-52941"/>
            </a:stretch>
          </a:blipFill>
          <a:ln>
            <a:noFill/>
          </a:ln>
        </p:spPr>
      </p:sp>
      <p:sp>
        <p:nvSpPr>
          <p:cNvPr id="141" name="Google Shape;141;p5"/>
          <p:cNvSpPr txBox="1"/>
          <p:nvPr/>
        </p:nvSpPr>
        <p:spPr>
          <a:xfrm>
            <a:off x="1028700" y="2111325"/>
            <a:ext cx="133353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1.1 </a:t>
            </a:r>
            <a:r>
              <a:rPr b="0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Getting Started with Text Processing.</a:t>
            </a:r>
            <a:endParaRPr/>
          </a:p>
        </p:txBody>
      </p:sp>
      <p:sp>
        <p:nvSpPr>
          <p:cNvPr id="142" name="Google Shape;142;p5"/>
          <p:cNvSpPr txBox="1"/>
          <p:nvPr/>
        </p:nvSpPr>
        <p:spPr>
          <a:xfrm>
            <a:off x="1463235" y="3162025"/>
            <a:ext cx="11477400" cy="26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Text processing is not a preliminary task, but the foundation of all modern NLP systems.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Before any model can learn, raw human language must be transformed into a structured numerical form.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This transformation defines what a model can and cannot understand.</a:t>
            </a:r>
            <a:endParaRPr/>
          </a:p>
          <a:p>
            <a:pPr indent="0" lvl="0" marL="0" marR="0" rtl="0" algn="l">
              <a:lnSpc>
                <a:spcPct val="7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43" name="Google Shape;143;p5"/>
          <p:cNvGrpSpPr/>
          <p:nvPr/>
        </p:nvGrpSpPr>
        <p:grpSpPr>
          <a:xfrm>
            <a:off x="1028700" y="1028700"/>
            <a:ext cx="4030343" cy="777108"/>
            <a:chOff x="0" y="0"/>
            <a:chExt cx="1061489" cy="204671"/>
          </a:xfrm>
        </p:grpSpPr>
        <p:sp>
          <p:nvSpPr>
            <p:cNvPr id="144" name="Google Shape;144;p5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45" name="Google Shape;145;p5"/>
            <p:cNvSpPr txBox="1"/>
            <p:nvPr/>
          </p:nvSpPr>
          <p:spPr>
            <a:xfrm>
              <a:off x="0" y="0"/>
              <a:ext cx="1061489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/>
            </a:p>
          </p:txBody>
        </p:sp>
      </p:grpSp>
      <p:grpSp>
        <p:nvGrpSpPr>
          <p:cNvPr id="146" name="Google Shape;146;p5"/>
          <p:cNvGrpSpPr/>
          <p:nvPr/>
        </p:nvGrpSpPr>
        <p:grpSpPr>
          <a:xfrm>
            <a:off x="1028700" y="3142590"/>
            <a:ext cx="259165" cy="661599"/>
            <a:chOff x="0" y="0"/>
            <a:chExt cx="80174" cy="204671"/>
          </a:xfrm>
        </p:grpSpPr>
        <p:sp>
          <p:nvSpPr>
            <p:cNvPr id="147" name="Google Shape;147;p5"/>
            <p:cNvSpPr/>
            <p:nvPr/>
          </p:nvSpPr>
          <p:spPr>
            <a:xfrm>
              <a:off x="0" y="0"/>
              <a:ext cx="80174" cy="204671"/>
            </a:xfrm>
            <a:custGeom>
              <a:rect b="b" l="l" r="r" t="t"/>
              <a:pathLst>
                <a:path extrusionOk="0" h="204671" w="80174">
                  <a:moveTo>
                    <a:pt x="0" y="0"/>
                  </a:moveTo>
                  <a:lnTo>
                    <a:pt x="80174" y="0"/>
                  </a:lnTo>
                  <a:lnTo>
                    <a:pt x="80174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48" name="Google Shape;148;p5"/>
            <p:cNvSpPr txBox="1"/>
            <p:nvPr/>
          </p:nvSpPr>
          <p:spPr>
            <a:xfrm>
              <a:off x="0" y="0"/>
              <a:ext cx="80174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5"/>
          <p:cNvSpPr/>
          <p:nvPr/>
        </p:nvSpPr>
        <p:spPr>
          <a:xfrm>
            <a:off x="1028700" y="6184136"/>
            <a:ext cx="10344912" cy="3004090"/>
          </a:xfrm>
          <a:custGeom>
            <a:rect b="b" l="l" r="r" t="t"/>
            <a:pathLst>
              <a:path extrusionOk="0" h="4005453" w="13793215">
                <a:moveTo>
                  <a:pt x="0" y="0"/>
                </a:moveTo>
                <a:lnTo>
                  <a:pt x="13793215" y="0"/>
                </a:lnTo>
                <a:lnTo>
                  <a:pt x="13793215" y="4005453"/>
                </a:lnTo>
                <a:lnTo>
                  <a:pt x="0" y="40054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74482" l="0" r="0" t="-55090"/>
            </a:stretch>
          </a:blipFill>
          <a:ln cap="sq" cmpd="sng" w="85725">
            <a:solidFill>
              <a:srgbClr val="6592E6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150" name="Google Shape;150;p5"/>
          <p:cNvGrpSpPr/>
          <p:nvPr/>
        </p:nvGrpSpPr>
        <p:grpSpPr>
          <a:xfrm>
            <a:off x="1028700" y="4061293"/>
            <a:ext cx="259165" cy="661599"/>
            <a:chOff x="0" y="0"/>
            <a:chExt cx="80174" cy="204671"/>
          </a:xfrm>
        </p:grpSpPr>
        <p:sp>
          <p:nvSpPr>
            <p:cNvPr id="151" name="Google Shape;151;p5"/>
            <p:cNvSpPr/>
            <p:nvPr/>
          </p:nvSpPr>
          <p:spPr>
            <a:xfrm>
              <a:off x="0" y="0"/>
              <a:ext cx="80174" cy="204671"/>
            </a:xfrm>
            <a:custGeom>
              <a:rect b="b" l="l" r="r" t="t"/>
              <a:pathLst>
                <a:path extrusionOk="0" h="204671" w="80174">
                  <a:moveTo>
                    <a:pt x="0" y="0"/>
                  </a:moveTo>
                  <a:lnTo>
                    <a:pt x="80174" y="0"/>
                  </a:lnTo>
                  <a:lnTo>
                    <a:pt x="80174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2" name="Google Shape;152;p5"/>
            <p:cNvSpPr txBox="1"/>
            <p:nvPr/>
          </p:nvSpPr>
          <p:spPr>
            <a:xfrm>
              <a:off x="0" y="0"/>
              <a:ext cx="80174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" name="Google Shape;153;p5"/>
          <p:cNvGrpSpPr/>
          <p:nvPr/>
        </p:nvGrpSpPr>
        <p:grpSpPr>
          <a:xfrm>
            <a:off x="1028700" y="4982387"/>
            <a:ext cx="259165" cy="400016"/>
            <a:chOff x="0" y="0"/>
            <a:chExt cx="80174" cy="123748"/>
          </a:xfrm>
        </p:grpSpPr>
        <p:sp>
          <p:nvSpPr>
            <p:cNvPr id="154" name="Google Shape;154;p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55" name="Google Shape;155;p5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5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95" l="0" r="-56482" t="-52941"/>
            </a:stretch>
          </a:blipFill>
          <a:ln>
            <a:noFill/>
          </a:ln>
        </p:spPr>
      </p:sp>
      <p:sp>
        <p:nvSpPr>
          <p:cNvPr id="162" name="Google Shape;162;p6"/>
          <p:cNvSpPr txBox="1"/>
          <p:nvPr/>
        </p:nvSpPr>
        <p:spPr>
          <a:xfrm>
            <a:off x="1028700" y="2111325"/>
            <a:ext cx="132756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1.1 </a:t>
            </a:r>
            <a:r>
              <a:rPr b="0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Getting Started with Text Processing.</a:t>
            </a:r>
            <a:endParaRPr/>
          </a:p>
        </p:txBody>
      </p:sp>
      <p:sp>
        <p:nvSpPr>
          <p:cNvPr id="163" name="Google Shape;163;p6"/>
          <p:cNvSpPr txBox="1"/>
          <p:nvPr/>
        </p:nvSpPr>
        <p:spPr>
          <a:xfrm>
            <a:off x="1463235" y="3162025"/>
            <a:ext cx="9910500" cy="26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The goal of preprocessing is to convert raw text into structured, machine-readable units.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While preserving as much semantic and structural information as possible.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This step determines the quality and limits of the entire model.</a:t>
            </a:r>
            <a:endParaRPr/>
          </a:p>
          <a:p>
            <a:pPr indent="0" lvl="0" marL="0" marR="0" rtl="0" algn="l">
              <a:lnSpc>
                <a:spcPct val="7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64" name="Google Shape;164;p6"/>
          <p:cNvGrpSpPr/>
          <p:nvPr/>
        </p:nvGrpSpPr>
        <p:grpSpPr>
          <a:xfrm>
            <a:off x="1028700" y="1028700"/>
            <a:ext cx="4030343" cy="777108"/>
            <a:chOff x="0" y="0"/>
            <a:chExt cx="1061489" cy="204671"/>
          </a:xfrm>
        </p:grpSpPr>
        <p:sp>
          <p:nvSpPr>
            <p:cNvPr id="165" name="Google Shape;165;p6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66" name="Google Shape;166;p6"/>
            <p:cNvSpPr txBox="1"/>
            <p:nvPr/>
          </p:nvSpPr>
          <p:spPr>
            <a:xfrm>
              <a:off x="0" y="0"/>
              <a:ext cx="1061489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/>
            </a:p>
          </p:txBody>
        </p:sp>
      </p:grpSp>
      <p:grpSp>
        <p:nvGrpSpPr>
          <p:cNvPr id="167" name="Google Shape;167;p6"/>
          <p:cNvGrpSpPr/>
          <p:nvPr/>
        </p:nvGrpSpPr>
        <p:grpSpPr>
          <a:xfrm>
            <a:off x="1028700" y="3142590"/>
            <a:ext cx="259165" cy="661599"/>
            <a:chOff x="0" y="0"/>
            <a:chExt cx="80174" cy="204671"/>
          </a:xfrm>
        </p:grpSpPr>
        <p:sp>
          <p:nvSpPr>
            <p:cNvPr id="168" name="Google Shape;168;p6"/>
            <p:cNvSpPr/>
            <p:nvPr/>
          </p:nvSpPr>
          <p:spPr>
            <a:xfrm>
              <a:off x="0" y="0"/>
              <a:ext cx="80174" cy="204671"/>
            </a:xfrm>
            <a:custGeom>
              <a:rect b="b" l="l" r="r" t="t"/>
              <a:pathLst>
                <a:path extrusionOk="0" h="204671" w="80174">
                  <a:moveTo>
                    <a:pt x="0" y="0"/>
                  </a:moveTo>
                  <a:lnTo>
                    <a:pt x="80174" y="0"/>
                  </a:lnTo>
                  <a:lnTo>
                    <a:pt x="80174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69" name="Google Shape;169;p6"/>
            <p:cNvSpPr txBox="1"/>
            <p:nvPr/>
          </p:nvSpPr>
          <p:spPr>
            <a:xfrm>
              <a:off x="0" y="0"/>
              <a:ext cx="80174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6"/>
          <p:cNvSpPr/>
          <p:nvPr/>
        </p:nvSpPr>
        <p:spPr>
          <a:xfrm>
            <a:off x="1028700" y="6184136"/>
            <a:ext cx="10344912" cy="3004090"/>
          </a:xfrm>
          <a:custGeom>
            <a:rect b="b" l="l" r="r" t="t"/>
            <a:pathLst>
              <a:path extrusionOk="0" h="4005453" w="13793215">
                <a:moveTo>
                  <a:pt x="0" y="0"/>
                </a:moveTo>
                <a:lnTo>
                  <a:pt x="13793215" y="0"/>
                </a:lnTo>
                <a:lnTo>
                  <a:pt x="13793215" y="4005453"/>
                </a:lnTo>
                <a:lnTo>
                  <a:pt x="0" y="40054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7096" l="0" r="0" t="-17096"/>
            </a:stretch>
          </a:blipFill>
          <a:ln cap="sq" cmpd="sng" w="85725">
            <a:solidFill>
              <a:srgbClr val="6592E6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171" name="Google Shape;171;p6"/>
          <p:cNvGrpSpPr/>
          <p:nvPr/>
        </p:nvGrpSpPr>
        <p:grpSpPr>
          <a:xfrm>
            <a:off x="1028700" y="4061293"/>
            <a:ext cx="259165" cy="661599"/>
            <a:chOff x="0" y="0"/>
            <a:chExt cx="80174" cy="204671"/>
          </a:xfrm>
        </p:grpSpPr>
        <p:sp>
          <p:nvSpPr>
            <p:cNvPr id="172" name="Google Shape;172;p6"/>
            <p:cNvSpPr/>
            <p:nvPr/>
          </p:nvSpPr>
          <p:spPr>
            <a:xfrm>
              <a:off x="0" y="0"/>
              <a:ext cx="80174" cy="204671"/>
            </a:xfrm>
            <a:custGeom>
              <a:rect b="b" l="l" r="r" t="t"/>
              <a:pathLst>
                <a:path extrusionOk="0" h="204671" w="80174">
                  <a:moveTo>
                    <a:pt x="0" y="0"/>
                  </a:moveTo>
                  <a:lnTo>
                    <a:pt x="80174" y="0"/>
                  </a:lnTo>
                  <a:lnTo>
                    <a:pt x="80174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73" name="Google Shape;173;p6"/>
            <p:cNvSpPr txBox="1"/>
            <p:nvPr/>
          </p:nvSpPr>
          <p:spPr>
            <a:xfrm>
              <a:off x="0" y="0"/>
              <a:ext cx="80174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74;p6"/>
          <p:cNvGrpSpPr/>
          <p:nvPr/>
        </p:nvGrpSpPr>
        <p:grpSpPr>
          <a:xfrm>
            <a:off x="1028700" y="4982387"/>
            <a:ext cx="259165" cy="400016"/>
            <a:chOff x="0" y="0"/>
            <a:chExt cx="80174" cy="123748"/>
          </a:xfrm>
        </p:grpSpPr>
        <p:sp>
          <p:nvSpPr>
            <p:cNvPr id="175" name="Google Shape;175;p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76" name="Google Shape;176;p6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6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6"/>
          <p:cNvSpPr/>
          <p:nvPr/>
        </p:nvSpPr>
        <p:spPr>
          <a:xfrm>
            <a:off x="1028700" y="6184136"/>
            <a:ext cx="10344950" cy="2966423"/>
          </a:xfrm>
          <a:custGeom>
            <a:rect b="b" l="l" r="r" t="t"/>
            <a:pathLst>
              <a:path extrusionOk="0" h="3844544" w="13407262">
                <a:moveTo>
                  <a:pt x="0" y="0"/>
                </a:moveTo>
                <a:lnTo>
                  <a:pt x="13407262" y="0"/>
                </a:lnTo>
                <a:lnTo>
                  <a:pt x="13407262" y="3844544"/>
                </a:lnTo>
                <a:lnTo>
                  <a:pt x="0" y="38445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74232" l="0" r="0" t="-58244"/>
            </a:stretch>
          </a:blipFill>
          <a:ln cap="sq" cmpd="sng" w="85725">
            <a:solidFill>
              <a:srgbClr val="6592E6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95" l="0" r="-56482" t="-52941"/>
            </a:stretch>
          </a:blipFill>
          <a:ln>
            <a:noFill/>
          </a:ln>
        </p:spPr>
      </p:sp>
      <p:sp>
        <p:nvSpPr>
          <p:cNvPr id="184" name="Google Shape;184;p7"/>
          <p:cNvSpPr txBox="1"/>
          <p:nvPr/>
        </p:nvSpPr>
        <p:spPr>
          <a:xfrm>
            <a:off x="1028700" y="2111325"/>
            <a:ext cx="127161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1.1 </a:t>
            </a:r>
            <a:r>
              <a:rPr b="0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Getting Started with Text Processing.</a:t>
            </a:r>
            <a:endParaRPr/>
          </a:p>
        </p:txBody>
      </p:sp>
      <p:sp>
        <p:nvSpPr>
          <p:cNvPr id="185" name="Google Shape;185;p7"/>
          <p:cNvSpPr txBox="1"/>
          <p:nvPr/>
        </p:nvSpPr>
        <p:spPr>
          <a:xfrm>
            <a:off x="1463235" y="3162025"/>
            <a:ext cx="9965400" cy="24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Cleaning and normalization of noisy text.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Definition of tokens and vocabulary.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Preparation for numerical embedding and vectorization.</a:t>
            </a:r>
            <a:endParaRPr/>
          </a:p>
          <a:p>
            <a:pPr indent="0" lvl="0" marL="0" marR="0" rtl="0" algn="l">
              <a:lnSpc>
                <a:spcPct val="9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186" name="Google Shape;186;p7"/>
          <p:cNvGrpSpPr/>
          <p:nvPr/>
        </p:nvGrpSpPr>
        <p:grpSpPr>
          <a:xfrm>
            <a:off x="1028700" y="1028700"/>
            <a:ext cx="4030343" cy="777108"/>
            <a:chOff x="0" y="0"/>
            <a:chExt cx="1061489" cy="204671"/>
          </a:xfrm>
        </p:grpSpPr>
        <p:sp>
          <p:nvSpPr>
            <p:cNvPr id="187" name="Google Shape;187;p7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88" name="Google Shape;188;p7"/>
            <p:cNvSpPr txBox="1"/>
            <p:nvPr/>
          </p:nvSpPr>
          <p:spPr>
            <a:xfrm>
              <a:off x="0" y="0"/>
              <a:ext cx="1061489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/>
            </a:p>
          </p:txBody>
        </p:sp>
      </p:grpSp>
      <p:grpSp>
        <p:nvGrpSpPr>
          <p:cNvPr id="189" name="Google Shape;189;p7"/>
          <p:cNvGrpSpPr/>
          <p:nvPr/>
        </p:nvGrpSpPr>
        <p:grpSpPr>
          <a:xfrm>
            <a:off x="1028700" y="4304906"/>
            <a:ext cx="259165" cy="400016"/>
            <a:chOff x="0" y="0"/>
            <a:chExt cx="80174" cy="123748"/>
          </a:xfrm>
        </p:grpSpPr>
        <p:sp>
          <p:nvSpPr>
            <p:cNvPr id="190" name="Google Shape;190;p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91" name="Google Shape;191;p7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" name="Google Shape;192;p7"/>
          <p:cNvGrpSpPr/>
          <p:nvPr/>
        </p:nvGrpSpPr>
        <p:grpSpPr>
          <a:xfrm>
            <a:off x="1028700" y="3723748"/>
            <a:ext cx="259165" cy="400016"/>
            <a:chOff x="0" y="0"/>
            <a:chExt cx="80174" cy="123748"/>
          </a:xfrm>
        </p:grpSpPr>
        <p:sp>
          <p:nvSpPr>
            <p:cNvPr id="193" name="Google Shape;193;p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94" name="Google Shape;194;p7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7"/>
          <p:cNvGrpSpPr/>
          <p:nvPr/>
        </p:nvGrpSpPr>
        <p:grpSpPr>
          <a:xfrm>
            <a:off x="1028700" y="3142590"/>
            <a:ext cx="259165" cy="400016"/>
            <a:chOff x="0" y="0"/>
            <a:chExt cx="80174" cy="123748"/>
          </a:xfrm>
        </p:grpSpPr>
        <p:sp>
          <p:nvSpPr>
            <p:cNvPr id="196" name="Google Shape;196;p7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197" name="Google Shape;197;p7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7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9" name="Google Shape;199;p7"/>
          <p:cNvSpPr/>
          <p:nvPr/>
        </p:nvSpPr>
        <p:spPr>
          <a:xfrm>
            <a:off x="1028700" y="5866753"/>
            <a:ext cx="7020925" cy="3375475"/>
          </a:xfrm>
          <a:custGeom>
            <a:rect b="b" l="l" r="r" t="t"/>
            <a:pathLst>
              <a:path extrusionOk="0" h="4500633" w="9361235">
                <a:moveTo>
                  <a:pt x="0" y="0"/>
                </a:moveTo>
                <a:lnTo>
                  <a:pt x="9361235" y="0"/>
                </a:lnTo>
                <a:lnTo>
                  <a:pt x="9361235" y="4500633"/>
                </a:lnTo>
                <a:lnTo>
                  <a:pt x="0" y="45006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3182" l="0" r="0" t="-15478"/>
            </a:stretch>
          </a:blipFill>
          <a:ln cap="sq" cmpd="sng" w="85725">
            <a:solidFill>
              <a:srgbClr val="6592E6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95" l="0" r="-56482" t="-52941"/>
            </a:stretch>
          </a:blipFill>
          <a:ln>
            <a:noFill/>
          </a:ln>
        </p:spPr>
      </p:sp>
      <p:sp>
        <p:nvSpPr>
          <p:cNvPr id="205" name="Google Shape;205;p8"/>
          <p:cNvSpPr txBox="1"/>
          <p:nvPr/>
        </p:nvSpPr>
        <p:spPr>
          <a:xfrm>
            <a:off x="1028700" y="2111325"/>
            <a:ext cx="135951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1.1 </a:t>
            </a:r>
            <a:r>
              <a:rPr b="0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Getting Started with Text Processing.</a:t>
            </a:r>
            <a:endParaRPr/>
          </a:p>
        </p:txBody>
      </p:sp>
      <p:sp>
        <p:nvSpPr>
          <p:cNvPr id="206" name="Google Shape;206;p8"/>
          <p:cNvSpPr txBox="1"/>
          <p:nvPr/>
        </p:nvSpPr>
        <p:spPr>
          <a:xfrm>
            <a:off x="1463235" y="3162025"/>
            <a:ext cx="12585000" cy="23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Neural networks do not understand symbols or words.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They operate exclusively on numerical tensors.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Preprocessing defines how language is translated into numbers, and therefore defines the model’s perception of reality.</a:t>
            </a:r>
            <a:endParaRPr/>
          </a:p>
          <a:p>
            <a:pPr indent="0" lvl="0" marL="0" marR="0" rtl="0" algn="l">
              <a:lnSpc>
                <a:spcPct val="7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207" name="Google Shape;207;p8"/>
          <p:cNvGrpSpPr/>
          <p:nvPr/>
        </p:nvGrpSpPr>
        <p:grpSpPr>
          <a:xfrm>
            <a:off x="1028700" y="1028700"/>
            <a:ext cx="4030343" cy="777108"/>
            <a:chOff x="0" y="0"/>
            <a:chExt cx="1061489" cy="204671"/>
          </a:xfrm>
        </p:grpSpPr>
        <p:sp>
          <p:nvSpPr>
            <p:cNvPr id="208" name="Google Shape;208;p8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09" name="Google Shape;209;p8"/>
            <p:cNvSpPr txBox="1"/>
            <p:nvPr/>
          </p:nvSpPr>
          <p:spPr>
            <a:xfrm>
              <a:off x="0" y="0"/>
              <a:ext cx="1061489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/>
            </a:p>
          </p:txBody>
        </p:sp>
      </p:grpSp>
      <p:grpSp>
        <p:nvGrpSpPr>
          <p:cNvPr id="210" name="Google Shape;210;p8"/>
          <p:cNvGrpSpPr/>
          <p:nvPr/>
        </p:nvGrpSpPr>
        <p:grpSpPr>
          <a:xfrm>
            <a:off x="1028700" y="4377008"/>
            <a:ext cx="259165" cy="661599"/>
            <a:chOff x="0" y="0"/>
            <a:chExt cx="80174" cy="204671"/>
          </a:xfrm>
        </p:grpSpPr>
        <p:sp>
          <p:nvSpPr>
            <p:cNvPr id="211" name="Google Shape;211;p8"/>
            <p:cNvSpPr/>
            <p:nvPr/>
          </p:nvSpPr>
          <p:spPr>
            <a:xfrm>
              <a:off x="0" y="0"/>
              <a:ext cx="80174" cy="204671"/>
            </a:xfrm>
            <a:custGeom>
              <a:rect b="b" l="l" r="r" t="t"/>
              <a:pathLst>
                <a:path extrusionOk="0" h="204671" w="80174">
                  <a:moveTo>
                    <a:pt x="0" y="0"/>
                  </a:moveTo>
                  <a:lnTo>
                    <a:pt x="80174" y="0"/>
                  </a:lnTo>
                  <a:lnTo>
                    <a:pt x="80174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12" name="Google Shape;212;p8"/>
            <p:cNvSpPr txBox="1"/>
            <p:nvPr/>
          </p:nvSpPr>
          <p:spPr>
            <a:xfrm>
              <a:off x="0" y="0"/>
              <a:ext cx="80174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" name="Google Shape;213;p8"/>
          <p:cNvGrpSpPr/>
          <p:nvPr/>
        </p:nvGrpSpPr>
        <p:grpSpPr>
          <a:xfrm>
            <a:off x="1028700" y="3142590"/>
            <a:ext cx="259165" cy="400016"/>
            <a:chOff x="0" y="0"/>
            <a:chExt cx="80174" cy="123748"/>
          </a:xfrm>
        </p:grpSpPr>
        <p:sp>
          <p:nvSpPr>
            <p:cNvPr id="214" name="Google Shape;214;p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15" name="Google Shape;215;p8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6" name="Google Shape;216;p8"/>
          <p:cNvGrpSpPr/>
          <p:nvPr/>
        </p:nvGrpSpPr>
        <p:grpSpPr>
          <a:xfrm>
            <a:off x="1028700" y="3757917"/>
            <a:ext cx="259165" cy="400016"/>
            <a:chOff x="0" y="0"/>
            <a:chExt cx="80174" cy="123748"/>
          </a:xfrm>
        </p:grpSpPr>
        <p:sp>
          <p:nvSpPr>
            <p:cNvPr id="217" name="Google Shape;217;p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18" name="Google Shape;218;p8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9" name="Google Shape;219;p8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0" name="Google Shape;220;p8"/>
          <p:cNvSpPr/>
          <p:nvPr/>
        </p:nvSpPr>
        <p:spPr>
          <a:xfrm>
            <a:off x="1028700" y="5925328"/>
            <a:ext cx="7538415" cy="3283840"/>
          </a:xfrm>
          <a:custGeom>
            <a:rect b="b" l="l" r="r" t="t"/>
            <a:pathLst>
              <a:path extrusionOk="0" h="4378453" w="10051219">
                <a:moveTo>
                  <a:pt x="0" y="0"/>
                </a:moveTo>
                <a:lnTo>
                  <a:pt x="10051219" y="0"/>
                </a:lnTo>
                <a:lnTo>
                  <a:pt x="10051219" y="4378453"/>
                </a:lnTo>
                <a:lnTo>
                  <a:pt x="0" y="43784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0146" l="-5471" r="0" t="-31263"/>
            </a:stretch>
          </a:blipFill>
          <a:ln cap="sq" cmpd="sng" w="85725">
            <a:solidFill>
              <a:srgbClr val="6592E6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95" l="0" r="-56482" t="-52941"/>
            </a:stretch>
          </a:blipFill>
          <a:ln>
            <a:noFill/>
          </a:ln>
        </p:spPr>
      </p:sp>
      <p:grpSp>
        <p:nvGrpSpPr>
          <p:cNvPr id="226" name="Google Shape;226;p9"/>
          <p:cNvGrpSpPr/>
          <p:nvPr/>
        </p:nvGrpSpPr>
        <p:grpSpPr>
          <a:xfrm>
            <a:off x="1259561" y="710571"/>
            <a:ext cx="3086100" cy="600092"/>
            <a:chOff x="0" y="-9525"/>
            <a:chExt cx="812800" cy="158049"/>
          </a:xfrm>
        </p:grpSpPr>
        <p:sp>
          <p:nvSpPr>
            <p:cNvPr id="227" name="Google Shape;227;p9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28" name="Google Shape;228;p9"/>
            <p:cNvSpPr txBox="1"/>
            <p:nvPr/>
          </p:nvSpPr>
          <p:spPr>
            <a:xfrm>
              <a:off x="0" y="-9525"/>
              <a:ext cx="812800" cy="158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/>
            </a:p>
          </p:txBody>
        </p:sp>
      </p:grpSp>
      <p:grpSp>
        <p:nvGrpSpPr>
          <p:cNvPr id="229" name="Google Shape;229;p9"/>
          <p:cNvGrpSpPr/>
          <p:nvPr/>
        </p:nvGrpSpPr>
        <p:grpSpPr>
          <a:xfrm>
            <a:off x="1160375" y="2721424"/>
            <a:ext cx="8269829" cy="720872"/>
            <a:chOff x="0" y="-9525"/>
            <a:chExt cx="2038611" cy="189863"/>
          </a:xfrm>
        </p:grpSpPr>
        <p:sp>
          <p:nvSpPr>
            <p:cNvPr id="230" name="Google Shape;230;p9"/>
            <p:cNvSpPr/>
            <p:nvPr/>
          </p:nvSpPr>
          <p:spPr>
            <a:xfrm>
              <a:off x="0" y="0"/>
              <a:ext cx="2038611" cy="180338"/>
            </a:xfrm>
            <a:custGeom>
              <a:rect b="b" l="l" r="r" t="t"/>
              <a:pathLst>
                <a:path extrusionOk="0" h="180338" w="2038611">
                  <a:moveTo>
                    <a:pt x="0" y="0"/>
                  </a:moveTo>
                  <a:lnTo>
                    <a:pt x="2038611" y="0"/>
                  </a:lnTo>
                  <a:lnTo>
                    <a:pt x="2038611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31" name="Google Shape;231;p9"/>
            <p:cNvSpPr txBox="1"/>
            <p:nvPr/>
          </p:nvSpPr>
          <p:spPr>
            <a:xfrm>
              <a:off x="0" y="-9525"/>
              <a:ext cx="2038611" cy="1898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p9"/>
          <p:cNvSpPr txBox="1"/>
          <p:nvPr/>
        </p:nvSpPr>
        <p:spPr>
          <a:xfrm>
            <a:off x="1259561" y="2047829"/>
            <a:ext cx="13122900" cy="55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1.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Getting Started with Text Processing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FFFFFF"/>
                </a:solidFill>
                <a:latin typeface="Jost"/>
                <a:ea typeface="Jost"/>
                <a:cs typeface="Jost"/>
                <a:sym typeface="Jost"/>
              </a:rPr>
              <a:t>2. Fundamentals of Tokenization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3.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Byte-Pair Encoding (BPE) and Subword Tokenization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4.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Advanced Subword Tokenization with SentencePiece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Stopwords and Vocabulary Management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6.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Processing Multilingual and Cross-Lingual Text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7.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Summary and Next Steps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123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4" name="Google Shape;234;p9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95" l="0" r="-56482" t="-52941"/>
            </a:stretch>
          </a:blipFill>
          <a:ln>
            <a:noFill/>
          </a:ln>
        </p:spPr>
      </p:sp>
      <p:sp>
        <p:nvSpPr>
          <p:cNvPr id="240" name="Google Shape;240;p10"/>
          <p:cNvSpPr txBox="1"/>
          <p:nvPr/>
        </p:nvSpPr>
        <p:spPr>
          <a:xfrm>
            <a:off x="1028700" y="2111329"/>
            <a:ext cx="11136683" cy="492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1.2 </a:t>
            </a:r>
            <a:r>
              <a:rPr b="0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Fundamentals of Tokenization</a:t>
            </a:r>
            <a:endParaRPr/>
          </a:p>
        </p:txBody>
      </p:sp>
      <p:sp>
        <p:nvSpPr>
          <p:cNvPr id="241" name="Google Shape;241;p10"/>
          <p:cNvSpPr txBox="1"/>
          <p:nvPr/>
        </p:nvSpPr>
        <p:spPr>
          <a:xfrm>
            <a:off x="1463235" y="3162025"/>
            <a:ext cx="12222900" cy="24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Modern LLM pipelines rely on highly optimized libraries to ensure efficiency, consistency, and reproducibility.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These tools define how text becomes training-ready data.</a:t>
            </a:r>
            <a:endParaRPr/>
          </a:p>
          <a:p>
            <a:pPr indent="0" lvl="0" marL="0" marR="0" rtl="0" algn="l">
              <a:lnSpc>
                <a:spcPct val="9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3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242" name="Google Shape;242;p10"/>
          <p:cNvGrpSpPr/>
          <p:nvPr/>
        </p:nvGrpSpPr>
        <p:grpSpPr>
          <a:xfrm>
            <a:off x="1028700" y="1028700"/>
            <a:ext cx="4030343" cy="777108"/>
            <a:chOff x="0" y="0"/>
            <a:chExt cx="1061489" cy="204671"/>
          </a:xfrm>
        </p:grpSpPr>
        <p:sp>
          <p:nvSpPr>
            <p:cNvPr id="243" name="Google Shape;243;p10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44" name="Google Shape;244;p10"/>
            <p:cNvSpPr txBox="1"/>
            <p:nvPr/>
          </p:nvSpPr>
          <p:spPr>
            <a:xfrm>
              <a:off x="0" y="0"/>
              <a:ext cx="1061489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/>
            </a:p>
          </p:txBody>
        </p:sp>
      </p:grpSp>
      <p:grpSp>
        <p:nvGrpSpPr>
          <p:cNvPr id="245" name="Google Shape;245;p10"/>
          <p:cNvGrpSpPr/>
          <p:nvPr/>
        </p:nvGrpSpPr>
        <p:grpSpPr>
          <a:xfrm>
            <a:off x="1028700" y="4033394"/>
            <a:ext cx="259165" cy="400016"/>
            <a:chOff x="0" y="0"/>
            <a:chExt cx="80174" cy="123748"/>
          </a:xfrm>
        </p:grpSpPr>
        <p:sp>
          <p:nvSpPr>
            <p:cNvPr id="246" name="Google Shape;246;p1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47" name="Google Shape;247;p10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8" name="Google Shape;248;p10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9" name="Google Shape;249;p10"/>
          <p:cNvGrpSpPr/>
          <p:nvPr/>
        </p:nvGrpSpPr>
        <p:grpSpPr>
          <a:xfrm>
            <a:off x="1028700" y="3123925"/>
            <a:ext cx="259165" cy="661599"/>
            <a:chOff x="0" y="0"/>
            <a:chExt cx="80174" cy="204671"/>
          </a:xfrm>
        </p:grpSpPr>
        <p:sp>
          <p:nvSpPr>
            <p:cNvPr id="250" name="Google Shape;250;p10"/>
            <p:cNvSpPr/>
            <p:nvPr/>
          </p:nvSpPr>
          <p:spPr>
            <a:xfrm>
              <a:off x="0" y="0"/>
              <a:ext cx="80174" cy="204671"/>
            </a:xfrm>
            <a:custGeom>
              <a:rect b="b" l="l" r="r" t="t"/>
              <a:pathLst>
                <a:path extrusionOk="0" h="204671" w="80174">
                  <a:moveTo>
                    <a:pt x="0" y="0"/>
                  </a:moveTo>
                  <a:lnTo>
                    <a:pt x="80174" y="0"/>
                  </a:lnTo>
                  <a:lnTo>
                    <a:pt x="80174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51" name="Google Shape;251;p10"/>
            <p:cNvSpPr txBox="1"/>
            <p:nvPr/>
          </p:nvSpPr>
          <p:spPr>
            <a:xfrm>
              <a:off x="0" y="0"/>
              <a:ext cx="80174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" name="Google Shape;252;p10"/>
          <p:cNvSpPr/>
          <p:nvPr/>
        </p:nvSpPr>
        <p:spPr>
          <a:xfrm>
            <a:off x="1028700" y="5143500"/>
            <a:ext cx="16230599" cy="2383184"/>
          </a:xfrm>
          <a:custGeom>
            <a:rect b="b" l="l" r="r" t="t"/>
            <a:pathLst>
              <a:path extrusionOk="0" h="2611755" w="17787269">
                <a:moveTo>
                  <a:pt x="0" y="0"/>
                </a:moveTo>
                <a:lnTo>
                  <a:pt x="17787269" y="0"/>
                </a:lnTo>
                <a:lnTo>
                  <a:pt x="17787269" y="2611755"/>
                </a:lnTo>
                <a:lnTo>
                  <a:pt x="0" y="26117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86334" l="0" r="0" t="-167653"/>
            </a:stretch>
          </a:blipFill>
          <a:ln cap="sq" cmpd="sng" w="85725">
            <a:solidFill>
              <a:srgbClr val="6592E6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95" l="0" r="-56482" t="-52941"/>
            </a:stretch>
          </a:blipFill>
          <a:ln>
            <a:noFill/>
          </a:ln>
        </p:spPr>
      </p:sp>
      <p:sp>
        <p:nvSpPr>
          <p:cNvPr id="258" name="Google Shape;258;p11"/>
          <p:cNvSpPr txBox="1"/>
          <p:nvPr/>
        </p:nvSpPr>
        <p:spPr>
          <a:xfrm>
            <a:off x="1028700" y="2111329"/>
            <a:ext cx="11136683" cy="492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1.2 </a:t>
            </a:r>
            <a:r>
              <a:rPr b="0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Fundamentals of Tokenization</a:t>
            </a:r>
            <a:endParaRPr/>
          </a:p>
        </p:txBody>
      </p:sp>
      <p:sp>
        <p:nvSpPr>
          <p:cNvPr id="259" name="Google Shape;259;p11"/>
          <p:cNvSpPr txBox="1"/>
          <p:nvPr/>
        </p:nvSpPr>
        <p:spPr>
          <a:xfrm>
            <a:off x="1463235" y="3162025"/>
            <a:ext cx="11115300" cy="2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Tokenization is the deterministic process of splitting text into discrete units called tokens.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These tokens are the atomic elements used by language models to represent and process human language.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260" name="Google Shape;260;p11"/>
          <p:cNvGrpSpPr/>
          <p:nvPr/>
        </p:nvGrpSpPr>
        <p:grpSpPr>
          <a:xfrm>
            <a:off x="1028700" y="1028700"/>
            <a:ext cx="4030343" cy="777108"/>
            <a:chOff x="0" y="0"/>
            <a:chExt cx="1061489" cy="204671"/>
          </a:xfrm>
        </p:grpSpPr>
        <p:sp>
          <p:nvSpPr>
            <p:cNvPr id="261" name="Google Shape;261;p11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62" name="Google Shape;262;p11"/>
            <p:cNvSpPr txBox="1"/>
            <p:nvPr/>
          </p:nvSpPr>
          <p:spPr>
            <a:xfrm>
              <a:off x="0" y="0"/>
              <a:ext cx="1061489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/>
            </a:p>
          </p:txBody>
        </p:sp>
      </p:grpSp>
      <p:sp>
        <p:nvSpPr>
          <p:cNvPr id="263" name="Google Shape;263;p11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4" name="Google Shape;264;p11"/>
          <p:cNvGrpSpPr/>
          <p:nvPr/>
        </p:nvGrpSpPr>
        <p:grpSpPr>
          <a:xfrm>
            <a:off x="1028700" y="3123925"/>
            <a:ext cx="259165" cy="661599"/>
            <a:chOff x="0" y="0"/>
            <a:chExt cx="80174" cy="204671"/>
          </a:xfrm>
        </p:grpSpPr>
        <p:sp>
          <p:nvSpPr>
            <p:cNvPr id="265" name="Google Shape;265;p11"/>
            <p:cNvSpPr/>
            <p:nvPr/>
          </p:nvSpPr>
          <p:spPr>
            <a:xfrm>
              <a:off x="0" y="0"/>
              <a:ext cx="80174" cy="204671"/>
            </a:xfrm>
            <a:custGeom>
              <a:rect b="b" l="l" r="r" t="t"/>
              <a:pathLst>
                <a:path extrusionOk="0" h="204671" w="80174">
                  <a:moveTo>
                    <a:pt x="0" y="0"/>
                  </a:moveTo>
                  <a:lnTo>
                    <a:pt x="80174" y="0"/>
                  </a:lnTo>
                  <a:lnTo>
                    <a:pt x="80174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66" name="Google Shape;266;p11"/>
            <p:cNvSpPr txBox="1"/>
            <p:nvPr/>
          </p:nvSpPr>
          <p:spPr>
            <a:xfrm>
              <a:off x="0" y="0"/>
              <a:ext cx="80174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7" name="Google Shape;267;p11"/>
          <p:cNvGrpSpPr/>
          <p:nvPr/>
        </p:nvGrpSpPr>
        <p:grpSpPr>
          <a:xfrm>
            <a:off x="1028700" y="4074710"/>
            <a:ext cx="259165" cy="661599"/>
            <a:chOff x="0" y="0"/>
            <a:chExt cx="80174" cy="204671"/>
          </a:xfrm>
        </p:grpSpPr>
        <p:sp>
          <p:nvSpPr>
            <p:cNvPr id="268" name="Google Shape;268;p11"/>
            <p:cNvSpPr/>
            <p:nvPr/>
          </p:nvSpPr>
          <p:spPr>
            <a:xfrm>
              <a:off x="0" y="0"/>
              <a:ext cx="80174" cy="204671"/>
            </a:xfrm>
            <a:custGeom>
              <a:rect b="b" l="l" r="r" t="t"/>
              <a:pathLst>
                <a:path extrusionOk="0" h="204671" w="80174">
                  <a:moveTo>
                    <a:pt x="0" y="0"/>
                  </a:moveTo>
                  <a:lnTo>
                    <a:pt x="80174" y="0"/>
                  </a:lnTo>
                  <a:lnTo>
                    <a:pt x="80174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69" name="Google Shape;269;p11"/>
            <p:cNvSpPr txBox="1"/>
            <p:nvPr/>
          </p:nvSpPr>
          <p:spPr>
            <a:xfrm>
              <a:off x="0" y="0"/>
              <a:ext cx="80174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" name="Google Shape;270;p11"/>
          <p:cNvSpPr/>
          <p:nvPr/>
        </p:nvSpPr>
        <p:spPr>
          <a:xfrm>
            <a:off x="1028700" y="5419379"/>
            <a:ext cx="16230577" cy="2291129"/>
          </a:xfrm>
          <a:custGeom>
            <a:rect b="b" l="l" r="r" t="t"/>
            <a:pathLst>
              <a:path extrusionOk="0" h="2628977" w="18623914">
                <a:moveTo>
                  <a:pt x="0" y="0"/>
                </a:moveTo>
                <a:lnTo>
                  <a:pt x="18623914" y="0"/>
                </a:lnTo>
                <a:lnTo>
                  <a:pt x="18623914" y="2628977"/>
                </a:lnTo>
                <a:lnTo>
                  <a:pt x="0" y="26289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00306" l="0" r="0" t="-171925"/>
            </a:stretch>
          </a:blipFill>
          <a:ln cap="sq" cmpd="sng" w="85725">
            <a:solidFill>
              <a:srgbClr val="6592E6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95" l="0" r="-56482" t="-52941"/>
            </a:stretch>
          </a:blipFill>
          <a:ln>
            <a:noFill/>
          </a:ln>
        </p:spPr>
      </p:sp>
      <p:sp>
        <p:nvSpPr>
          <p:cNvPr id="276" name="Google Shape;276;p12"/>
          <p:cNvSpPr txBox="1"/>
          <p:nvPr/>
        </p:nvSpPr>
        <p:spPr>
          <a:xfrm>
            <a:off x="1028700" y="2111329"/>
            <a:ext cx="11136683" cy="492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1.2 </a:t>
            </a:r>
            <a:r>
              <a:rPr b="0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Fundamentals of Tokenization</a:t>
            </a:r>
            <a:endParaRPr/>
          </a:p>
        </p:txBody>
      </p:sp>
      <p:sp>
        <p:nvSpPr>
          <p:cNvPr id="277" name="Google Shape;277;p12"/>
          <p:cNvSpPr txBox="1"/>
          <p:nvPr/>
        </p:nvSpPr>
        <p:spPr>
          <a:xfrm>
            <a:off x="1463225" y="3162025"/>
            <a:ext cx="15038100" cy="13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Word-level tokenization fails when encountering words that are not present in the training vocabulary.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These unknown tokens reduce model performance and limit generalization to new data.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278" name="Google Shape;278;p12"/>
          <p:cNvGrpSpPr/>
          <p:nvPr/>
        </p:nvGrpSpPr>
        <p:grpSpPr>
          <a:xfrm>
            <a:off x="1028700" y="1028700"/>
            <a:ext cx="4030343" cy="777108"/>
            <a:chOff x="0" y="0"/>
            <a:chExt cx="1061489" cy="204671"/>
          </a:xfrm>
        </p:grpSpPr>
        <p:sp>
          <p:nvSpPr>
            <p:cNvPr id="279" name="Google Shape;279;p12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80" name="Google Shape;280;p12"/>
            <p:cNvSpPr txBox="1"/>
            <p:nvPr/>
          </p:nvSpPr>
          <p:spPr>
            <a:xfrm>
              <a:off x="0" y="0"/>
              <a:ext cx="1061489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/>
            </a:p>
          </p:txBody>
        </p:sp>
      </p:grpSp>
      <p:sp>
        <p:nvSpPr>
          <p:cNvPr id="281" name="Google Shape;281;p12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2" name="Google Shape;282;p12"/>
          <p:cNvSpPr/>
          <p:nvPr/>
        </p:nvSpPr>
        <p:spPr>
          <a:xfrm>
            <a:off x="1028700" y="5627208"/>
            <a:ext cx="8641461" cy="3631121"/>
          </a:xfrm>
          <a:custGeom>
            <a:rect b="b" l="l" r="r" t="t"/>
            <a:pathLst>
              <a:path extrusionOk="0" h="4841494" w="11521948">
                <a:moveTo>
                  <a:pt x="0" y="0"/>
                </a:moveTo>
                <a:lnTo>
                  <a:pt x="11521948" y="0"/>
                </a:lnTo>
                <a:lnTo>
                  <a:pt x="11521948" y="4841494"/>
                </a:lnTo>
                <a:lnTo>
                  <a:pt x="0" y="48414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40896" l="-4565" r="-676" t="-26076"/>
            </a:stretch>
          </a:blipFill>
          <a:ln cap="sq" cmpd="sng" w="85725">
            <a:solidFill>
              <a:srgbClr val="6592E6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283" name="Google Shape;283;p12"/>
          <p:cNvGrpSpPr/>
          <p:nvPr/>
        </p:nvGrpSpPr>
        <p:grpSpPr>
          <a:xfrm>
            <a:off x="1028700" y="3757328"/>
            <a:ext cx="259165" cy="400016"/>
            <a:chOff x="0" y="0"/>
            <a:chExt cx="80174" cy="123748"/>
          </a:xfrm>
        </p:grpSpPr>
        <p:sp>
          <p:nvSpPr>
            <p:cNvPr id="284" name="Google Shape;284;p1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85" name="Google Shape;285;p12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6" name="Google Shape;286;p12"/>
          <p:cNvGrpSpPr/>
          <p:nvPr/>
        </p:nvGrpSpPr>
        <p:grpSpPr>
          <a:xfrm>
            <a:off x="1028700" y="3085825"/>
            <a:ext cx="259165" cy="400016"/>
            <a:chOff x="0" y="0"/>
            <a:chExt cx="80174" cy="123748"/>
          </a:xfrm>
        </p:grpSpPr>
        <p:sp>
          <p:nvSpPr>
            <p:cNvPr id="287" name="Google Shape;287;p1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88" name="Google Shape;288;p12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95" l="0" r="-56482" t="-52941"/>
            </a:stretch>
          </a:blipFill>
          <a:ln>
            <a:noFill/>
          </a:ln>
        </p:spPr>
      </p:sp>
      <p:sp>
        <p:nvSpPr>
          <p:cNvPr id="294" name="Google Shape;294;p13"/>
          <p:cNvSpPr txBox="1"/>
          <p:nvPr/>
        </p:nvSpPr>
        <p:spPr>
          <a:xfrm>
            <a:off x="1028700" y="2111329"/>
            <a:ext cx="11136683" cy="492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1.2 </a:t>
            </a:r>
            <a:r>
              <a:rPr b="0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Fundamentals of Tokenization</a:t>
            </a:r>
            <a:endParaRPr/>
          </a:p>
        </p:txBody>
      </p:sp>
      <p:sp>
        <p:nvSpPr>
          <p:cNvPr id="295" name="Google Shape;295;p13"/>
          <p:cNvSpPr txBox="1"/>
          <p:nvPr/>
        </p:nvSpPr>
        <p:spPr>
          <a:xfrm>
            <a:off x="1463225" y="3162025"/>
            <a:ext cx="15297900" cy="13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Rule-based tokenizers use predefined patterns to split text while preserving punctuation and structure.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Regular expressions allow precise control over how symbols, spaces, and contractions are handled.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296" name="Google Shape;296;p13"/>
          <p:cNvGrpSpPr/>
          <p:nvPr/>
        </p:nvGrpSpPr>
        <p:grpSpPr>
          <a:xfrm>
            <a:off x="1028700" y="1028700"/>
            <a:ext cx="4030343" cy="777108"/>
            <a:chOff x="0" y="0"/>
            <a:chExt cx="1061489" cy="204671"/>
          </a:xfrm>
        </p:grpSpPr>
        <p:sp>
          <p:nvSpPr>
            <p:cNvPr id="297" name="Google Shape;297;p13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298" name="Google Shape;298;p13"/>
            <p:cNvSpPr txBox="1"/>
            <p:nvPr/>
          </p:nvSpPr>
          <p:spPr>
            <a:xfrm>
              <a:off x="0" y="0"/>
              <a:ext cx="1061489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/>
            </a:p>
          </p:txBody>
        </p:sp>
      </p:grpSp>
      <p:sp>
        <p:nvSpPr>
          <p:cNvPr id="299" name="Google Shape;299;p13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00" name="Google Shape;300;p13"/>
          <p:cNvGrpSpPr/>
          <p:nvPr/>
        </p:nvGrpSpPr>
        <p:grpSpPr>
          <a:xfrm>
            <a:off x="1028700" y="3757328"/>
            <a:ext cx="259165" cy="400016"/>
            <a:chOff x="0" y="0"/>
            <a:chExt cx="80174" cy="123748"/>
          </a:xfrm>
        </p:grpSpPr>
        <p:sp>
          <p:nvSpPr>
            <p:cNvPr id="301" name="Google Shape;301;p1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02" name="Google Shape;302;p13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3" name="Google Shape;303;p13"/>
          <p:cNvGrpSpPr/>
          <p:nvPr/>
        </p:nvGrpSpPr>
        <p:grpSpPr>
          <a:xfrm>
            <a:off x="1028700" y="3085825"/>
            <a:ext cx="259165" cy="400016"/>
            <a:chOff x="0" y="0"/>
            <a:chExt cx="80174" cy="123748"/>
          </a:xfrm>
        </p:grpSpPr>
        <p:sp>
          <p:nvSpPr>
            <p:cNvPr id="304" name="Google Shape;304;p13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05" name="Google Shape;305;p13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6" name="Google Shape;306;p13"/>
          <p:cNvSpPr/>
          <p:nvPr/>
        </p:nvSpPr>
        <p:spPr>
          <a:xfrm>
            <a:off x="1028700" y="5541483"/>
            <a:ext cx="8641461" cy="3716846"/>
          </a:xfrm>
          <a:custGeom>
            <a:rect b="b" l="l" r="r" t="t"/>
            <a:pathLst>
              <a:path extrusionOk="0" h="4955794" w="11521948">
                <a:moveTo>
                  <a:pt x="0" y="0"/>
                </a:moveTo>
                <a:lnTo>
                  <a:pt x="11521948" y="0"/>
                </a:lnTo>
                <a:lnTo>
                  <a:pt x="11521948" y="4955794"/>
                </a:lnTo>
                <a:lnTo>
                  <a:pt x="0" y="4955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0770" l="0" r="0" t="-24222"/>
            </a:stretch>
          </a:blipFill>
          <a:ln cap="sq" cmpd="sng" w="85725">
            <a:solidFill>
              <a:srgbClr val="6592E6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97" l="0" r="-56479" t="-52939"/>
            </a:stretch>
          </a:blipFill>
          <a:ln>
            <a:noFill/>
          </a:ln>
        </p:spPr>
      </p:sp>
      <p:grpSp>
        <p:nvGrpSpPr>
          <p:cNvPr id="312" name="Google Shape;312;p14"/>
          <p:cNvGrpSpPr/>
          <p:nvPr/>
        </p:nvGrpSpPr>
        <p:grpSpPr>
          <a:xfrm>
            <a:off x="1259561" y="710571"/>
            <a:ext cx="3086100" cy="600092"/>
            <a:chOff x="0" y="-9525"/>
            <a:chExt cx="812800" cy="158049"/>
          </a:xfrm>
        </p:grpSpPr>
        <p:sp>
          <p:nvSpPr>
            <p:cNvPr id="313" name="Google Shape;313;p14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14" name="Google Shape;314;p14"/>
            <p:cNvSpPr txBox="1"/>
            <p:nvPr/>
          </p:nvSpPr>
          <p:spPr>
            <a:xfrm>
              <a:off x="0" y="-9525"/>
              <a:ext cx="812800" cy="158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/>
            </a:p>
          </p:txBody>
        </p:sp>
      </p:grpSp>
      <p:grpSp>
        <p:nvGrpSpPr>
          <p:cNvPr id="315" name="Google Shape;315;p14"/>
          <p:cNvGrpSpPr/>
          <p:nvPr/>
        </p:nvGrpSpPr>
        <p:grpSpPr>
          <a:xfrm>
            <a:off x="1140401" y="3428126"/>
            <a:ext cx="13683067" cy="720872"/>
            <a:chOff x="0" y="-9525"/>
            <a:chExt cx="3407308" cy="189863"/>
          </a:xfrm>
        </p:grpSpPr>
        <p:sp>
          <p:nvSpPr>
            <p:cNvPr id="316" name="Google Shape;316;p14"/>
            <p:cNvSpPr/>
            <p:nvPr/>
          </p:nvSpPr>
          <p:spPr>
            <a:xfrm>
              <a:off x="0" y="0"/>
              <a:ext cx="3407308" cy="180338"/>
            </a:xfrm>
            <a:custGeom>
              <a:rect b="b" l="l" r="r" t="t"/>
              <a:pathLst>
                <a:path extrusionOk="0" h="180338" w="3407308">
                  <a:moveTo>
                    <a:pt x="0" y="0"/>
                  </a:moveTo>
                  <a:lnTo>
                    <a:pt x="3407308" y="0"/>
                  </a:lnTo>
                  <a:lnTo>
                    <a:pt x="3407308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17" name="Google Shape;317;p14"/>
            <p:cNvSpPr txBox="1"/>
            <p:nvPr/>
          </p:nvSpPr>
          <p:spPr>
            <a:xfrm>
              <a:off x="0" y="-9525"/>
              <a:ext cx="3407308" cy="1898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8" name="Google Shape;318;p14"/>
          <p:cNvSpPr txBox="1"/>
          <p:nvPr/>
        </p:nvSpPr>
        <p:spPr>
          <a:xfrm>
            <a:off x="1259549" y="2047825"/>
            <a:ext cx="14003400" cy="55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1.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Getting Started with Text Processing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2.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Fundamentals of Tokenization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FFFFFF"/>
                </a:solidFill>
                <a:latin typeface="Jost"/>
                <a:ea typeface="Jost"/>
                <a:cs typeface="Jost"/>
                <a:sym typeface="Jost"/>
              </a:rPr>
              <a:t>3. Byte-Pair Encoding (BPE) and Subword Tokenization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4.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Advanced Subword Tokenization with SentencePiece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Stopwords and Vocabulary Management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6.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Processing Multilingual and Cross-Lingual Text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7.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Summary and Next Steps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123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0" name="Google Shape;320;p14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95" l="0" r="-56482" t="-52941"/>
            </a:stretch>
          </a:blipFill>
          <a:ln>
            <a:noFill/>
          </a:ln>
        </p:spPr>
      </p:sp>
      <p:sp>
        <p:nvSpPr>
          <p:cNvPr id="326" name="Google Shape;326;p15"/>
          <p:cNvSpPr txBox="1"/>
          <p:nvPr/>
        </p:nvSpPr>
        <p:spPr>
          <a:xfrm>
            <a:off x="1028700" y="2025600"/>
            <a:ext cx="153927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1.3 </a:t>
            </a:r>
            <a:r>
              <a:rPr b="0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Byte-Pair Encoding (BPE) and Subword Tokenization</a:t>
            </a:r>
            <a:endParaRPr/>
          </a:p>
        </p:txBody>
      </p:sp>
      <p:sp>
        <p:nvSpPr>
          <p:cNvPr id="327" name="Google Shape;327;p15"/>
          <p:cNvSpPr txBox="1"/>
          <p:nvPr/>
        </p:nvSpPr>
        <p:spPr>
          <a:xfrm>
            <a:off x="1463235" y="3162025"/>
            <a:ext cx="13819200" cy="16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Subword tokenization was introduced to balance the limitations of word-level and character-level approaches.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It enables models to represent any word while preserving meaningful linguistic units.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28" name="Google Shape;328;p15"/>
          <p:cNvGrpSpPr/>
          <p:nvPr/>
        </p:nvGrpSpPr>
        <p:grpSpPr>
          <a:xfrm>
            <a:off x="1028700" y="1028700"/>
            <a:ext cx="4030343" cy="777108"/>
            <a:chOff x="0" y="0"/>
            <a:chExt cx="1061489" cy="204671"/>
          </a:xfrm>
        </p:grpSpPr>
        <p:sp>
          <p:nvSpPr>
            <p:cNvPr id="329" name="Google Shape;329;p15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30" name="Google Shape;330;p15"/>
            <p:cNvSpPr txBox="1"/>
            <p:nvPr/>
          </p:nvSpPr>
          <p:spPr>
            <a:xfrm>
              <a:off x="0" y="0"/>
              <a:ext cx="1061489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/>
            </a:p>
          </p:txBody>
        </p:sp>
      </p:grpSp>
      <p:sp>
        <p:nvSpPr>
          <p:cNvPr id="331" name="Google Shape;331;p15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2" name="Google Shape;332;p15"/>
          <p:cNvGrpSpPr/>
          <p:nvPr/>
        </p:nvGrpSpPr>
        <p:grpSpPr>
          <a:xfrm>
            <a:off x="1028700" y="4047816"/>
            <a:ext cx="259165" cy="400016"/>
            <a:chOff x="0" y="0"/>
            <a:chExt cx="80174" cy="123748"/>
          </a:xfrm>
        </p:grpSpPr>
        <p:sp>
          <p:nvSpPr>
            <p:cNvPr id="333" name="Google Shape;333;p15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34" name="Google Shape;334;p15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5" name="Google Shape;335;p15"/>
          <p:cNvGrpSpPr/>
          <p:nvPr/>
        </p:nvGrpSpPr>
        <p:grpSpPr>
          <a:xfrm>
            <a:off x="1028700" y="3162025"/>
            <a:ext cx="259165" cy="661599"/>
            <a:chOff x="0" y="0"/>
            <a:chExt cx="80174" cy="204671"/>
          </a:xfrm>
        </p:grpSpPr>
        <p:sp>
          <p:nvSpPr>
            <p:cNvPr id="336" name="Google Shape;336;p15"/>
            <p:cNvSpPr/>
            <p:nvPr/>
          </p:nvSpPr>
          <p:spPr>
            <a:xfrm>
              <a:off x="0" y="0"/>
              <a:ext cx="80174" cy="204671"/>
            </a:xfrm>
            <a:custGeom>
              <a:rect b="b" l="l" r="r" t="t"/>
              <a:pathLst>
                <a:path extrusionOk="0" h="204671" w="80174">
                  <a:moveTo>
                    <a:pt x="0" y="0"/>
                  </a:moveTo>
                  <a:lnTo>
                    <a:pt x="80174" y="0"/>
                  </a:lnTo>
                  <a:lnTo>
                    <a:pt x="80174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37" name="Google Shape;337;p15"/>
            <p:cNvSpPr txBox="1"/>
            <p:nvPr/>
          </p:nvSpPr>
          <p:spPr>
            <a:xfrm>
              <a:off x="0" y="0"/>
              <a:ext cx="80174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8" name="Google Shape;338;p15"/>
          <p:cNvSpPr/>
          <p:nvPr/>
        </p:nvSpPr>
        <p:spPr>
          <a:xfrm>
            <a:off x="1028700" y="5806726"/>
            <a:ext cx="8730138" cy="3451569"/>
          </a:xfrm>
          <a:custGeom>
            <a:rect b="b" l="l" r="r" t="t"/>
            <a:pathLst>
              <a:path extrusionOk="0" h="4602092" w="11640185">
                <a:moveTo>
                  <a:pt x="0" y="0"/>
                </a:moveTo>
                <a:lnTo>
                  <a:pt x="11640185" y="0"/>
                </a:lnTo>
                <a:lnTo>
                  <a:pt x="11640185" y="4602092"/>
                </a:lnTo>
                <a:lnTo>
                  <a:pt x="0" y="46020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35896" l="0" r="0" t="-32720"/>
            </a:stretch>
          </a:blipFill>
          <a:ln cap="sq" cmpd="sng" w="85725">
            <a:solidFill>
              <a:srgbClr val="6592E6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95" l="0" r="-56482" t="-52941"/>
            </a:stretch>
          </a:blipFill>
          <a:ln>
            <a:noFill/>
          </a:ln>
        </p:spPr>
      </p:sp>
      <p:sp>
        <p:nvSpPr>
          <p:cNvPr id="344" name="Google Shape;344;p16"/>
          <p:cNvSpPr txBox="1"/>
          <p:nvPr/>
        </p:nvSpPr>
        <p:spPr>
          <a:xfrm>
            <a:off x="1028700" y="2025600"/>
            <a:ext cx="151929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1.3 </a:t>
            </a:r>
            <a:r>
              <a:rPr b="0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Byte-Pair Encoding (BPE) and Subword Tokenization</a:t>
            </a:r>
            <a:endParaRPr/>
          </a:p>
        </p:txBody>
      </p:sp>
      <p:sp>
        <p:nvSpPr>
          <p:cNvPr id="345" name="Google Shape;345;p16"/>
          <p:cNvSpPr txBox="1"/>
          <p:nvPr/>
        </p:nvSpPr>
        <p:spPr>
          <a:xfrm>
            <a:off x="1028700" y="3196472"/>
            <a:ext cx="14118437" cy="579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62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Handling the Out-of-Vocabulary (OOV) Problem</a:t>
            </a:r>
            <a:endParaRPr/>
          </a:p>
        </p:txBody>
      </p:sp>
      <p:sp>
        <p:nvSpPr>
          <p:cNvPr id="346" name="Google Shape;346;p16"/>
          <p:cNvSpPr txBox="1"/>
          <p:nvPr/>
        </p:nvSpPr>
        <p:spPr>
          <a:xfrm>
            <a:off x="1463235" y="4308970"/>
            <a:ext cx="13819200" cy="30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Word-level tokenization fails on unseen or rare words.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Unknown tokens reduce model accuracy and robustness.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Subword tokenization decomposes unknown words into known units.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This guarantees full coverage of any input text.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47" name="Google Shape;347;p16"/>
          <p:cNvGrpSpPr/>
          <p:nvPr/>
        </p:nvGrpSpPr>
        <p:grpSpPr>
          <a:xfrm>
            <a:off x="1028700" y="1028700"/>
            <a:ext cx="4030343" cy="777108"/>
            <a:chOff x="0" y="0"/>
            <a:chExt cx="1061489" cy="204671"/>
          </a:xfrm>
        </p:grpSpPr>
        <p:sp>
          <p:nvSpPr>
            <p:cNvPr id="348" name="Google Shape;348;p16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49" name="Google Shape;349;p16"/>
            <p:cNvSpPr txBox="1"/>
            <p:nvPr/>
          </p:nvSpPr>
          <p:spPr>
            <a:xfrm>
              <a:off x="0" y="0"/>
              <a:ext cx="1061489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/>
            </a:p>
          </p:txBody>
        </p:sp>
      </p:grpSp>
      <p:sp>
        <p:nvSpPr>
          <p:cNvPr id="350" name="Google Shape;350;p16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51" name="Google Shape;351;p16"/>
          <p:cNvGrpSpPr/>
          <p:nvPr/>
        </p:nvGrpSpPr>
        <p:grpSpPr>
          <a:xfrm>
            <a:off x="1028700" y="4232770"/>
            <a:ext cx="259165" cy="400016"/>
            <a:chOff x="0" y="0"/>
            <a:chExt cx="80174" cy="123748"/>
          </a:xfrm>
        </p:grpSpPr>
        <p:sp>
          <p:nvSpPr>
            <p:cNvPr id="352" name="Google Shape;352;p1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53" name="Google Shape;353;p16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4" name="Google Shape;354;p16"/>
          <p:cNvGrpSpPr/>
          <p:nvPr/>
        </p:nvGrpSpPr>
        <p:grpSpPr>
          <a:xfrm>
            <a:off x="1028700" y="4864339"/>
            <a:ext cx="259165" cy="400016"/>
            <a:chOff x="0" y="0"/>
            <a:chExt cx="80174" cy="123748"/>
          </a:xfrm>
        </p:grpSpPr>
        <p:sp>
          <p:nvSpPr>
            <p:cNvPr id="355" name="Google Shape;355;p1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56" name="Google Shape;356;p16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7" name="Google Shape;357;p16"/>
          <p:cNvGrpSpPr/>
          <p:nvPr/>
        </p:nvGrpSpPr>
        <p:grpSpPr>
          <a:xfrm>
            <a:off x="1028700" y="5492955"/>
            <a:ext cx="259165" cy="400016"/>
            <a:chOff x="0" y="0"/>
            <a:chExt cx="80174" cy="123748"/>
          </a:xfrm>
        </p:grpSpPr>
        <p:sp>
          <p:nvSpPr>
            <p:cNvPr id="358" name="Google Shape;358;p1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59" name="Google Shape;359;p16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" name="Google Shape;360;p16"/>
          <p:cNvGrpSpPr/>
          <p:nvPr/>
        </p:nvGrpSpPr>
        <p:grpSpPr>
          <a:xfrm>
            <a:off x="1028700" y="6121570"/>
            <a:ext cx="259165" cy="400016"/>
            <a:chOff x="0" y="0"/>
            <a:chExt cx="80174" cy="123748"/>
          </a:xfrm>
        </p:grpSpPr>
        <p:sp>
          <p:nvSpPr>
            <p:cNvPr id="361" name="Google Shape;361;p1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62" name="Google Shape;362;p16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3" name="Google Shape;363;p16"/>
          <p:cNvSpPr/>
          <p:nvPr/>
        </p:nvSpPr>
        <p:spPr>
          <a:xfrm>
            <a:off x="1028700" y="7123558"/>
            <a:ext cx="6863253" cy="2134742"/>
          </a:xfrm>
          <a:custGeom>
            <a:rect b="b" l="l" r="r" t="t"/>
            <a:pathLst>
              <a:path extrusionOk="0" h="3770939" w="12123674">
                <a:moveTo>
                  <a:pt x="0" y="0"/>
                </a:moveTo>
                <a:lnTo>
                  <a:pt x="12123674" y="0"/>
                </a:lnTo>
                <a:lnTo>
                  <a:pt x="12123674" y="3770939"/>
                </a:lnTo>
                <a:lnTo>
                  <a:pt x="0" y="37709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57158" l="0" r="0" t="-57158"/>
            </a:stretch>
          </a:blipFill>
          <a:ln cap="sq" cmpd="sng" w="85725">
            <a:solidFill>
              <a:srgbClr val="6592E6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95" l="0" r="-56482" t="-52941"/>
            </a:stretch>
          </a:blipFill>
          <a:ln>
            <a:noFill/>
          </a:ln>
        </p:spPr>
      </p:sp>
      <p:sp>
        <p:nvSpPr>
          <p:cNvPr id="369" name="Google Shape;369;p17"/>
          <p:cNvSpPr txBox="1"/>
          <p:nvPr/>
        </p:nvSpPr>
        <p:spPr>
          <a:xfrm>
            <a:off x="1028700" y="2025600"/>
            <a:ext cx="156324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1.3 </a:t>
            </a:r>
            <a:r>
              <a:rPr b="0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Byte-Pair Encoding (BPE) and Subword Tokenization</a:t>
            </a:r>
            <a:endParaRPr/>
          </a:p>
        </p:txBody>
      </p:sp>
      <p:sp>
        <p:nvSpPr>
          <p:cNvPr id="370" name="Google Shape;370;p17"/>
          <p:cNvSpPr txBox="1"/>
          <p:nvPr/>
        </p:nvSpPr>
        <p:spPr>
          <a:xfrm>
            <a:off x="1028700" y="3196472"/>
            <a:ext cx="14118437" cy="579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62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What Is Byte-Pair Encoding (BPE)?</a:t>
            </a:r>
            <a:endParaRPr/>
          </a:p>
        </p:txBody>
      </p:sp>
      <p:sp>
        <p:nvSpPr>
          <p:cNvPr id="371" name="Google Shape;371;p17"/>
          <p:cNvSpPr txBox="1"/>
          <p:nvPr/>
        </p:nvSpPr>
        <p:spPr>
          <a:xfrm>
            <a:off x="1463225" y="4280400"/>
            <a:ext cx="7020600" cy="45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Byte-Pair Encoding is an iterative subword tokenization algorithm.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It is based on frequency statistics from the training corpus.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The algorithm merges the most frequent adjacent token pairs.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Over time, meaningful subword units are learned.</a:t>
            </a:r>
            <a:endParaRPr/>
          </a:p>
          <a:p>
            <a:pPr indent="0" lvl="0" marL="0" marR="0" rtl="0" algn="l">
              <a:lnSpc>
                <a:spcPct val="104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372" name="Google Shape;372;p17"/>
          <p:cNvGrpSpPr/>
          <p:nvPr/>
        </p:nvGrpSpPr>
        <p:grpSpPr>
          <a:xfrm>
            <a:off x="1028700" y="1028700"/>
            <a:ext cx="4030343" cy="777108"/>
            <a:chOff x="0" y="0"/>
            <a:chExt cx="1061489" cy="204671"/>
          </a:xfrm>
        </p:grpSpPr>
        <p:sp>
          <p:nvSpPr>
            <p:cNvPr id="373" name="Google Shape;373;p17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74" name="Google Shape;374;p17"/>
            <p:cNvSpPr txBox="1"/>
            <p:nvPr/>
          </p:nvSpPr>
          <p:spPr>
            <a:xfrm>
              <a:off x="0" y="0"/>
              <a:ext cx="1061489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/>
            </a:p>
          </p:txBody>
        </p:sp>
      </p:grpSp>
      <p:sp>
        <p:nvSpPr>
          <p:cNvPr id="375" name="Google Shape;375;p17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6" name="Google Shape;376;p17"/>
          <p:cNvSpPr/>
          <p:nvPr/>
        </p:nvSpPr>
        <p:spPr>
          <a:xfrm>
            <a:off x="8659175" y="4232775"/>
            <a:ext cx="8601557" cy="3599579"/>
          </a:xfrm>
          <a:custGeom>
            <a:rect b="b" l="l" r="r" t="t"/>
            <a:pathLst>
              <a:path extrusionOk="0" h="7658679" w="19329341">
                <a:moveTo>
                  <a:pt x="0" y="0"/>
                </a:moveTo>
                <a:lnTo>
                  <a:pt x="19329341" y="0"/>
                </a:lnTo>
                <a:lnTo>
                  <a:pt x="19329341" y="7658679"/>
                </a:lnTo>
                <a:lnTo>
                  <a:pt x="0" y="76586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5034" l="0" r="0" t="-43219"/>
            </a:stretch>
          </a:blipFill>
          <a:ln cap="sq" cmpd="sng" w="85725">
            <a:solidFill>
              <a:srgbClr val="6592E6"/>
            </a:solidFill>
            <a:prstDash val="solid"/>
            <a:miter lim="8000"/>
            <a:headEnd len="sm" w="sm" type="none"/>
            <a:tailEnd len="sm" w="sm" type="none"/>
          </a:ln>
        </p:spPr>
      </p:sp>
      <p:grpSp>
        <p:nvGrpSpPr>
          <p:cNvPr id="377" name="Google Shape;377;p17"/>
          <p:cNvGrpSpPr/>
          <p:nvPr/>
        </p:nvGrpSpPr>
        <p:grpSpPr>
          <a:xfrm>
            <a:off x="1028700" y="4280395"/>
            <a:ext cx="259165" cy="661599"/>
            <a:chOff x="0" y="0"/>
            <a:chExt cx="80174" cy="204671"/>
          </a:xfrm>
        </p:grpSpPr>
        <p:sp>
          <p:nvSpPr>
            <p:cNvPr id="378" name="Google Shape;378;p17"/>
            <p:cNvSpPr/>
            <p:nvPr/>
          </p:nvSpPr>
          <p:spPr>
            <a:xfrm>
              <a:off x="0" y="0"/>
              <a:ext cx="80174" cy="204671"/>
            </a:xfrm>
            <a:custGeom>
              <a:rect b="b" l="l" r="r" t="t"/>
              <a:pathLst>
                <a:path extrusionOk="0" h="204671" w="80174">
                  <a:moveTo>
                    <a:pt x="0" y="0"/>
                  </a:moveTo>
                  <a:lnTo>
                    <a:pt x="80174" y="0"/>
                  </a:lnTo>
                  <a:lnTo>
                    <a:pt x="80174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79" name="Google Shape;379;p17"/>
            <p:cNvSpPr txBox="1"/>
            <p:nvPr/>
          </p:nvSpPr>
          <p:spPr>
            <a:xfrm>
              <a:off x="0" y="0"/>
              <a:ext cx="80174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0" name="Google Shape;380;p17"/>
          <p:cNvGrpSpPr/>
          <p:nvPr/>
        </p:nvGrpSpPr>
        <p:grpSpPr>
          <a:xfrm>
            <a:off x="1028700" y="5388141"/>
            <a:ext cx="259165" cy="661599"/>
            <a:chOff x="0" y="0"/>
            <a:chExt cx="80174" cy="204671"/>
          </a:xfrm>
        </p:grpSpPr>
        <p:sp>
          <p:nvSpPr>
            <p:cNvPr id="381" name="Google Shape;381;p17"/>
            <p:cNvSpPr/>
            <p:nvPr/>
          </p:nvSpPr>
          <p:spPr>
            <a:xfrm>
              <a:off x="0" y="0"/>
              <a:ext cx="80174" cy="204671"/>
            </a:xfrm>
            <a:custGeom>
              <a:rect b="b" l="l" r="r" t="t"/>
              <a:pathLst>
                <a:path extrusionOk="0" h="204671" w="80174">
                  <a:moveTo>
                    <a:pt x="0" y="0"/>
                  </a:moveTo>
                  <a:lnTo>
                    <a:pt x="80174" y="0"/>
                  </a:lnTo>
                  <a:lnTo>
                    <a:pt x="80174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82" name="Google Shape;382;p17"/>
            <p:cNvSpPr txBox="1"/>
            <p:nvPr/>
          </p:nvSpPr>
          <p:spPr>
            <a:xfrm>
              <a:off x="0" y="0"/>
              <a:ext cx="80174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3" name="Google Shape;383;p17"/>
          <p:cNvGrpSpPr/>
          <p:nvPr/>
        </p:nvGrpSpPr>
        <p:grpSpPr>
          <a:xfrm>
            <a:off x="1028700" y="6497415"/>
            <a:ext cx="259165" cy="661599"/>
            <a:chOff x="0" y="0"/>
            <a:chExt cx="80174" cy="204671"/>
          </a:xfrm>
        </p:grpSpPr>
        <p:sp>
          <p:nvSpPr>
            <p:cNvPr id="384" name="Google Shape;384;p17"/>
            <p:cNvSpPr/>
            <p:nvPr/>
          </p:nvSpPr>
          <p:spPr>
            <a:xfrm>
              <a:off x="0" y="0"/>
              <a:ext cx="80174" cy="204671"/>
            </a:xfrm>
            <a:custGeom>
              <a:rect b="b" l="l" r="r" t="t"/>
              <a:pathLst>
                <a:path extrusionOk="0" h="204671" w="80174">
                  <a:moveTo>
                    <a:pt x="0" y="0"/>
                  </a:moveTo>
                  <a:lnTo>
                    <a:pt x="80174" y="0"/>
                  </a:lnTo>
                  <a:lnTo>
                    <a:pt x="80174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85" name="Google Shape;385;p17"/>
            <p:cNvSpPr txBox="1"/>
            <p:nvPr/>
          </p:nvSpPr>
          <p:spPr>
            <a:xfrm>
              <a:off x="0" y="0"/>
              <a:ext cx="80174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6" name="Google Shape;386;p17"/>
          <p:cNvGrpSpPr/>
          <p:nvPr/>
        </p:nvGrpSpPr>
        <p:grpSpPr>
          <a:xfrm>
            <a:off x="1028700" y="7606689"/>
            <a:ext cx="259165" cy="661599"/>
            <a:chOff x="0" y="0"/>
            <a:chExt cx="80174" cy="204671"/>
          </a:xfrm>
        </p:grpSpPr>
        <p:sp>
          <p:nvSpPr>
            <p:cNvPr id="387" name="Google Shape;387;p17"/>
            <p:cNvSpPr/>
            <p:nvPr/>
          </p:nvSpPr>
          <p:spPr>
            <a:xfrm>
              <a:off x="0" y="0"/>
              <a:ext cx="80174" cy="204671"/>
            </a:xfrm>
            <a:custGeom>
              <a:rect b="b" l="l" r="r" t="t"/>
              <a:pathLst>
                <a:path extrusionOk="0" h="204671" w="80174">
                  <a:moveTo>
                    <a:pt x="0" y="0"/>
                  </a:moveTo>
                  <a:lnTo>
                    <a:pt x="80174" y="0"/>
                  </a:lnTo>
                  <a:lnTo>
                    <a:pt x="80174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88" name="Google Shape;388;p17"/>
            <p:cNvSpPr txBox="1"/>
            <p:nvPr/>
          </p:nvSpPr>
          <p:spPr>
            <a:xfrm>
              <a:off x="0" y="0"/>
              <a:ext cx="80174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95" l="0" r="-56482" t="-52941"/>
            </a:stretch>
          </a:blipFill>
          <a:ln>
            <a:noFill/>
          </a:ln>
        </p:spPr>
      </p:sp>
      <p:sp>
        <p:nvSpPr>
          <p:cNvPr id="394" name="Google Shape;394;p18"/>
          <p:cNvSpPr txBox="1"/>
          <p:nvPr/>
        </p:nvSpPr>
        <p:spPr>
          <a:xfrm>
            <a:off x="1028700" y="2025600"/>
            <a:ext cx="152331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1.3 </a:t>
            </a:r>
            <a:r>
              <a:rPr b="0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Byte-Pair Encoding (BPE) and Subword Tokenization</a:t>
            </a:r>
            <a:endParaRPr/>
          </a:p>
        </p:txBody>
      </p:sp>
      <p:sp>
        <p:nvSpPr>
          <p:cNvPr id="395" name="Google Shape;395;p18"/>
          <p:cNvSpPr txBox="1"/>
          <p:nvPr/>
        </p:nvSpPr>
        <p:spPr>
          <a:xfrm>
            <a:off x="1028700" y="3196472"/>
            <a:ext cx="14118437" cy="579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62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The BPE Training Process</a:t>
            </a:r>
            <a:endParaRPr/>
          </a:p>
        </p:txBody>
      </p:sp>
      <p:grpSp>
        <p:nvGrpSpPr>
          <p:cNvPr id="396" name="Google Shape;396;p18"/>
          <p:cNvGrpSpPr/>
          <p:nvPr/>
        </p:nvGrpSpPr>
        <p:grpSpPr>
          <a:xfrm>
            <a:off x="1028700" y="1028700"/>
            <a:ext cx="4030343" cy="777108"/>
            <a:chOff x="0" y="0"/>
            <a:chExt cx="1061489" cy="204671"/>
          </a:xfrm>
        </p:grpSpPr>
        <p:sp>
          <p:nvSpPr>
            <p:cNvPr id="397" name="Google Shape;397;p18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398" name="Google Shape;398;p18"/>
            <p:cNvSpPr txBox="1"/>
            <p:nvPr/>
          </p:nvSpPr>
          <p:spPr>
            <a:xfrm>
              <a:off x="0" y="0"/>
              <a:ext cx="1061489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/>
            </a:p>
          </p:txBody>
        </p:sp>
      </p:grpSp>
      <p:sp>
        <p:nvSpPr>
          <p:cNvPr id="399" name="Google Shape;399;p18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0" name="Google Shape;400;p18"/>
          <p:cNvSpPr txBox="1"/>
          <p:nvPr/>
        </p:nvSpPr>
        <p:spPr>
          <a:xfrm>
            <a:off x="1463235" y="4280395"/>
            <a:ext cx="5056500" cy="45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Training starts from individual characters or bytes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All adjacent token pairs are counted across the dataset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The most frequent pair is merged into a new token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The process repeats until the target vocabulary size is reached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01" name="Google Shape;401;p18"/>
          <p:cNvGrpSpPr/>
          <p:nvPr/>
        </p:nvGrpSpPr>
        <p:grpSpPr>
          <a:xfrm>
            <a:off x="1028700" y="4280395"/>
            <a:ext cx="259165" cy="661599"/>
            <a:chOff x="0" y="0"/>
            <a:chExt cx="80174" cy="204671"/>
          </a:xfrm>
        </p:grpSpPr>
        <p:sp>
          <p:nvSpPr>
            <p:cNvPr id="402" name="Google Shape;402;p18"/>
            <p:cNvSpPr/>
            <p:nvPr/>
          </p:nvSpPr>
          <p:spPr>
            <a:xfrm>
              <a:off x="0" y="0"/>
              <a:ext cx="80174" cy="204671"/>
            </a:xfrm>
            <a:custGeom>
              <a:rect b="b" l="l" r="r" t="t"/>
              <a:pathLst>
                <a:path extrusionOk="0" h="204671" w="80174">
                  <a:moveTo>
                    <a:pt x="0" y="0"/>
                  </a:moveTo>
                  <a:lnTo>
                    <a:pt x="80174" y="0"/>
                  </a:lnTo>
                  <a:lnTo>
                    <a:pt x="80174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03" name="Google Shape;403;p18"/>
            <p:cNvSpPr txBox="1"/>
            <p:nvPr/>
          </p:nvSpPr>
          <p:spPr>
            <a:xfrm>
              <a:off x="0" y="0"/>
              <a:ext cx="80174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4" name="Google Shape;404;p18"/>
          <p:cNvGrpSpPr/>
          <p:nvPr/>
        </p:nvGrpSpPr>
        <p:grpSpPr>
          <a:xfrm>
            <a:off x="1028700" y="5388141"/>
            <a:ext cx="259165" cy="661599"/>
            <a:chOff x="0" y="0"/>
            <a:chExt cx="80174" cy="204671"/>
          </a:xfrm>
        </p:grpSpPr>
        <p:sp>
          <p:nvSpPr>
            <p:cNvPr id="405" name="Google Shape;405;p18"/>
            <p:cNvSpPr/>
            <p:nvPr/>
          </p:nvSpPr>
          <p:spPr>
            <a:xfrm>
              <a:off x="0" y="0"/>
              <a:ext cx="80174" cy="204671"/>
            </a:xfrm>
            <a:custGeom>
              <a:rect b="b" l="l" r="r" t="t"/>
              <a:pathLst>
                <a:path extrusionOk="0" h="204671" w="80174">
                  <a:moveTo>
                    <a:pt x="0" y="0"/>
                  </a:moveTo>
                  <a:lnTo>
                    <a:pt x="80174" y="0"/>
                  </a:lnTo>
                  <a:lnTo>
                    <a:pt x="80174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06" name="Google Shape;406;p18"/>
            <p:cNvSpPr txBox="1"/>
            <p:nvPr/>
          </p:nvSpPr>
          <p:spPr>
            <a:xfrm>
              <a:off x="0" y="0"/>
              <a:ext cx="80174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7" name="Google Shape;407;p18"/>
          <p:cNvGrpSpPr/>
          <p:nvPr/>
        </p:nvGrpSpPr>
        <p:grpSpPr>
          <a:xfrm>
            <a:off x="1028700" y="6497415"/>
            <a:ext cx="259165" cy="661599"/>
            <a:chOff x="0" y="0"/>
            <a:chExt cx="80174" cy="204671"/>
          </a:xfrm>
        </p:grpSpPr>
        <p:sp>
          <p:nvSpPr>
            <p:cNvPr id="408" name="Google Shape;408;p18"/>
            <p:cNvSpPr/>
            <p:nvPr/>
          </p:nvSpPr>
          <p:spPr>
            <a:xfrm>
              <a:off x="0" y="0"/>
              <a:ext cx="80174" cy="204671"/>
            </a:xfrm>
            <a:custGeom>
              <a:rect b="b" l="l" r="r" t="t"/>
              <a:pathLst>
                <a:path extrusionOk="0" h="204671" w="80174">
                  <a:moveTo>
                    <a:pt x="0" y="0"/>
                  </a:moveTo>
                  <a:lnTo>
                    <a:pt x="80174" y="0"/>
                  </a:lnTo>
                  <a:lnTo>
                    <a:pt x="80174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09" name="Google Shape;409;p18"/>
            <p:cNvSpPr txBox="1"/>
            <p:nvPr/>
          </p:nvSpPr>
          <p:spPr>
            <a:xfrm>
              <a:off x="0" y="0"/>
              <a:ext cx="80174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0" name="Google Shape;410;p18"/>
          <p:cNvGrpSpPr/>
          <p:nvPr/>
        </p:nvGrpSpPr>
        <p:grpSpPr>
          <a:xfrm>
            <a:off x="1028700" y="7606689"/>
            <a:ext cx="259165" cy="661599"/>
            <a:chOff x="0" y="0"/>
            <a:chExt cx="80174" cy="204671"/>
          </a:xfrm>
        </p:grpSpPr>
        <p:sp>
          <p:nvSpPr>
            <p:cNvPr id="411" name="Google Shape;411;p18"/>
            <p:cNvSpPr/>
            <p:nvPr/>
          </p:nvSpPr>
          <p:spPr>
            <a:xfrm>
              <a:off x="0" y="0"/>
              <a:ext cx="80174" cy="204671"/>
            </a:xfrm>
            <a:custGeom>
              <a:rect b="b" l="l" r="r" t="t"/>
              <a:pathLst>
                <a:path extrusionOk="0" h="204671" w="80174">
                  <a:moveTo>
                    <a:pt x="0" y="0"/>
                  </a:moveTo>
                  <a:lnTo>
                    <a:pt x="80174" y="0"/>
                  </a:lnTo>
                  <a:lnTo>
                    <a:pt x="80174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12" name="Google Shape;412;p18"/>
            <p:cNvSpPr txBox="1"/>
            <p:nvPr/>
          </p:nvSpPr>
          <p:spPr>
            <a:xfrm>
              <a:off x="0" y="0"/>
              <a:ext cx="80174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3" name="Google Shape;413;p18"/>
          <p:cNvSpPr/>
          <p:nvPr/>
        </p:nvSpPr>
        <p:spPr>
          <a:xfrm>
            <a:off x="7940725" y="3343901"/>
            <a:ext cx="3943592" cy="5071850"/>
          </a:xfrm>
          <a:custGeom>
            <a:rect b="b" l="l" r="r" t="t"/>
            <a:pathLst>
              <a:path extrusionOk="0" h="11208508" w="8715121">
                <a:moveTo>
                  <a:pt x="0" y="0"/>
                </a:moveTo>
                <a:lnTo>
                  <a:pt x="8715121" y="0"/>
                </a:lnTo>
                <a:lnTo>
                  <a:pt x="8715121" y="11208508"/>
                </a:lnTo>
                <a:lnTo>
                  <a:pt x="0" y="112085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1665" l="0" r="0" t="-4964"/>
            </a:stretch>
          </a:blipFill>
          <a:ln cap="sq" cmpd="sng" w="85725">
            <a:solidFill>
              <a:srgbClr val="6592E6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95" l="0" r="-56482" t="-52941"/>
            </a:stretch>
          </a:blipFill>
          <a:ln>
            <a:noFill/>
          </a:ln>
        </p:spPr>
      </p:sp>
      <p:sp>
        <p:nvSpPr>
          <p:cNvPr id="419" name="Google Shape;419;p19"/>
          <p:cNvSpPr txBox="1"/>
          <p:nvPr/>
        </p:nvSpPr>
        <p:spPr>
          <a:xfrm>
            <a:off x="1028700" y="2025600"/>
            <a:ext cx="155526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1.3 </a:t>
            </a:r>
            <a:r>
              <a:rPr b="0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Byte-Pair Encoding (BPE) and Subword Tokenization</a:t>
            </a:r>
            <a:endParaRPr/>
          </a:p>
        </p:txBody>
      </p:sp>
      <p:sp>
        <p:nvSpPr>
          <p:cNvPr id="420" name="Google Shape;420;p19"/>
          <p:cNvSpPr txBox="1"/>
          <p:nvPr/>
        </p:nvSpPr>
        <p:spPr>
          <a:xfrm>
            <a:off x="1028700" y="3196472"/>
            <a:ext cx="14118437" cy="579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62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Vocabulary Size Trade-Offs in BPE</a:t>
            </a:r>
            <a:endParaRPr/>
          </a:p>
        </p:txBody>
      </p:sp>
      <p:grpSp>
        <p:nvGrpSpPr>
          <p:cNvPr id="421" name="Google Shape;421;p19"/>
          <p:cNvGrpSpPr/>
          <p:nvPr/>
        </p:nvGrpSpPr>
        <p:grpSpPr>
          <a:xfrm>
            <a:off x="1028700" y="1028700"/>
            <a:ext cx="4030343" cy="777108"/>
            <a:chOff x="0" y="0"/>
            <a:chExt cx="1061489" cy="204671"/>
          </a:xfrm>
        </p:grpSpPr>
        <p:sp>
          <p:nvSpPr>
            <p:cNvPr id="422" name="Google Shape;422;p19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23" name="Google Shape;423;p19"/>
            <p:cNvSpPr txBox="1"/>
            <p:nvPr/>
          </p:nvSpPr>
          <p:spPr>
            <a:xfrm>
              <a:off x="0" y="0"/>
              <a:ext cx="1061489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/>
            </a:p>
          </p:txBody>
        </p:sp>
      </p:grpSp>
      <p:sp>
        <p:nvSpPr>
          <p:cNvPr id="424" name="Google Shape;424;p19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5" name="Google Shape;425;p19"/>
          <p:cNvSpPr txBox="1"/>
          <p:nvPr/>
        </p:nvSpPr>
        <p:spPr>
          <a:xfrm>
            <a:off x="1463224" y="4250650"/>
            <a:ext cx="7587600" cy="3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Small vocabularies increase sequence length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Longer sequences raise computational cost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Large vocabularies reduce fragmentation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Excessively large vocabularies introduce sparsity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Vocabulary size is a key design decision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26" name="Google Shape;426;p19"/>
          <p:cNvGrpSpPr/>
          <p:nvPr/>
        </p:nvGrpSpPr>
        <p:grpSpPr>
          <a:xfrm>
            <a:off x="1028700" y="4242295"/>
            <a:ext cx="259165" cy="400016"/>
            <a:chOff x="0" y="0"/>
            <a:chExt cx="80174" cy="123748"/>
          </a:xfrm>
        </p:grpSpPr>
        <p:sp>
          <p:nvSpPr>
            <p:cNvPr id="427" name="Google Shape;427;p1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28" name="Google Shape;428;p19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9" name="Google Shape;429;p19"/>
          <p:cNvGrpSpPr/>
          <p:nvPr/>
        </p:nvGrpSpPr>
        <p:grpSpPr>
          <a:xfrm>
            <a:off x="1028700" y="4943492"/>
            <a:ext cx="259165" cy="400016"/>
            <a:chOff x="0" y="0"/>
            <a:chExt cx="80174" cy="123748"/>
          </a:xfrm>
        </p:grpSpPr>
        <p:sp>
          <p:nvSpPr>
            <p:cNvPr id="430" name="Google Shape;430;p1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31" name="Google Shape;431;p19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2" name="Google Shape;432;p19"/>
          <p:cNvGrpSpPr/>
          <p:nvPr/>
        </p:nvGrpSpPr>
        <p:grpSpPr>
          <a:xfrm>
            <a:off x="1028700" y="5648308"/>
            <a:ext cx="259165" cy="400016"/>
            <a:chOff x="0" y="0"/>
            <a:chExt cx="80174" cy="123748"/>
          </a:xfrm>
        </p:grpSpPr>
        <p:sp>
          <p:nvSpPr>
            <p:cNvPr id="433" name="Google Shape;433;p1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34" name="Google Shape;434;p19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5" name="Google Shape;435;p19"/>
          <p:cNvGrpSpPr/>
          <p:nvPr/>
        </p:nvGrpSpPr>
        <p:grpSpPr>
          <a:xfrm>
            <a:off x="1028700" y="6353123"/>
            <a:ext cx="259165" cy="400016"/>
            <a:chOff x="0" y="0"/>
            <a:chExt cx="80174" cy="123748"/>
          </a:xfrm>
        </p:grpSpPr>
        <p:sp>
          <p:nvSpPr>
            <p:cNvPr id="436" name="Google Shape;436;p1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37" name="Google Shape;437;p19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8" name="Google Shape;438;p19"/>
          <p:cNvGrpSpPr/>
          <p:nvPr/>
        </p:nvGrpSpPr>
        <p:grpSpPr>
          <a:xfrm>
            <a:off x="1028700" y="7057939"/>
            <a:ext cx="259165" cy="400016"/>
            <a:chOff x="0" y="0"/>
            <a:chExt cx="80174" cy="123748"/>
          </a:xfrm>
        </p:grpSpPr>
        <p:sp>
          <p:nvSpPr>
            <p:cNvPr id="439" name="Google Shape;439;p1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40" name="Google Shape;440;p19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1" name="Google Shape;441;p19"/>
          <p:cNvSpPr/>
          <p:nvPr/>
        </p:nvSpPr>
        <p:spPr>
          <a:xfrm>
            <a:off x="10100710" y="3179429"/>
            <a:ext cx="7158566" cy="4328117"/>
          </a:xfrm>
          <a:custGeom>
            <a:rect b="b" l="l" r="r" t="t"/>
            <a:pathLst>
              <a:path extrusionOk="0" h="6759236" w="11179556">
                <a:moveTo>
                  <a:pt x="0" y="0"/>
                </a:moveTo>
                <a:lnTo>
                  <a:pt x="11179556" y="0"/>
                </a:lnTo>
                <a:lnTo>
                  <a:pt x="11179556" y="6759236"/>
                </a:lnTo>
                <a:lnTo>
                  <a:pt x="0" y="67592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1224" l="-7886" r="-7162" t="-15635"/>
            </a:stretch>
          </a:blipFill>
          <a:ln cap="sq" cmpd="sng" w="85725">
            <a:solidFill>
              <a:srgbClr val="6592E6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95" l="0" r="-56482" t="-52941"/>
            </a:stretch>
          </a:blipFill>
          <a:ln>
            <a:noFill/>
          </a:ln>
        </p:spPr>
      </p:sp>
      <p:sp>
        <p:nvSpPr>
          <p:cNvPr id="447" name="Google Shape;447;p20"/>
          <p:cNvSpPr txBox="1"/>
          <p:nvPr/>
        </p:nvSpPr>
        <p:spPr>
          <a:xfrm>
            <a:off x="1028700" y="2025600"/>
            <a:ext cx="154728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1.3 </a:t>
            </a:r>
            <a:r>
              <a:rPr b="0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Byte-Pair Encoding (BPE) and Subword Tokenization</a:t>
            </a:r>
            <a:endParaRPr/>
          </a:p>
        </p:txBody>
      </p:sp>
      <p:sp>
        <p:nvSpPr>
          <p:cNvPr id="448" name="Google Shape;448;p20"/>
          <p:cNvSpPr txBox="1"/>
          <p:nvPr/>
        </p:nvSpPr>
        <p:spPr>
          <a:xfrm>
            <a:off x="1028700" y="3196472"/>
            <a:ext cx="14118437" cy="579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62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BPE in Transformer and GPT-Style Models</a:t>
            </a:r>
            <a:endParaRPr/>
          </a:p>
        </p:txBody>
      </p:sp>
      <p:grpSp>
        <p:nvGrpSpPr>
          <p:cNvPr id="449" name="Google Shape;449;p20"/>
          <p:cNvGrpSpPr/>
          <p:nvPr/>
        </p:nvGrpSpPr>
        <p:grpSpPr>
          <a:xfrm>
            <a:off x="1028700" y="1028700"/>
            <a:ext cx="4030343" cy="777108"/>
            <a:chOff x="0" y="0"/>
            <a:chExt cx="1061489" cy="204671"/>
          </a:xfrm>
        </p:grpSpPr>
        <p:sp>
          <p:nvSpPr>
            <p:cNvPr id="450" name="Google Shape;450;p20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51" name="Google Shape;451;p20"/>
            <p:cNvSpPr txBox="1"/>
            <p:nvPr/>
          </p:nvSpPr>
          <p:spPr>
            <a:xfrm>
              <a:off x="0" y="0"/>
              <a:ext cx="1061489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/>
            </a:p>
          </p:txBody>
        </p:sp>
      </p:grpSp>
      <p:sp>
        <p:nvSpPr>
          <p:cNvPr id="452" name="Google Shape;452;p20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3" name="Google Shape;453;p20"/>
          <p:cNvSpPr txBox="1"/>
          <p:nvPr/>
        </p:nvSpPr>
        <p:spPr>
          <a:xfrm>
            <a:off x="1463235" y="4222084"/>
            <a:ext cx="10344300" cy="28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Modern Transformer models rely on subword tokenization.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Byte-level BPE ensures a fixed and complete base vocabulary.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This approach handles any character or symbol.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It enables efficient and scalable language modeling.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54" name="Google Shape;454;p20"/>
          <p:cNvGrpSpPr/>
          <p:nvPr/>
        </p:nvGrpSpPr>
        <p:grpSpPr>
          <a:xfrm>
            <a:off x="1028700" y="4213720"/>
            <a:ext cx="259165" cy="400016"/>
            <a:chOff x="0" y="0"/>
            <a:chExt cx="80174" cy="123748"/>
          </a:xfrm>
        </p:grpSpPr>
        <p:sp>
          <p:nvSpPr>
            <p:cNvPr id="455" name="Google Shape;455;p2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56" name="Google Shape;456;p20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7" name="Google Shape;457;p20"/>
          <p:cNvGrpSpPr/>
          <p:nvPr/>
        </p:nvGrpSpPr>
        <p:grpSpPr>
          <a:xfrm>
            <a:off x="1028700" y="4914917"/>
            <a:ext cx="259165" cy="400016"/>
            <a:chOff x="0" y="0"/>
            <a:chExt cx="80174" cy="123748"/>
          </a:xfrm>
        </p:grpSpPr>
        <p:sp>
          <p:nvSpPr>
            <p:cNvPr id="458" name="Google Shape;458;p2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59" name="Google Shape;459;p20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0" name="Google Shape;460;p20"/>
          <p:cNvGrpSpPr/>
          <p:nvPr/>
        </p:nvGrpSpPr>
        <p:grpSpPr>
          <a:xfrm>
            <a:off x="1028700" y="5619733"/>
            <a:ext cx="259165" cy="400016"/>
            <a:chOff x="0" y="0"/>
            <a:chExt cx="80174" cy="123748"/>
          </a:xfrm>
        </p:grpSpPr>
        <p:sp>
          <p:nvSpPr>
            <p:cNvPr id="461" name="Google Shape;461;p2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62" name="Google Shape;462;p20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3" name="Google Shape;463;p20"/>
          <p:cNvGrpSpPr/>
          <p:nvPr/>
        </p:nvGrpSpPr>
        <p:grpSpPr>
          <a:xfrm>
            <a:off x="1028700" y="6324548"/>
            <a:ext cx="259165" cy="400016"/>
            <a:chOff x="0" y="0"/>
            <a:chExt cx="80174" cy="123748"/>
          </a:xfrm>
        </p:grpSpPr>
        <p:sp>
          <p:nvSpPr>
            <p:cNvPr id="464" name="Google Shape;464;p20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65" name="Google Shape;465;p20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6" name="Google Shape;466;p20"/>
          <p:cNvSpPr/>
          <p:nvPr/>
        </p:nvSpPr>
        <p:spPr>
          <a:xfrm>
            <a:off x="1028700" y="7157301"/>
            <a:ext cx="8918520" cy="2100999"/>
          </a:xfrm>
          <a:custGeom>
            <a:rect b="b" l="l" r="r" t="t"/>
            <a:pathLst>
              <a:path extrusionOk="0" h="2100999" w="8918520">
                <a:moveTo>
                  <a:pt x="0" y="0"/>
                </a:moveTo>
                <a:lnTo>
                  <a:pt x="8918520" y="0"/>
                </a:lnTo>
                <a:lnTo>
                  <a:pt x="8918520" y="2100999"/>
                </a:lnTo>
                <a:lnTo>
                  <a:pt x="0" y="21009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72453" l="0" r="0" t="-65567"/>
            </a:stretch>
          </a:blipFill>
          <a:ln cap="sq" cmpd="sng" w="85725">
            <a:solidFill>
              <a:srgbClr val="6592E6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95" l="0" r="-56482" t="-52941"/>
            </a:stretch>
          </a:blipFill>
          <a:ln>
            <a:noFill/>
          </a:ln>
        </p:spPr>
      </p:sp>
      <p:grpSp>
        <p:nvGrpSpPr>
          <p:cNvPr id="472" name="Google Shape;472;p21"/>
          <p:cNvGrpSpPr/>
          <p:nvPr/>
        </p:nvGrpSpPr>
        <p:grpSpPr>
          <a:xfrm>
            <a:off x="1259561" y="710571"/>
            <a:ext cx="3086100" cy="600092"/>
            <a:chOff x="0" y="-9525"/>
            <a:chExt cx="812800" cy="158049"/>
          </a:xfrm>
        </p:grpSpPr>
        <p:sp>
          <p:nvSpPr>
            <p:cNvPr id="473" name="Google Shape;473;p21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74" name="Google Shape;474;p21"/>
            <p:cNvSpPr txBox="1"/>
            <p:nvPr/>
          </p:nvSpPr>
          <p:spPr>
            <a:xfrm>
              <a:off x="0" y="-9525"/>
              <a:ext cx="812800" cy="158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/>
            </a:p>
          </p:txBody>
        </p:sp>
      </p:grpSp>
      <p:grpSp>
        <p:nvGrpSpPr>
          <p:cNvPr id="475" name="Google Shape;475;p21"/>
          <p:cNvGrpSpPr/>
          <p:nvPr/>
        </p:nvGrpSpPr>
        <p:grpSpPr>
          <a:xfrm>
            <a:off x="1140400" y="4106550"/>
            <a:ext cx="13922647" cy="720891"/>
            <a:chOff x="0" y="-9525"/>
            <a:chExt cx="3487637" cy="189863"/>
          </a:xfrm>
        </p:grpSpPr>
        <p:sp>
          <p:nvSpPr>
            <p:cNvPr id="476" name="Google Shape;476;p21"/>
            <p:cNvSpPr/>
            <p:nvPr/>
          </p:nvSpPr>
          <p:spPr>
            <a:xfrm>
              <a:off x="0" y="0"/>
              <a:ext cx="3487637" cy="180338"/>
            </a:xfrm>
            <a:custGeom>
              <a:rect b="b" l="l" r="r" t="t"/>
              <a:pathLst>
                <a:path extrusionOk="0" h="180338" w="3487637">
                  <a:moveTo>
                    <a:pt x="0" y="0"/>
                  </a:moveTo>
                  <a:lnTo>
                    <a:pt x="3487637" y="0"/>
                  </a:lnTo>
                  <a:lnTo>
                    <a:pt x="3487637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77" name="Google Shape;477;p21"/>
            <p:cNvSpPr txBox="1"/>
            <p:nvPr/>
          </p:nvSpPr>
          <p:spPr>
            <a:xfrm>
              <a:off x="0" y="-9525"/>
              <a:ext cx="3487637" cy="1898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8" name="Google Shape;478;p21"/>
          <p:cNvSpPr txBox="1"/>
          <p:nvPr/>
        </p:nvSpPr>
        <p:spPr>
          <a:xfrm>
            <a:off x="1259549" y="2047825"/>
            <a:ext cx="14262900" cy="55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1.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Getting Started with Text Processing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2.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Fundamentals of Tokenization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3.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Byte-Pair Encoding (BPE) and Subword Tokenization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FFFFFF"/>
                </a:solidFill>
                <a:latin typeface="Jost"/>
                <a:ea typeface="Jost"/>
                <a:cs typeface="Jost"/>
                <a:sym typeface="Jost"/>
              </a:rPr>
              <a:t>4. Advanced Subword Tokenization with SentencePiece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Stopwords and Vocabulary Management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6.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Processing Multilingual and Cross-Lingual Text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7.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Summary and Next Steps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123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79" name="Google Shape;479;p21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0" name="Google Shape;480;p21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95" l="0" r="-56482" t="-52941"/>
            </a:stretch>
          </a:blipFill>
          <a:ln>
            <a:noFill/>
          </a:ln>
        </p:spPr>
      </p:sp>
      <p:sp>
        <p:nvSpPr>
          <p:cNvPr id="486" name="Google Shape;486;p22"/>
          <p:cNvSpPr txBox="1"/>
          <p:nvPr/>
        </p:nvSpPr>
        <p:spPr>
          <a:xfrm>
            <a:off x="1028700" y="2025604"/>
            <a:ext cx="14118437" cy="579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1.4 </a:t>
            </a:r>
            <a:r>
              <a:rPr b="0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SentencePiece</a:t>
            </a:r>
            <a:endParaRPr/>
          </a:p>
        </p:txBody>
      </p:sp>
      <p:sp>
        <p:nvSpPr>
          <p:cNvPr id="487" name="Google Shape;487;p22"/>
          <p:cNvSpPr txBox="1"/>
          <p:nvPr/>
        </p:nvSpPr>
        <p:spPr>
          <a:xfrm>
            <a:off x="1028700" y="3196472"/>
            <a:ext cx="14118437" cy="579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62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Why SentencePiece Was Introduced</a:t>
            </a:r>
            <a:endParaRPr/>
          </a:p>
        </p:txBody>
      </p:sp>
      <p:sp>
        <p:nvSpPr>
          <p:cNvPr id="488" name="Google Shape;488;p22"/>
          <p:cNvSpPr txBox="1"/>
          <p:nvPr/>
        </p:nvSpPr>
        <p:spPr>
          <a:xfrm>
            <a:off x="1463225" y="4269025"/>
            <a:ext cx="8566200" cy="26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Traditional tokenizers rely on language-specific rules.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Whitespace-based pre-tokenization fails for many scripts.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SentencePiece processes text as a raw character stream.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This enables fully language-agnostic tokenization.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489" name="Google Shape;489;p22"/>
          <p:cNvGrpSpPr/>
          <p:nvPr/>
        </p:nvGrpSpPr>
        <p:grpSpPr>
          <a:xfrm>
            <a:off x="1028700" y="1028700"/>
            <a:ext cx="4030343" cy="777108"/>
            <a:chOff x="0" y="0"/>
            <a:chExt cx="1061489" cy="204671"/>
          </a:xfrm>
        </p:grpSpPr>
        <p:sp>
          <p:nvSpPr>
            <p:cNvPr id="490" name="Google Shape;490;p22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91" name="Google Shape;491;p22"/>
            <p:cNvSpPr txBox="1"/>
            <p:nvPr/>
          </p:nvSpPr>
          <p:spPr>
            <a:xfrm>
              <a:off x="0" y="0"/>
              <a:ext cx="1061489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/>
            </a:p>
          </p:txBody>
        </p:sp>
      </p:grpSp>
      <p:sp>
        <p:nvSpPr>
          <p:cNvPr id="492" name="Google Shape;492;p22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93" name="Google Shape;493;p22"/>
          <p:cNvGrpSpPr/>
          <p:nvPr/>
        </p:nvGrpSpPr>
        <p:grpSpPr>
          <a:xfrm>
            <a:off x="1028700" y="4232770"/>
            <a:ext cx="259165" cy="400016"/>
            <a:chOff x="0" y="0"/>
            <a:chExt cx="80174" cy="123748"/>
          </a:xfrm>
        </p:grpSpPr>
        <p:sp>
          <p:nvSpPr>
            <p:cNvPr id="494" name="Google Shape;494;p2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95" name="Google Shape;495;p22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6" name="Google Shape;496;p22"/>
          <p:cNvGrpSpPr/>
          <p:nvPr/>
        </p:nvGrpSpPr>
        <p:grpSpPr>
          <a:xfrm>
            <a:off x="1028700" y="4864339"/>
            <a:ext cx="259165" cy="400016"/>
            <a:chOff x="0" y="0"/>
            <a:chExt cx="80174" cy="123748"/>
          </a:xfrm>
        </p:grpSpPr>
        <p:sp>
          <p:nvSpPr>
            <p:cNvPr id="497" name="Google Shape;497;p2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498" name="Google Shape;498;p22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9" name="Google Shape;499;p22"/>
          <p:cNvGrpSpPr/>
          <p:nvPr/>
        </p:nvGrpSpPr>
        <p:grpSpPr>
          <a:xfrm>
            <a:off x="1028700" y="5492955"/>
            <a:ext cx="259165" cy="400016"/>
            <a:chOff x="0" y="0"/>
            <a:chExt cx="80174" cy="123748"/>
          </a:xfrm>
        </p:grpSpPr>
        <p:sp>
          <p:nvSpPr>
            <p:cNvPr id="500" name="Google Shape;500;p2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01" name="Google Shape;501;p22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2" name="Google Shape;502;p22"/>
          <p:cNvGrpSpPr/>
          <p:nvPr/>
        </p:nvGrpSpPr>
        <p:grpSpPr>
          <a:xfrm>
            <a:off x="1028700" y="6121570"/>
            <a:ext cx="259165" cy="400016"/>
            <a:chOff x="0" y="0"/>
            <a:chExt cx="80174" cy="123748"/>
          </a:xfrm>
        </p:grpSpPr>
        <p:sp>
          <p:nvSpPr>
            <p:cNvPr id="503" name="Google Shape;503;p22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04" name="Google Shape;504;p22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5" name="Google Shape;505;p22"/>
          <p:cNvSpPr/>
          <p:nvPr/>
        </p:nvSpPr>
        <p:spPr>
          <a:xfrm>
            <a:off x="10808575" y="3155450"/>
            <a:ext cx="6445074" cy="3798583"/>
          </a:xfrm>
          <a:custGeom>
            <a:rect b="b" l="l" r="r" t="t"/>
            <a:pathLst>
              <a:path extrusionOk="0" h="4508704" w="7835956">
                <a:moveTo>
                  <a:pt x="0" y="0"/>
                </a:moveTo>
                <a:lnTo>
                  <a:pt x="7835956" y="0"/>
                </a:lnTo>
                <a:lnTo>
                  <a:pt x="7835956" y="4508704"/>
                </a:lnTo>
                <a:lnTo>
                  <a:pt x="0" y="45087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5220" l="-7017" r="-7703" t="-7702"/>
            </a:stretch>
          </a:blipFill>
          <a:ln cap="sq" cmpd="sng" w="85725">
            <a:solidFill>
              <a:srgbClr val="6592E6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97" l="0" r="-56479" t="-52939"/>
            </a:stretch>
          </a:blipFill>
          <a:ln>
            <a:noFill/>
          </a:ln>
        </p:spPr>
      </p:sp>
      <p:grpSp>
        <p:nvGrpSpPr>
          <p:cNvPr id="511" name="Google Shape;511;p23"/>
          <p:cNvGrpSpPr/>
          <p:nvPr/>
        </p:nvGrpSpPr>
        <p:grpSpPr>
          <a:xfrm>
            <a:off x="1259561" y="710571"/>
            <a:ext cx="3086100" cy="600092"/>
            <a:chOff x="0" y="-9525"/>
            <a:chExt cx="812800" cy="158049"/>
          </a:xfrm>
        </p:grpSpPr>
        <p:sp>
          <p:nvSpPr>
            <p:cNvPr id="512" name="Google Shape;512;p23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13" name="Google Shape;513;p23"/>
            <p:cNvSpPr txBox="1"/>
            <p:nvPr/>
          </p:nvSpPr>
          <p:spPr>
            <a:xfrm>
              <a:off x="0" y="-9525"/>
              <a:ext cx="812800" cy="158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/>
            </a:p>
          </p:txBody>
        </p:sp>
      </p:grpSp>
      <p:grpSp>
        <p:nvGrpSpPr>
          <p:cNvPr id="514" name="Google Shape;514;p23"/>
          <p:cNvGrpSpPr/>
          <p:nvPr/>
        </p:nvGrpSpPr>
        <p:grpSpPr>
          <a:xfrm>
            <a:off x="1140401" y="4828402"/>
            <a:ext cx="10966654" cy="720891"/>
            <a:chOff x="0" y="-9525"/>
            <a:chExt cx="2708284" cy="189863"/>
          </a:xfrm>
        </p:grpSpPr>
        <p:sp>
          <p:nvSpPr>
            <p:cNvPr id="515" name="Google Shape;515;p23"/>
            <p:cNvSpPr/>
            <p:nvPr/>
          </p:nvSpPr>
          <p:spPr>
            <a:xfrm>
              <a:off x="0" y="0"/>
              <a:ext cx="2708284" cy="180338"/>
            </a:xfrm>
            <a:custGeom>
              <a:rect b="b" l="l" r="r" t="t"/>
              <a:pathLst>
                <a:path extrusionOk="0" h="180338" w="2708284">
                  <a:moveTo>
                    <a:pt x="0" y="0"/>
                  </a:moveTo>
                  <a:lnTo>
                    <a:pt x="2708284" y="0"/>
                  </a:lnTo>
                  <a:lnTo>
                    <a:pt x="2708284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16" name="Google Shape;516;p23"/>
            <p:cNvSpPr txBox="1"/>
            <p:nvPr/>
          </p:nvSpPr>
          <p:spPr>
            <a:xfrm>
              <a:off x="0" y="-9525"/>
              <a:ext cx="2708284" cy="1898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7" name="Google Shape;517;p23"/>
          <p:cNvSpPr txBox="1"/>
          <p:nvPr/>
        </p:nvSpPr>
        <p:spPr>
          <a:xfrm>
            <a:off x="1259561" y="2047829"/>
            <a:ext cx="13122900" cy="55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1.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Getting Started with Text Processing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2.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Fundamentals of Tokenization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3.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Byte-Pair Encoding (BPE) and Subword Tokenization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4.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Advanced Subword Tokenization with SentencePiece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FFFFFF"/>
                </a:solidFill>
                <a:latin typeface="Jost"/>
                <a:ea typeface="Jost"/>
                <a:cs typeface="Jost"/>
                <a:sym typeface="Jost"/>
              </a:rPr>
              <a:t>5. Stopwords and Vocabulary Management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6.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Processing Multilingual and Cross-Lingual Text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7.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Summary and Next Steps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123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18" name="Google Shape;518;p23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9" name="Google Shape;519;p23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95" l="0" r="-56482" t="-52941"/>
            </a:stretch>
          </a:blipFill>
          <a:ln>
            <a:noFill/>
          </a:ln>
        </p:spPr>
      </p:sp>
      <p:sp>
        <p:nvSpPr>
          <p:cNvPr id="525" name="Google Shape;525;p24"/>
          <p:cNvSpPr txBox="1"/>
          <p:nvPr/>
        </p:nvSpPr>
        <p:spPr>
          <a:xfrm>
            <a:off x="1028700" y="2025604"/>
            <a:ext cx="14118437" cy="579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Chapter 1.5 </a:t>
            </a:r>
            <a:r>
              <a:rPr b="0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Stopwords and Vocabulary Management</a:t>
            </a:r>
            <a:endParaRPr/>
          </a:p>
        </p:txBody>
      </p:sp>
      <p:sp>
        <p:nvSpPr>
          <p:cNvPr id="526" name="Google Shape;526;p24"/>
          <p:cNvSpPr txBox="1"/>
          <p:nvPr/>
        </p:nvSpPr>
        <p:spPr>
          <a:xfrm>
            <a:off x="1028700" y="3196472"/>
            <a:ext cx="14118437" cy="579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62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Stopwords in Modern NLP Systems</a:t>
            </a:r>
            <a:endParaRPr/>
          </a:p>
        </p:txBody>
      </p:sp>
      <p:sp>
        <p:nvSpPr>
          <p:cNvPr id="527" name="Google Shape;527;p24"/>
          <p:cNvSpPr txBox="1"/>
          <p:nvPr/>
        </p:nvSpPr>
        <p:spPr>
          <a:xfrm>
            <a:off x="1463235" y="4229071"/>
            <a:ext cx="8258700" cy="26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Stopwords are high-frequency functional words.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Removing them was common in early NLP systems.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Transformer models rely on context and attention.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Modern pipelines often preserve stopwords.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528" name="Google Shape;528;p24"/>
          <p:cNvGrpSpPr/>
          <p:nvPr/>
        </p:nvGrpSpPr>
        <p:grpSpPr>
          <a:xfrm>
            <a:off x="1028700" y="1028700"/>
            <a:ext cx="4030343" cy="777108"/>
            <a:chOff x="0" y="0"/>
            <a:chExt cx="1061489" cy="204671"/>
          </a:xfrm>
        </p:grpSpPr>
        <p:sp>
          <p:nvSpPr>
            <p:cNvPr id="529" name="Google Shape;529;p24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30" name="Google Shape;530;p24"/>
            <p:cNvSpPr txBox="1"/>
            <p:nvPr/>
          </p:nvSpPr>
          <p:spPr>
            <a:xfrm>
              <a:off x="0" y="0"/>
              <a:ext cx="1061489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/>
            </a:p>
          </p:txBody>
        </p:sp>
      </p:grpSp>
      <p:sp>
        <p:nvSpPr>
          <p:cNvPr id="531" name="Google Shape;531;p24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32" name="Google Shape;532;p24"/>
          <p:cNvGrpSpPr/>
          <p:nvPr/>
        </p:nvGrpSpPr>
        <p:grpSpPr>
          <a:xfrm>
            <a:off x="1028700" y="4232770"/>
            <a:ext cx="259165" cy="400016"/>
            <a:chOff x="0" y="0"/>
            <a:chExt cx="80174" cy="123748"/>
          </a:xfrm>
        </p:grpSpPr>
        <p:sp>
          <p:nvSpPr>
            <p:cNvPr id="533" name="Google Shape;533;p2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34" name="Google Shape;534;p24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5" name="Google Shape;535;p24"/>
          <p:cNvGrpSpPr/>
          <p:nvPr/>
        </p:nvGrpSpPr>
        <p:grpSpPr>
          <a:xfrm>
            <a:off x="1028700" y="4864339"/>
            <a:ext cx="259165" cy="400016"/>
            <a:chOff x="0" y="0"/>
            <a:chExt cx="80174" cy="123748"/>
          </a:xfrm>
        </p:grpSpPr>
        <p:sp>
          <p:nvSpPr>
            <p:cNvPr id="536" name="Google Shape;536;p2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37" name="Google Shape;537;p24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8" name="Google Shape;538;p24"/>
          <p:cNvGrpSpPr/>
          <p:nvPr/>
        </p:nvGrpSpPr>
        <p:grpSpPr>
          <a:xfrm>
            <a:off x="1028700" y="5492955"/>
            <a:ext cx="259165" cy="400016"/>
            <a:chOff x="0" y="0"/>
            <a:chExt cx="80174" cy="123748"/>
          </a:xfrm>
        </p:grpSpPr>
        <p:sp>
          <p:nvSpPr>
            <p:cNvPr id="539" name="Google Shape;539;p2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40" name="Google Shape;540;p24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1" name="Google Shape;541;p24"/>
          <p:cNvGrpSpPr/>
          <p:nvPr/>
        </p:nvGrpSpPr>
        <p:grpSpPr>
          <a:xfrm>
            <a:off x="1028700" y="6121570"/>
            <a:ext cx="259165" cy="400016"/>
            <a:chOff x="0" y="0"/>
            <a:chExt cx="80174" cy="123748"/>
          </a:xfrm>
        </p:grpSpPr>
        <p:sp>
          <p:nvSpPr>
            <p:cNvPr id="542" name="Google Shape;542;p24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43" name="Google Shape;543;p24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4" name="Google Shape;544;p24"/>
          <p:cNvSpPr/>
          <p:nvPr/>
        </p:nvSpPr>
        <p:spPr>
          <a:xfrm>
            <a:off x="1028700" y="7196385"/>
            <a:ext cx="10870324" cy="2061969"/>
          </a:xfrm>
          <a:custGeom>
            <a:rect b="b" l="l" r="r" t="t"/>
            <a:pathLst>
              <a:path extrusionOk="0" h="2438908" w="12857480">
                <a:moveTo>
                  <a:pt x="0" y="0"/>
                </a:moveTo>
                <a:lnTo>
                  <a:pt x="12857480" y="0"/>
                </a:lnTo>
                <a:lnTo>
                  <a:pt x="12857480" y="2438908"/>
                </a:lnTo>
                <a:lnTo>
                  <a:pt x="0" y="24389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48441" l="-6878" r="-4277" t="-142214"/>
            </a:stretch>
          </a:blipFill>
          <a:ln cap="sq" cmpd="sng" w="85725">
            <a:solidFill>
              <a:srgbClr val="6592E6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95" l="0" r="-56482" t="-52941"/>
            </a:stretch>
          </a:blipFill>
          <a:ln>
            <a:noFill/>
          </a:ln>
        </p:spPr>
      </p:sp>
      <p:grpSp>
        <p:nvGrpSpPr>
          <p:cNvPr id="550" name="Google Shape;550;p25"/>
          <p:cNvGrpSpPr/>
          <p:nvPr/>
        </p:nvGrpSpPr>
        <p:grpSpPr>
          <a:xfrm>
            <a:off x="1259561" y="710571"/>
            <a:ext cx="3086100" cy="600092"/>
            <a:chOff x="0" y="-9525"/>
            <a:chExt cx="812800" cy="158049"/>
          </a:xfrm>
        </p:grpSpPr>
        <p:sp>
          <p:nvSpPr>
            <p:cNvPr id="551" name="Google Shape;551;p25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52" name="Google Shape;552;p25"/>
            <p:cNvSpPr txBox="1"/>
            <p:nvPr/>
          </p:nvSpPr>
          <p:spPr>
            <a:xfrm>
              <a:off x="0" y="-9525"/>
              <a:ext cx="812800" cy="158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/>
            </a:p>
          </p:txBody>
        </p:sp>
      </p:grpSp>
      <p:grpSp>
        <p:nvGrpSpPr>
          <p:cNvPr id="553" name="Google Shape;553;p25"/>
          <p:cNvGrpSpPr/>
          <p:nvPr/>
        </p:nvGrpSpPr>
        <p:grpSpPr>
          <a:xfrm>
            <a:off x="1140401" y="5523750"/>
            <a:ext cx="12304900" cy="720872"/>
            <a:chOff x="0" y="-9525"/>
            <a:chExt cx="3028824" cy="189863"/>
          </a:xfrm>
        </p:grpSpPr>
        <p:sp>
          <p:nvSpPr>
            <p:cNvPr id="554" name="Google Shape;554;p25"/>
            <p:cNvSpPr/>
            <p:nvPr/>
          </p:nvSpPr>
          <p:spPr>
            <a:xfrm>
              <a:off x="0" y="0"/>
              <a:ext cx="3028824" cy="180338"/>
            </a:xfrm>
            <a:custGeom>
              <a:rect b="b" l="l" r="r" t="t"/>
              <a:pathLst>
                <a:path extrusionOk="0" h="180338" w="3028824">
                  <a:moveTo>
                    <a:pt x="0" y="0"/>
                  </a:moveTo>
                  <a:lnTo>
                    <a:pt x="3028824" y="0"/>
                  </a:lnTo>
                  <a:lnTo>
                    <a:pt x="3028824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55" name="Google Shape;555;p25"/>
            <p:cNvSpPr txBox="1"/>
            <p:nvPr/>
          </p:nvSpPr>
          <p:spPr>
            <a:xfrm>
              <a:off x="0" y="-9525"/>
              <a:ext cx="3028824" cy="1898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6" name="Google Shape;556;p25"/>
          <p:cNvSpPr txBox="1"/>
          <p:nvPr/>
        </p:nvSpPr>
        <p:spPr>
          <a:xfrm>
            <a:off x="1259561" y="2047829"/>
            <a:ext cx="13122900" cy="55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1.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Getting Started with Text Processing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2. </a:t>
            </a:r>
            <a:r>
              <a:rPr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Fundamentals of Tokenization</a:t>
            </a:r>
            <a:endParaRPr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3.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Byte-Pair Encoding (BPE) and Subword Tokenization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4.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Advanced Subword Tokenization with SentencePiece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Stopwords and Vocabulary Management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FFFFFF"/>
                </a:solidFill>
                <a:latin typeface="Jost"/>
                <a:ea typeface="Jost"/>
                <a:cs typeface="Jost"/>
                <a:sym typeface="Jost"/>
              </a:rPr>
              <a:t>6. Processing Multilingual and Cross-Lingual Text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7.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Summary and Next Steps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123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57" name="Google Shape;557;p25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8" name="Google Shape;558;p25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95" l="0" r="-56482" t="-52941"/>
            </a:stretch>
          </a:blipFill>
          <a:ln>
            <a:noFill/>
          </a:ln>
        </p:spPr>
      </p:sp>
      <p:sp>
        <p:nvSpPr>
          <p:cNvPr id="564" name="Google Shape;564;p26"/>
          <p:cNvSpPr txBox="1"/>
          <p:nvPr/>
        </p:nvSpPr>
        <p:spPr>
          <a:xfrm>
            <a:off x="1028700" y="2025604"/>
            <a:ext cx="14118437" cy="579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1.6 </a:t>
            </a:r>
            <a:r>
              <a:rPr b="0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Processing Multilingual and Cross-Lingual Text</a:t>
            </a:r>
            <a:endParaRPr/>
          </a:p>
        </p:txBody>
      </p:sp>
      <p:sp>
        <p:nvSpPr>
          <p:cNvPr id="565" name="Google Shape;565;p26"/>
          <p:cNvSpPr txBox="1"/>
          <p:nvPr/>
        </p:nvSpPr>
        <p:spPr>
          <a:xfrm>
            <a:off x="1028700" y="3196475"/>
            <a:ext cx="7083300" cy="13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62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Challenges of Multilingual Tokenization</a:t>
            </a:r>
            <a:endParaRPr/>
          </a:p>
        </p:txBody>
      </p:sp>
      <p:sp>
        <p:nvSpPr>
          <p:cNvPr id="566" name="Google Shape;566;p26"/>
          <p:cNvSpPr txBox="1"/>
          <p:nvPr/>
        </p:nvSpPr>
        <p:spPr>
          <a:xfrm>
            <a:off x="1463235" y="4705321"/>
            <a:ext cx="8258700" cy="26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Languages differ in scripts and morphology.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Whitespace is not universal across languages.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Subword tokenization enables shared vocabularies.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This supports cross-lingual and zero-shot learning.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567" name="Google Shape;567;p26"/>
          <p:cNvGrpSpPr/>
          <p:nvPr/>
        </p:nvGrpSpPr>
        <p:grpSpPr>
          <a:xfrm>
            <a:off x="1028700" y="1028700"/>
            <a:ext cx="4030343" cy="777108"/>
            <a:chOff x="0" y="0"/>
            <a:chExt cx="1061489" cy="204671"/>
          </a:xfrm>
        </p:grpSpPr>
        <p:sp>
          <p:nvSpPr>
            <p:cNvPr id="568" name="Google Shape;568;p26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69" name="Google Shape;569;p26"/>
            <p:cNvSpPr txBox="1"/>
            <p:nvPr/>
          </p:nvSpPr>
          <p:spPr>
            <a:xfrm>
              <a:off x="0" y="0"/>
              <a:ext cx="1061489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/>
            </a:p>
          </p:txBody>
        </p:sp>
      </p:grpSp>
      <p:sp>
        <p:nvSpPr>
          <p:cNvPr id="570" name="Google Shape;570;p26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71" name="Google Shape;571;p26"/>
          <p:cNvGrpSpPr/>
          <p:nvPr/>
        </p:nvGrpSpPr>
        <p:grpSpPr>
          <a:xfrm>
            <a:off x="1028700" y="4709020"/>
            <a:ext cx="259165" cy="400016"/>
            <a:chOff x="0" y="0"/>
            <a:chExt cx="80174" cy="123748"/>
          </a:xfrm>
        </p:grpSpPr>
        <p:sp>
          <p:nvSpPr>
            <p:cNvPr id="572" name="Google Shape;572;p2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73" name="Google Shape;573;p26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4" name="Google Shape;574;p26"/>
          <p:cNvGrpSpPr/>
          <p:nvPr/>
        </p:nvGrpSpPr>
        <p:grpSpPr>
          <a:xfrm>
            <a:off x="1028700" y="5340589"/>
            <a:ext cx="259165" cy="400016"/>
            <a:chOff x="0" y="0"/>
            <a:chExt cx="80174" cy="123748"/>
          </a:xfrm>
        </p:grpSpPr>
        <p:sp>
          <p:nvSpPr>
            <p:cNvPr id="575" name="Google Shape;575;p2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76" name="Google Shape;576;p26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7" name="Google Shape;577;p26"/>
          <p:cNvGrpSpPr/>
          <p:nvPr/>
        </p:nvGrpSpPr>
        <p:grpSpPr>
          <a:xfrm>
            <a:off x="1028700" y="5969205"/>
            <a:ext cx="259165" cy="400016"/>
            <a:chOff x="0" y="0"/>
            <a:chExt cx="80174" cy="123748"/>
          </a:xfrm>
        </p:grpSpPr>
        <p:sp>
          <p:nvSpPr>
            <p:cNvPr id="578" name="Google Shape;578;p2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79" name="Google Shape;579;p26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0" name="Google Shape;580;p26"/>
          <p:cNvGrpSpPr/>
          <p:nvPr/>
        </p:nvGrpSpPr>
        <p:grpSpPr>
          <a:xfrm>
            <a:off x="1028700" y="6597820"/>
            <a:ext cx="259165" cy="400016"/>
            <a:chOff x="0" y="0"/>
            <a:chExt cx="80174" cy="123748"/>
          </a:xfrm>
        </p:grpSpPr>
        <p:sp>
          <p:nvSpPr>
            <p:cNvPr id="581" name="Google Shape;581;p26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82" name="Google Shape;582;p26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3" name="Google Shape;583;p26"/>
          <p:cNvSpPr/>
          <p:nvPr/>
        </p:nvSpPr>
        <p:spPr>
          <a:xfrm>
            <a:off x="9310450" y="3129800"/>
            <a:ext cx="7953291" cy="3861323"/>
          </a:xfrm>
          <a:custGeom>
            <a:rect b="b" l="l" r="r" t="t"/>
            <a:pathLst>
              <a:path extrusionOk="0" h="5872734" w="12330684">
                <a:moveTo>
                  <a:pt x="0" y="0"/>
                </a:moveTo>
                <a:lnTo>
                  <a:pt x="12330684" y="0"/>
                </a:lnTo>
                <a:lnTo>
                  <a:pt x="12330684" y="5872734"/>
                </a:lnTo>
                <a:lnTo>
                  <a:pt x="0" y="58727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9086" l="-6856" r="-9043" t="-33145"/>
            </a:stretch>
          </a:blipFill>
          <a:ln cap="sq" cmpd="sng" w="85725">
            <a:solidFill>
              <a:srgbClr val="6592E6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95" l="0" r="-56482" t="-52941"/>
            </a:stretch>
          </a:blipFill>
          <a:ln>
            <a:noFill/>
          </a:ln>
        </p:spPr>
      </p:sp>
      <p:grpSp>
        <p:nvGrpSpPr>
          <p:cNvPr id="589" name="Google Shape;589;p27"/>
          <p:cNvGrpSpPr/>
          <p:nvPr/>
        </p:nvGrpSpPr>
        <p:grpSpPr>
          <a:xfrm>
            <a:off x="1259561" y="710571"/>
            <a:ext cx="3086100" cy="600092"/>
            <a:chOff x="0" y="-9525"/>
            <a:chExt cx="812800" cy="158049"/>
          </a:xfrm>
        </p:grpSpPr>
        <p:sp>
          <p:nvSpPr>
            <p:cNvPr id="590" name="Google Shape;590;p27"/>
            <p:cNvSpPr/>
            <p:nvPr/>
          </p:nvSpPr>
          <p:spPr>
            <a:xfrm>
              <a:off x="0" y="0"/>
              <a:ext cx="812800" cy="148524"/>
            </a:xfrm>
            <a:custGeom>
              <a:rect b="b" l="l" r="r" t="t"/>
              <a:pathLst>
                <a:path extrusionOk="0" h="148524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48524"/>
                  </a:lnTo>
                  <a:lnTo>
                    <a:pt x="0" y="148524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91" name="Google Shape;591;p27"/>
            <p:cNvSpPr txBox="1"/>
            <p:nvPr/>
          </p:nvSpPr>
          <p:spPr>
            <a:xfrm>
              <a:off x="0" y="-9525"/>
              <a:ext cx="812800" cy="158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100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THEORY</a:t>
              </a:r>
              <a:endParaRPr/>
            </a:p>
          </p:txBody>
        </p:sp>
      </p:grpSp>
      <p:grpSp>
        <p:nvGrpSpPr>
          <p:cNvPr id="592" name="Google Shape;592;p27"/>
          <p:cNvGrpSpPr/>
          <p:nvPr/>
        </p:nvGrpSpPr>
        <p:grpSpPr>
          <a:xfrm>
            <a:off x="1140401" y="6178200"/>
            <a:ext cx="7071479" cy="720872"/>
            <a:chOff x="0" y="-9525"/>
            <a:chExt cx="1759512" cy="189863"/>
          </a:xfrm>
        </p:grpSpPr>
        <p:sp>
          <p:nvSpPr>
            <p:cNvPr id="593" name="Google Shape;593;p27"/>
            <p:cNvSpPr/>
            <p:nvPr/>
          </p:nvSpPr>
          <p:spPr>
            <a:xfrm>
              <a:off x="0" y="0"/>
              <a:ext cx="1759512" cy="180338"/>
            </a:xfrm>
            <a:custGeom>
              <a:rect b="b" l="l" r="r" t="t"/>
              <a:pathLst>
                <a:path extrusionOk="0" h="180338" w="1759512">
                  <a:moveTo>
                    <a:pt x="0" y="0"/>
                  </a:moveTo>
                  <a:lnTo>
                    <a:pt x="1759512" y="0"/>
                  </a:lnTo>
                  <a:lnTo>
                    <a:pt x="1759512" y="180338"/>
                  </a:lnTo>
                  <a:lnTo>
                    <a:pt x="0" y="18033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594" name="Google Shape;594;p27"/>
            <p:cNvSpPr txBox="1"/>
            <p:nvPr/>
          </p:nvSpPr>
          <p:spPr>
            <a:xfrm>
              <a:off x="0" y="-9525"/>
              <a:ext cx="1759512" cy="1898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5" name="Google Shape;595;p27"/>
          <p:cNvSpPr txBox="1"/>
          <p:nvPr/>
        </p:nvSpPr>
        <p:spPr>
          <a:xfrm>
            <a:off x="1259561" y="2047829"/>
            <a:ext cx="13122900" cy="55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1.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Getting Started with Text Processing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2.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Fundamentals of Tokenization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3.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Byte-Pair Encoding (BPE) and Subword Tokenization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4.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 Advanced Subword Tokenization with SentencePiece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5. 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Stopwords and Vocabulary Management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6. P</a:t>
            </a:r>
            <a:r>
              <a:rPr b="0" i="0" lang="en-US" sz="4123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rocessing Multilingual and Cross-Lingual Text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3" u="none" cap="none" strike="noStrike">
                <a:solidFill>
                  <a:srgbClr val="FFFFFF"/>
                </a:solidFill>
                <a:latin typeface="Jost"/>
                <a:ea typeface="Jost"/>
                <a:cs typeface="Jost"/>
                <a:sym typeface="Jost"/>
              </a:rPr>
              <a:t>7. Summary and Next Steps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123" u="none" cap="none" strike="noStrike">
              <a:solidFill>
                <a:srgbClr val="FFFFFF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596" name="Google Shape;596;p27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97" name="Google Shape;597;p27"/>
          <p:cNvSpPr txBox="1"/>
          <p:nvPr/>
        </p:nvSpPr>
        <p:spPr>
          <a:xfrm>
            <a:off x="4595148" y="787651"/>
            <a:ext cx="7371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14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Training Program 01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2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95" l="0" r="-56482" t="-52941"/>
            </a:stretch>
          </a:blipFill>
          <a:ln>
            <a:noFill/>
          </a:ln>
        </p:spPr>
      </p:sp>
      <p:sp>
        <p:nvSpPr>
          <p:cNvPr id="603" name="Google Shape;603;p28"/>
          <p:cNvSpPr txBox="1"/>
          <p:nvPr/>
        </p:nvSpPr>
        <p:spPr>
          <a:xfrm>
            <a:off x="1028700" y="2025604"/>
            <a:ext cx="14118437" cy="579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1.7 </a:t>
            </a:r>
            <a:r>
              <a:rPr b="0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Summary and Next Steps</a:t>
            </a:r>
            <a:endParaRPr/>
          </a:p>
        </p:txBody>
      </p:sp>
      <p:sp>
        <p:nvSpPr>
          <p:cNvPr id="604" name="Google Shape;604;p28"/>
          <p:cNvSpPr txBox="1"/>
          <p:nvPr/>
        </p:nvSpPr>
        <p:spPr>
          <a:xfrm>
            <a:off x="1028700" y="3196475"/>
            <a:ext cx="12716100" cy="6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62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Key Takeaways from Text Preprocessing</a:t>
            </a:r>
            <a:endParaRPr/>
          </a:p>
        </p:txBody>
      </p:sp>
      <p:sp>
        <p:nvSpPr>
          <p:cNvPr id="605" name="Google Shape;605;p28"/>
          <p:cNvSpPr txBox="1"/>
          <p:nvPr/>
        </p:nvSpPr>
        <p:spPr>
          <a:xfrm>
            <a:off x="1463235" y="4249046"/>
            <a:ext cx="8258700" cy="26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Text preprocessing defines model capabilities.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Tokenization bridges language and mathematics.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Subword methods balance flexibility and efficiency.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Modern systems support multilingual inputs.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606" name="Google Shape;606;p28"/>
          <p:cNvGrpSpPr/>
          <p:nvPr/>
        </p:nvGrpSpPr>
        <p:grpSpPr>
          <a:xfrm>
            <a:off x="1028700" y="1028700"/>
            <a:ext cx="4030343" cy="777108"/>
            <a:chOff x="0" y="0"/>
            <a:chExt cx="1061489" cy="204671"/>
          </a:xfrm>
        </p:grpSpPr>
        <p:sp>
          <p:nvSpPr>
            <p:cNvPr id="607" name="Google Shape;607;p28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08" name="Google Shape;608;p28"/>
            <p:cNvSpPr txBox="1"/>
            <p:nvPr/>
          </p:nvSpPr>
          <p:spPr>
            <a:xfrm>
              <a:off x="0" y="0"/>
              <a:ext cx="1061489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/>
            </a:p>
          </p:txBody>
        </p:sp>
      </p:grpSp>
      <p:sp>
        <p:nvSpPr>
          <p:cNvPr id="609" name="Google Shape;609;p28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10" name="Google Shape;610;p28"/>
          <p:cNvGrpSpPr/>
          <p:nvPr/>
        </p:nvGrpSpPr>
        <p:grpSpPr>
          <a:xfrm>
            <a:off x="1028700" y="4232770"/>
            <a:ext cx="259165" cy="400016"/>
            <a:chOff x="0" y="0"/>
            <a:chExt cx="80174" cy="123748"/>
          </a:xfrm>
        </p:grpSpPr>
        <p:sp>
          <p:nvSpPr>
            <p:cNvPr id="611" name="Google Shape;611;p2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12" name="Google Shape;612;p28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3" name="Google Shape;613;p28"/>
          <p:cNvGrpSpPr/>
          <p:nvPr/>
        </p:nvGrpSpPr>
        <p:grpSpPr>
          <a:xfrm>
            <a:off x="1028700" y="4864339"/>
            <a:ext cx="259165" cy="400016"/>
            <a:chOff x="0" y="0"/>
            <a:chExt cx="80174" cy="123748"/>
          </a:xfrm>
        </p:grpSpPr>
        <p:sp>
          <p:nvSpPr>
            <p:cNvPr id="614" name="Google Shape;614;p2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15" name="Google Shape;615;p28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6" name="Google Shape;616;p28"/>
          <p:cNvGrpSpPr/>
          <p:nvPr/>
        </p:nvGrpSpPr>
        <p:grpSpPr>
          <a:xfrm>
            <a:off x="1028700" y="5492955"/>
            <a:ext cx="259165" cy="400016"/>
            <a:chOff x="0" y="0"/>
            <a:chExt cx="80174" cy="123748"/>
          </a:xfrm>
        </p:grpSpPr>
        <p:sp>
          <p:nvSpPr>
            <p:cNvPr id="617" name="Google Shape;617;p2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18" name="Google Shape;618;p28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9" name="Google Shape;619;p28"/>
          <p:cNvGrpSpPr/>
          <p:nvPr/>
        </p:nvGrpSpPr>
        <p:grpSpPr>
          <a:xfrm>
            <a:off x="1028700" y="6121570"/>
            <a:ext cx="259165" cy="400016"/>
            <a:chOff x="0" y="0"/>
            <a:chExt cx="80174" cy="123748"/>
          </a:xfrm>
        </p:grpSpPr>
        <p:sp>
          <p:nvSpPr>
            <p:cNvPr id="620" name="Google Shape;620;p28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21" name="Google Shape;621;p28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2" name="Google Shape;622;p28"/>
          <p:cNvSpPr/>
          <p:nvPr/>
        </p:nvSpPr>
        <p:spPr>
          <a:xfrm>
            <a:off x="1028700" y="7355996"/>
            <a:ext cx="9013984" cy="1902332"/>
          </a:xfrm>
          <a:custGeom>
            <a:rect b="b" l="l" r="r" t="t"/>
            <a:pathLst>
              <a:path extrusionOk="0" h="2536444" w="12018645">
                <a:moveTo>
                  <a:pt x="0" y="0"/>
                </a:moveTo>
                <a:lnTo>
                  <a:pt x="12018645" y="0"/>
                </a:lnTo>
                <a:lnTo>
                  <a:pt x="12018645" y="2536444"/>
                </a:lnTo>
                <a:lnTo>
                  <a:pt x="0" y="25364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47489" l="-10527" r="-8387" t="-128126"/>
            </a:stretch>
          </a:blipFill>
          <a:ln cap="sq" cmpd="sng" w="85725">
            <a:solidFill>
              <a:srgbClr val="6592E6"/>
            </a:solidFill>
            <a:prstDash val="solid"/>
            <a:miter lim="8000"/>
            <a:headEnd len="sm" w="sm" type="none"/>
            <a:tailEnd len="sm" w="sm" type="none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95" l="0" r="-56482" t="-52941"/>
            </a:stretch>
          </a:blipFill>
          <a:ln>
            <a:noFill/>
          </a:ln>
        </p:spPr>
      </p:sp>
      <p:sp>
        <p:nvSpPr>
          <p:cNvPr id="628" name="Google Shape;628;p29"/>
          <p:cNvSpPr txBox="1"/>
          <p:nvPr/>
        </p:nvSpPr>
        <p:spPr>
          <a:xfrm>
            <a:off x="1028700" y="2025604"/>
            <a:ext cx="14118437" cy="579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Chapter 1.7 </a:t>
            </a:r>
            <a:r>
              <a:rPr b="0" i="0" lang="en-US" sz="4262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Summary and Next Steps</a:t>
            </a:r>
            <a:endParaRPr/>
          </a:p>
        </p:txBody>
      </p:sp>
      <p:sp>
        <p:nvSpPr>
          <p:cNvPr id="629" name="Google Shape;629;p29"/>
          <p:cNvSpPr txBox="1"/>
          <p:nvPr/>
        </p:nvSpPr>
        <p:spPr>
          <a:xfrm>
            <a:off x="1028700" y="3196472"/>
            <a:ext cx="13354796" cy="5790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62" u="none" cap="none" strike="noStrike">
                <a:solidFill>
                  <a:srgbClr val="6592E6"/>
                </a:solidFill>
                <a:latin typeface="Jost"/>
                <a:ea typeface="Jost"/>
                <a:cs typeface="Jost"/>
                <a:sym typeface="Jost"/>
              </a:rPr>
              <a:t>Recommended References and Learning Resources</a:t>
            </a:r>
            <a:endParaRPr/>
          </a:p>
        </p:txBody>
      </p:sp>
      <p:sp>
        <p:nvSpPr>
          <p:cNvPr id="630" name="Google Shape;630;p29"/>
          <p:cNvSpPr txBox="1"/>
          <p:nvPr/>
        </p:nvSpPr>
        <p:spPr>
          <a:xfrm>
            <a:off x="1463224" y="4308975"/>
            <a:ext cx="136839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Sebastian Raschka – Build a Large Language Model (From Scratch)</a:t>
            </a:r>
            <a:endParaRPr/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Sennrich et al. (2016) – Neural Machine Translation of Rare Words with Subword Units</a:t>
            </a:r>
            <a:endParaRPr/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Kudo and Richardson (2018) – SentencePiece: A Language-Independent Tokenizer</a:t>
            </a:r>
            <a:endParaRPr/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Radford et al. (2019) – Language Models are Unsupervised Multitask Learners</a:t>
            </a:r>
            <a:endParaRPr/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Hugging Face Course – Tokenization and NLP Fundamentals</a:t>
            </a:r>
            <a:endParaRPr/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1" u="none" cap="none" strike="noStrike">
                <a:solidFill>
                  <a:srgbClr val="AEAEAE"/>
                </a:solidFill>
                <a:latin typeface="Jost"/>
                <a:ea typeface="Jost"/>
                <a:cs typeface="Jost"/>
                <a:sym typeface="Jost"/>
              </a:rPr>
              <a:t>OpenAI Documentation – Tokenizers and tiktoken</a:t>
            </a:r>
            <a:endParaRPr/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31" u="none" cap="none" strike="noStrike">
              <a:solidFill>
                <a:srgbClr val="AEAEAE"/>
              </a:solidFill>
              <a:latin typeface="Jost"/>
              <a:ea typeface="Jost"/>
              <a:cs typeface="Jost"/>
              <a:sym typeface="Jost"/>
            </a:endParaRPr>
          </a:p>
        </p:txBody>
      </p:sp>
      <p:grpSp>
        <p:nvGrpSpPr>
          <p:cNvPr id="631" name="Google Shape;631;p29"/>
          <p:cNvGrpSpPr/>
          <p:nvPr/>
        </p:nvGrpSpPr>
        <p:grpSpPr>
          <a:xfrm>
            <a:off x="1028700" y="1028700"/>
            <a:ext cx="4030343" cy="777108"/>
            <a:chOff x="0" y="0"/>
            <a:chExt cx="1061489" cy="204671"/>
          </a:xfrm>
        </p:grpSpPr>
        <p:sp>
          <p:nvSpPr>
            <p:cNvPr id="632" name="Google Shape;632;p29"/>
            <p:cNvSpPr/>
            <p:nvPr/>
          </p:nvSpPr>
          <p:spPr>
            <a:xfrm>
              <a:off x="0" y="0"/>
              <a:ext cx="1061489" cy="204671"/>
            </a:xfrm>
            <a:custGeom>
              <a:rect b="b" l="l" r="r" t="t"/>
              <a:pathLst>
                <a:path extrusionOk="0" h="204671" w="1061489">
                  <a:moveTo>
                    <a:pt x="0" y="0"/>
                  </a:moveTo>
                  <a:lnTo>
                    <a:pt x="1061489" y="0"/>
                  </a:lnTo>
                  <a:lnTo>
                    <a:pt x="1061489" y="204671"/>
                  </a:lnTo>
                  <a:lnTo>
                    <a:pt x="0" y="204671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33" name="Google Shape;633;p29"/>
            <p:cNvSpPr txBox="1"/>
            <p:nvPr/>
          </p:nvSpPr>
          <p:spPr>
            <a:xfrm>
              <a:off x="0" y="0"/>
              <a:ext cx="1061489" cy="204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299" u="none" cap="none" strike="noStrike">
                  <a:solidFill>
                    <a:srgbClr val="FFFFFF"/>
                  </a:solidFill>
                  <a:latin typeface="Jost"/>
                  <a:ea typeface="Jost"/>
                  <a:cs typeface="Jost"/>
                  <a:sym typeface="Jost"/>
                </a:rPr>
                <a:t>M01.1 BPE</a:t>
              </a:r>
              <a:endParaRPr/>
            </a:p>
          </p:txBody>
        </p:sp>
      </p:grpSp>
      <p:sp>
        <p:nvSpPr>
          <p:cNvPr id="634" name="Google Shape;634;p29"/>
          <p:cNvSpPr/>
          <p:nvPr/>
        </p:nvSpPr>
        <p:spPr>
          <a:xfrm>
            <a:off x="13305333" y="8066322"/>
            <a:ext cx="3953967" cy="1263927"/>
          </a:xfrm>
          <a:custGeom>
            <a:rect b="b" l="l" r="r" t="t"/>
            <a:pathLst>
              <a:path extrusionOk="0" h="1263927" w="3953967">
                <a:moveTo>
                  <a:pt x="0" y="0"/>
                </a:moveTo>
                <a:lnTo>
                  <a:pt x="3953967" y="0"/>
                </a:lnTo>
                <a:lnTo>
                  <a:pt x="3953967" y="1263928"/>
                </a:lnTo>
                <a:lnTo>
                  <a:pt x="0" y="12639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35" name="Google Shape;635;p29"/>
          <p:cNvGrpSpPr/>
          <p:nvPr/>
        </p:nvGrpSpPr>
        <p:grpSpPr>
          <a:xfrm>
            <a:off x="1028700" y="4232770"/>
            <a:ext cx="259165" cy="400016"/>
            <a:chOff x="0" y="0"/>
            <a:chExt cx="80174" cy="123748"/>
          </a:xfrm>
        </p:grpSpPr>
        <p:sp>
          <p:nvSpPr>
            <p:cNvPr id="636" name="Google Shape;636;p2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37" name="Google Shape;637;p29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8" name="Google Shape;638;p29"/>
          <p:cNvGrpSpPr/>
          <p:nvPr/>
        </p:nvGrpSpPr>
        <p:grpSpPr>
          <a:xfrm>
            <a:off x="1028700" y="4864339"/>
            <a:ext cx="259165" cy="400016"/>
            <a:chOff x="0" y="0"/>
            <a:chExt cx="80174" cy="123748"/>
          </a:xfrm>
        </p:grpSpPr>
        <p:sp>
          <p:nvSpPr>
            <p:cNvPr id="639" name="Google Shape;639;p2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40" name="Google Shape;640;p29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1" name="Google Shape;641;p29"/>
          <p:cNvGrpSpPr/>
          <p:nvPr/>
        </p:nvGrpSpPr>
        <p:grpSpPr>
          <a:xfrm>
            <a:off x="1028700" y="5492955"/>
            <a:ext cx="259165" cy="400016"/>
            <a:chOff x="0" y="0"/>
            <a:chExt cx="80174" cy="123748"/>
          </a:xfrm>
        </p:grpSpPr>
        <p:sp>
          <p:nvSpPr>
            <p:cNvPr id="642" name="Google Shape;642;p2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43" name="Google Shape;643;p29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4" name="Google Shape;644;p29"/>
          <p:cNvGrpSpPr/>
          <p:nvPr/>
        </p:nvGrpSpPr>
        <p:grpSpPr>
          <a:xfrm>
            <a:off x="1028700" y="6121570"/>
            <a:ext cx="259165" cy="400016"/>
            <a:chOff x="0" y="0"/>
            <a:chExt cx="80174" cy="123748"/>
          </a:xfrm>
        </p:grpSpPr>
        <p:sp>
          <p:nvSpPr>
            <p:cNvPr id="645" name="Google Shape;645;p2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46" name="Google Shape;646;p29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7" name="Google Shape;647;p29"/>
          <p:cNvGrpSpPr/>
          <p:nvPr/>
        </p:nvGrpSpPr>
        <p:grpSpPr>
          <a:xfrm>
            <a:off x="1028700" y="6750186"/>
            <a:ext cx="259165" cy="400016"/>
            <a:chOff x="0" y="0"/>
            <a:chExt cx="80174" cy="123748"/>
          </a:xfrm>
        </p:grpSpPr>
        <p:sp>
          <p:nvSpPr>
            <p:cNvPr id="648" name="Google Shape;648;p2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49" name="Google Shape;649;p29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0" name="Google Shape;650;p29"/>
          <p:cNvGrpSpPr/>
          <p:nvPr/>
        </p:nvGrpSpPr>
        <p:grpSpPr>
          <a:xfrm>
            <a:off x="1028700" y="7378801"/>
            <a:ext cx="259165" cy="400016"/>
            <a:chOff x="0" y="0"/>
            <a:chExt cx="80174" cy="123748"/>
          </a:xfrm>
        </p:grpSpPr>
        <p:sp>
          <p:nvSpPr>
            <p:cNvPr id="651" name="Google Shape;651;p29"/>
            <p:cNvSpPr/>
            <p:nvPr/>
          </p:nvSpPr>
          <p:spPr>
            <a:xfrm>
              <a:off x="0" y="0"/>
              <a:ext cx="80174" cy="123748"/>
            </a:xfrm>
            <a:custGeom>
              <a:rect b="b" l="l" r="r" t="t"/>
              <a:pathLst>
                <a:path extrusionOk="0" h="123748" w="80174">
                  <a:moveTo>
                    <a:pt x="0" y="0"/>
                  </a:moveTo>
                  <a:lnTo>
                    <a:pt x="80174" y="0"/>
                  </a:lnTo>
                  <a:lnTo>
                    <a:pt x="80174" y="123748"/>
                  </a:lnTo>
                  <a:lnTo>
                    <a:pt x="0" y="123748"/>
                  </a:lnTo>
                  <a:close/>
                </a:path>
              </a:pathLst>
            </a:custGeom>
            <a:solidFill>
              <a:srgbClr val="6592E6"/>
            </a:solidFill>
            <a:ln>
              <a:noFill/>
            </a:ln>
          </p:spPr>
        </p:sp>
        <p:sp>
          <p:nvSpPr>
            <p:cNvPr id="652" name="Google Shape;652;p29"/>
            <p:cNvSpPr txBox="1"/>
            <p:nvPr/>
          </p:nvSpPr>
          <p:spPr>
            <a:xfrm>
              <a:off x="0" y="0"/>
              <a:ext cx="80174" cy="1237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9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7895" l="0" r="-56482" t="-52941"/>
            </a:stretch>
          </a:blipFill>
          <a:ln>
            <a:noFill/>
          </a:ln>
        </p:spPr>
      </p:sp>
      <p:sp>
        <p:nvSpPr>
          <p:cNvPr id="658" name="Google Shape;658;p30"/>
          <p:cNvSpPr/>
          <p:nvPr/>
        </p:nvSpPr>
        <p:spPr>
          <a:xfrm>
            <a:off x="5915603" y="4111509"/>
            <a:ext cx="6456794" cy="2063982"/>
          </a:xfrm>
          <a:custGeom>
            <a:rect b="b" l="l" r="r" t="t"/>
            <a:pathLst>
              <a:path extrusionOk="0" h="2063982" w="6456794">
                <a:moveTo>
                  <a:pt x="0" y="0"/>
                </a:moveTo>
                <a:lnTo>
                  <a:pt x="6456794" y="0"/>
                </a:lnTo>
                <a:lnTo>
                  <a:pt x="6456794" y="2063982"/>
                </a:lnTo>
                <a:lnTo>
                  <a:pt x="0" y="20639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