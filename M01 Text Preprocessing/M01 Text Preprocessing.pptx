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797675" cy="9925050"/>
  <p:embeddedFontLst>
    <p:embeddedFont>
      <p:font typeface="Montserrat" panose="000005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9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7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7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0688" y="1239838"/>
            <a:ext cx="5956300" cy="33512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7076"/>
            <a:ext cx="2945659" cy="49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1:notes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:notes"/>
          <p:cNvSpPr txBox="1">
            <a:spLocks noGrp="1"/>
          </p:cNvSpPr>
          <p:nvPr>
            <p:ph type="sldNum" idx="12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c40bed5d5c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200" cy="335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" name="Google Shape;37;g3c40bed5d5c_0_129:notes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g3c40bed5d5c_0_129:notes"/>
          <p:cNvSpPr txBox="1">
            <a:spLocks noGrp="1"/>
          </p:cNvSpPr>
          <p:nvPr>
            <p:ph type="sldNum" idx="12"/>
          </p:nvPr>
        </p:nvSpPr>
        <p:spPr>
          <a:xfrm>
            <a:off x="3850443" y="9427076"/>
            <a:ext cx="2945700" cy="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40bed5d5c_0_13:notes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3c40bed5d5c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200" cy="335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40bed5d5c_0_24:notes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g3c40bed5d5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200" cy="335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40bed5d5c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200" cy="335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3c40bed5d5c_0_58:notes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g3c40bed5d5c_0_58:notes"/>
          <p:cNvSpPr txBox="1">
            <a:spLocks noGrp="1"/>
          </p:cNvSpPr>
          <p:nvPr>
            <p:ph type="sldNum" idx="12"/>
          </p:nvPr>
        </p:nvSpPr>
        <p:spPr>
          <a:xfrm>
            <a:off x="3850443" y="9427076"/>
            <a:ext cx="2945700" cy="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40bed5d5c_0_38:notes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3c40bed5d5c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200" cy="335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40bed5d5c_0_71:notes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3c40bed5d5c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200" cy="335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40bed5d5c_0_82:notes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3c40bed5d5c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200" cy="335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40bed5d5c_0_95:notes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3c40bed5d5c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200" cy="335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40bed5d5c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200" cy="335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3c40bed5d5c_0_117:notes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c40bed5d5c_0_117:notes"/>
          <p:cNvSpPr txBox="1">
            <a:spLocks noGrp="1"/>
          </p:cNvSpPr>
          <p:nvPr>
            <p:ph type="sldNum" idx="12"/>
          </p:nvPr>
        </p:nvSpPr>
        <p:spPr>
          <a:xfrm>
            <a:off x="3850443" y="9427076"/>
            <a:ext cx="2945700" cy="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40bed5d5c_0_105:notes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g3c40bed5d5c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200" cy="335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40bed5d5c_0_149:notes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c40bed5d5c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200" cy="335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40bed5d5c_0_162:notes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c40bed5d5c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200" cy="335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40bed5d5c_0_174:notes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c40bed5d5c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200" cy="335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40bed5d5c_0_185:notes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3c40bed5d5c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200" cy="335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c40bed5d5c_0_197:notes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3c40bed5d5c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200" cy="335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c40bed5d5c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200" cy="335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g3c40bed5d5c_0_208:notes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3c40bed5d5c_0_208:notes"/>
          <p:cNvSpPr txBox="1">
            <a:spLocks noGrp="1"/>
          </p:cNvSpPr>
          <p:nvPr>
            <p:ph type="sldNum" idx="12"/>
          </p:nvPr>
        </p:nvSpPr>
        <p:spPr>
          <a:xfrm>
            <a:off x="3850443" y="9427076"/>
            <a:ext cx="2945700" cy="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40bed5d5c_0_220:notes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c40bed5d5c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200" cy="335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c40bed5d5c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200" cy="335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g3c40bed5d5c_0_242:notes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g3c40bed5d5c_0_242:notes"/>
          <p:cNvSpPr txBox="1">
            <a:spLocks noGrp="1"/>
          </p:cNvSpPr>
          <p:nvPr>
            <p:ph type="sldNum" idx="12"/>
          </p:nvPr>
        </p:nvSpPr>
        <p:spPr>
          <a:xfrm>
            <a:off x="3850443" y="9427076"/>
            <a:ext cx="2945700" cy="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c40bed5d5c_0_232:notes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g3c40bed5d5c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200" cy="335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c40bed5d5c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200" cy="335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g3c40bed5d5c_0_267:notes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g3c40bed5d5c_0_267:notes"/>
          <p:cNvSpPr txBox="1">
            <a:spLocks noGrp="1"/>
          </p:cNvSpPr>
          <p:nvPr>
            <p:ph type="sldNum" idx="12"/>
          </p:nvPr>
        </p:nvSpPr>
        <p:spPr>
          <a:xfrm>
            <a:off x="3850443" y="9427076"/>
            <a:ext cx="2945700" cy="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c40bed5d5c_0_257:notes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3c40bed5d5c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200" cy="335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c40bed5d5c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200" cy="335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g3c40bed5d5c_0_280:notes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3c40bed5d5c_0_280:notes"/>
          <p:cNvSpPr txBox="1">
            <a:spLocks noGrp="1"/>
          </p:cNvSpPr>
          <p:nvPr>
            <p:ph type="sldNum" idx="12"/>
          </p:nvPr>
        </p:nvSpPr>
        <p:spPr>
          <a:xfrm>
            <a:off x="3850443" y="9427076"/>
            <a:ext cx="2945700" cy="4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c40bed5d5c_0_292:notes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3c40bed5d5c_0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200" cy="335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c40bed5d5c_0_303:notes"/>
          <p:cNvSpPr txBox="1">
            <a:spLocks noGrp="1"/>
          </p:cNvSpPr>
          <p:nvPr>
            <p:ph type="body" idx="1"/>
          </p:nvPr>
        </p:nvSpPr>
        <p:spPr>
          <a:xfrm>
            <a:off x="679768" y="4776431"/>
            <a:ext cx="5438100" cy="390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3c40bed5d5c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200" cy="3351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9861204" y="63956"/>
            <a:ext cx="2244444" cy="8333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  <p:sp>
        <p:nvSpPr>
          <p:cNvPr id="20" name="Google Shape;20;p2"/>
          <p:cNvSpPr txBox="1"/>
          <p:nvPr/>
        </p:nvSpPr>
        <p:spPr>
          <a:xfrm>
            <a:off x="9584871" y="6356350"/>
            <a:ext cx="198324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r>
              <a:rPr lang="en-GB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21" name="Google Shape;21;p2" descr="Confianza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61463" y="114387"/>
            <a:ext cx="2244444" cy="717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/>
        </p:nvSpPr>
        <p:spPr>
          <a:xfrm>
            <a:off x="1897440" y="2792454"/>
            <a:ext cx="8000029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150745" marR="0" lvl="0" indent="-4572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Font typeface="Arial"/>
              <a:buChar char="•"/>
            </a:pPr>
            <a:r>
              <a:rPr lang="en-GB" sz="1800" b="1" i="0" u="none" strike="noStrike" cap="none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M01: Text Preprocessing</a:t>
            </a:r>
            <a:endParaRPr/>
          </a:p>
          <a:p>
            <a:pPr marL="2150745" marR="0" lvl="0" indent="-4572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Font typeface="Arial"/>
              <a:buChar char="•"/>
            </a:pPr>
            <a:r>
              <a:rPr lang="en-GB" sz="1800" b="1" i="0" u="none" strike="noStrike" cap="none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M02: Word and Sentence Embeddings</a:t>
            </a:r>
            <a:endParaRPr/>
          </a:p>
          <a:p>
            <a:pPr marL="2150745" marR="0" lvl="0" indent="-4572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Font typeface="Arial"/>
              <a:buChar char="•"/>
            </a:pPr>
            <a:r>
              <a:rPr lang="en-GB" sz="1800" b="1" i="0" u="none" strike="noStrike" cap="none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M03: Transformer Architectures</a:t>
            </a:r>
            <a:endParaRPr/>
          </a:p>
          <a:p>
            <a:pPr marL="2150745" marR="0" lvl="0" indent="-4572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Font typeface="Arial"/>
              <a:buChar char="•"/>
            </a:pPr>
            <a:r>
              <a:rPr lang="en-GB" sz="1800" b="1" i="0" u="none" strike="noStrike" cap="none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M04: Entity-Centric NLP</a:t>
            </a:r>
            <a:endParaRPr/>
          </a:p>
          <a:p>
            <a:pPr marL="2150745" marR="0" lvl="0" indent="-4572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Font typeface="Arial"/>
              <a:buChar char="•"/>
            </a:pPr>
            <a:r>
              <a:rPr lang="en-GB" sz="1800" b="1" i="0" u="none" strike="noStrike" cap="none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M05:Applied NLP Tasks</a:t>
            </a:r>
            <a:endParaRPr/>
          </a:p>
          <a:p>
            <a:pPr marL="2150745" marR="0" lvl="0" indent="-4572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Font typeface="Arial"/>
              <a:buChar char="•"/>
            </a:pPr>
            <a:r>
              <a:rPr lang="en-GB" sz="1800" b="1" i="0" u="none" strike="noStrike" cap="none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M06: Multimodal NLP</a:t>
            </a:r>
            <a:endParaRPr/>
          </a:p>
          <a:p>
            <a:pPr marL="2150745" marR="0" lvl="0" indent="-4572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Font typeface="Arial"/>
              <a:buChar char="•"/>
            </a:pPr>
            <a:r>
              <a:rPr lang="en-GB" sz="1800" b="1" i="0" u="none" strike="noStrike" cap="none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M07: LLM Fundamentals</a:t>
            </a:r>
            <a:endParaRPr/>
          </a:p>
          <a:p>
            <a:pPr marL="2150745" marR="0" lvl="0" indent="-4572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Font typeface="Arial"/>
              <a:buChar char="•"/>
            </a:pPr>
            <a:r>
              <a:rPr lang="en-GB" sz="1800" b="1" i="0" u="none" strike="noStrike" cap="none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M08: Prompt Engineering</a:t>
            </a:r>
            <a:endParaRPr/>
          </a:p>
          <a:p>
            <a:pPr marL="2150745" marR="0" lvl="0" indent="-4572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Font typeface="Arial"/>
              <a:buChar char="•"/>
            </a:pPr>
            <a:r>
              <a:rPr lang="en-GB" sz="1800" b="1" i="0" u="none" strike="noStrike" cap="none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M09: Fine-Tuning &amp; PEFT</a:t>
            </a:r>
            <a:endParaRPr/>
          </a:p>
          <a:p>
            <a:pPr marL="2150745" marR="0" lvl="0" indent="-4572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Font typeface="Arial"/>
              <a:buChar char="•"/>
            </a:pPr>
            <a:r>
              <a:rPr lang="en-GB" sz="1800" b="1" i="0" u="none" strike="noStrike" cap="none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M10: RAG &amp; Real-World Projects</a:t>
            </a:r>
            <a:endParaRPr/>
          </a:p>
        </p:txBody>
      </p:sp>
      <p:sp>
        <p:nvSpPr>
          <p:cNvPr id="28" name="Google Shape;28;p3"/>
          <p:cNvSpPr txBox="1"/>
          <p:nvPr/>
        </p:nvSpPr>
        <p:spPr>
          <a:xfrm>
            <a:off x="2288904" y="1100520"/>
            <a:ext cx="7613700" cy="15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Training Program 1: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Advanced NLP &amp; Large Language Models (LLMs)</a:t>
            </a:r>
            <a:endParaRPr sz="18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" name="Google Shape;29;p3" descr="Bandera de España - Wikipedia, la enciclopedia libr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2248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3"/>
          <p:cNvSpPr/>
          <p:nvPr/>
        </p:nvSpPr>
        <p:spPr>
          <a:xfrm>
            <a:off x="215570" y="235900"/>
            <a:ext cx="2401717" cy="494938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 txBox="1"/>
          <p:nvPr/>
        </p:nvSpPr>
        <p:spPr>
          <a:xfrm>
            <a:off x="654041" y="252536"/>
            <a:ext cx="152477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 cap="none">
                <a:solidFill>
                  <a:srgbClr val="002A47"/>
                </a:solidFill>
                <a:latin typeface="Montserrat"/>
                <a:ea typeface="Montserrat"/>
                <a:cs typeface="Montserrat"/>
                <a:sym typeface="Montserrat"/>
              </a:rPr>
              <a:t>THEORY</a:t>
            </a:r>
            <a:endParaRPr/>
          </a:p>
        </p:txBody>
      </p:sp>
      <p:pic>
        <p:nvPicPr>
          <p:cNvPr id="32" name="Google Shape;3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5097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3" descr="Bandera de Jordania - Wikipedia, la enciclopedia libr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2732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3"/>
          <p:cNvSpPr/>
          <p:nvPr/>
        </p:nvSpPr>
        <p:spPr>
          <a:xfrm>
            <a:off x="3949075" y="2792450"/>
            <a:ext cx="3499800" cy="334800"/>
          </a:xfrm>
          <a:prstGeom prst="rect">
            <a:avLst/>
          </a:prstGeom>
          <a:noFill/>
          <a:ln w="38100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/>
          <p:nvPr/>
        </p:nvSpPr>
        <p:spPr>
          <a:xfrm>
            <a:off x="1897440" y="2792454"/>
            <a:ext cx="80001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1. Getting Started with Text Processing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2. Fundamentals of Tokenization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3. Byte-Pair Encoding (BPE) and Subword Tokenization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4. Advanced Subword Tokenization with SentencePiece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 Stopwords and Vocabulary Management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6. Processing Multilingual and Cross-Lingual Text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7. Summary and Next Steps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150745" marR="0" lvl="0" indent="-4572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Font typeface="Montserrat"/>
              <a:buChar char="•"/>
            </a:pP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2288904" y="1100520"/>
            <a:ext cx="76137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Training Program 1: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Advanced NLP &amp; Large Language Models (LLMs)</a:t>
            </a:r>
            <a:endParaRPr sz="18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" name="Google Shape;42;p4" descr="Bandera de España - Wikipedia, la enciclopedia libr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2248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>
            <a:off x="215570" y="235900"/>
            <a:ext cx="2401800" cy="4950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654041" y="252536"/>
            <a:ext cx="152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 cap="none">
                <a:solidFill>
                  <a:srgbClr val="002A47"/>
                </a:solidFill>
                <a:latin typeface="Montserrat"/>
                <a:ea typeface="Montserrat"/>
                <a:cs typeface="Montserrat"/>
                <a:sym typeface="Montserrat"/>
              </a:rPr>
              <a:t>THEORY</a:t>
            </a:r>
            <a:endParaRPr/>
          </a:p>
        </p:txBody>
      </p:sp>
      <p:pic>
        <p:nvPicPr>
          <p:cNvPr id="45" name="Google Shape;45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5097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4" descr="Bandera de Jordania - Wikipedia, la enciclopedia libr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2732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/>
          <p:nvPr/>
        </p:nvSpPr>
        <p:spPr>
          <a:xfrm>
            <a:off x="2351025" y="2792450"/>
            <a:ext cx="5097900" cy="334800"/>
          </a:xfrm>
          <a:prstGeom prst="rect">
            <a:avLst/>
          </a:prstGeom>
          <a:noFill/>
          <a:ln w="38100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/>
          <p:nvPr/>
        </p:nvSpPr>
        <p:spPr>
          <a:xfrm>
            <a:off x="443706" y="565943"/>
            <a:ext cx="160337" cy="411163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6"/>
          <p:cNvSpPr txBox="1"/>
          <p:nvPr/>
        </p:nvSpPr>
        <p:spPr>
          <a:xfrm>
            <a:off x="604052" y="1144750"/>
            <a:ext cx="7325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1.1 – Getting Started with Text Processing</a:t>
            </a:r>
            <a:endParaRPr sz="2000" b="1" i="0" u="none" strike="noStrike" cap="none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6"/>
          <p:cNvSpPr txBox="1"/>
          <p:nvPr/>
        </p:nvSpPr>
        <p:spPr>
          <a:xfrm>
            <a:off x="604043" y="525302"/>
            <a:ext cx="624443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M01.1 BPE</a:t>
            </a:r>
            <a:endParaRPr sz="36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6"/>
          <p:cNvSpPr txBox="1"/>
          <p:nvPr/>
        </p:nvSpPr>
        <p:spPr>
          <a:xfrm>
            <a:off x="5926875" y="1383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6"/>
          <p:cNvSpPr txBox="1"/>
          <p:nvPr/>
        </p:nvSpPr>
        <p:spPr>
          <a:xfrm>
            <a:off x="728250" y="2134725"/>
            <a:ext cx="3962700" cy="369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Text processing is not a preliminary task, but the foundation of all modern NLP systems.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Before any model can learn, raw human language must be transformed into a structured numerical form.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transformation defines what a model can and cannot understand.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6" title="ChatGPT Image 4 feb 2026, 20_00_32.png"/>
          <p:cNvPicPr preferRelativeResize="0"/>
          <p:nvPr/>
        </p:nvPicPr>
        <p:blipFill rotWithShape="1">
          <a:blip r:embed="rId3">
            <a:alphaModFix/>
          </a:blip>
          <a:srcRect t="23997" b="32443"/>
          <a:stretch/>
        </p:blipFill>
        <p:spPr>
          <a:xfrm>
            <a:off x="4868450" y="2592825"/>
            <a:ext cx="6896625" cy="2002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>
            <a:off x="443706" y="565943"/>
            <a:ext cx="160337" cy="411163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7"/>
          <p:cNvSpPr txBox="1"/>
          <p:nvPr/>
        </p:nvSpPr>
        <p:spPr>
          <a:xfrm>
            <a:off x="604051" y="1144750"/>
            <a:ext cx="8223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M01 → Chapter 1.1 – Getting Started with Text Processing</a:t>
            </a:r>
            <a:endParaRPr sz="2000" b="1" i="0" u="none" strike="noStrike" cap="none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7"/>
          <p:cNvSpPr txBox="1"/>
          <p:nvPr/>
        </p:nvSpPr>
        <p:spPr>
          <a:xfrm>
            <a:off x="604043" y="525302"/>
            <a:ext cx="624443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M01.1 BPE</a:t>
            </a:r>
            <a:endParaRPr sz="36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7"/>
          <p:cNvSpPr txBox="1"/>
          <p:nvPr/>
        </p:nvSpPr>
        <p:spPr>
          <a:xfrm>
            <a:off x="738712" y="2211450"/>
            <a:ext cx="597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7" title="ChatGPT Image 4 feb 2026, 20_04_14.png"/>
          <p:cNvPicPr preferRelativeResize="0"/>
          <p:nvPr/>
        </p:nvPicPr>
        <p:blipFill rotWithShape="1">
          <a:blip r:embed="rId3">
            <a:alphaModFix/>
          </a:blip>
          <a:srcRect t="25055" b="31929"/>
          <a:stretch/>
        </p:blipFill>
        <p:spPr>
          <a:xfrm>
            <a:off x="5137475" y="2448150"/>
            <a:ext cx="6703626" cy="1922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7"/>
          <p:cNvSpPr txBox="1"/>
          <p:nvPr/>
        </p:nvSpPr>
        <p:spPr>
          <a:xfrm>
            <a:off x="728250" y="2134725"/>
            <a:ext cx="3962700" cy="34170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goal of preprocessing is to convert raw text into structured, machine-readable units,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while preserving as much semantic and structural information as possible.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step determines the quality and limits of the entire model.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8"/>
          <p:cNvSpPr txBox="1"/>
          <p:nvPr/>
        </p:nvSpPr>
        <p:spPr>
          <a:xfrm>
            <a:off x="604051" y="1144750"/>
            <a:ext cx="8495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M01 → Chapter 1.1 – Getting Started with Text Processing</a:t>
            </a:r>
            <a:endParaRPr sz="2000" b="1" i="0" u="none" strike="noStrike" cap="none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8"/>
          <p:cNvSpPr txBox="1"/>
          <p:nvPr/>
        </p:nvSpPr>
        <p:spPr>
          <a:xfrm>
            <a:off x="604043" y="525302"/>
            <a:ext cx="624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M01.1 BPE</a:t>
            </a:r>
            <a:endParaRPr sz="36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8"/>
          <p:cNvSpPr txBox="1"/>
          <p:nvPr/>
        </p:nvSpPr>
        <p:spPr>
          <a:xfrm>
            <a:off x="738712" y="2211450"/>
            <a:ext cx="597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728250" y="2134725"/>
            <a:ext cx="3962700" cy="17547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Cleaning and normalization of noisy text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Definition of tokens and vocabulary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Preparation for numerical embedding and vectorization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8" title="ChatGPT Image 4 feb 2026, 20_41_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7675" y="1758625"/>
            <a:ext cx="5820073" cy="388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9"/>
          <p:cNvSpPr txBox="1"/>
          <p:nvPr/>
        </p:nvSpPr>
        <p:spPr>
          <a:xfrm>
            <a:off x="604052" y="1144750"/>
            <a:ext cx="9561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20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M01 → Chapter 1.1 – Getting Started with Text Processing</a:t>
            </a:r>
            <a:endParaRPr sz="20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9"/>
          <p:cNvSpPr txBox="1"/>
          <p:nvPr/>
        </p:nvSpPr>
        <p:spPr>
          <a:xfrm>
            <a:off x="604043" y="525302"/>
            <a:ext cx="624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M01.1 BPE</a:t>
            </a:r>
            <a:endParaRPr sz="36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9"/>
          <p:cNvSpPr txBox="1"/>
          <p:nvPr/>
        </p:nvSpPr>
        <p:spPr>
          <a:xfrm>
            <a:off x="738712" y="2211450"/>
            <a:ext cx="597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"/>
          <p:cNvSpPr txBox="1"/>
          <p:nvPr/>
        </p:nvSpPr>
        <p:spPr>
          <a:xfrm>
            <a:off x="728250" y="2134725"/>
            <a:ext cx="3962700" cy="34170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Neural networks do not understand symbols or words.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They operate exclusively on numerical tensors.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Preprocessing defines how language is translated into numbers, and therefore defines the model’s perception of reality.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9" title="ChatGPT Image 4 feb 2026, 20_40_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6725" y="1820725"/>
            <a:ext cx="5820073" cy="388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"/>
          <p:cNvSpPr txBox="1"/>
          <p:nvPr/>
        </p:nvSpPr>
        <p:spPr>
          <a:xfrm>
            <a:off x="2424240" y="3040054"/>
            <a:ext cx="80001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1. Getting Started with Text Processing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2. Fundamentals of Tokenization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3. Byte-Pair Encoding (BPE) and Subword Tokenization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4. Advanced Subword Tokenization with SentencePiece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 Stopwords and Vocabulary Management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6. Processing Multilingual and Cross-Lingual Text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7. Summary and Next Steps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150745" marR="0" lvl="0" indent="-4572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Font typeface="Montserrat"/>
              <a:buChar char="•"/>
            </a:pP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0"/>
          <p:cNvSpPr txBox="1"/>
          <p:nvPr/>
        </p:nvSpPr>
        <p:spPr>
          <a:xfrm>
            <a:off x="2288904" y="1100520"/>
            <a:ext cx="76137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Training Program 1: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Advanced NLP &amp; Large Language Models (LLMs)</a:t>
            </a:r>
            <a:endParaRPr sz="18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4" name="Google Shape;104;p10" descr="Bandera de España - Wikipedia, la enciclopedia libr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2248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0"/>
          <p:cNvSpPr/>
          <p:nvPr/>
        </p:nvSpPr>
        <p:spPr>
          <a:xfrm>
            <a:off x="215570" y="235900"/>
            <a:ext cx="2401800" cy="4950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0"/>
          <p:cNvSpPr txBox="1"/>
          <p:nvPr/>
        </p:nvSpPr>
        <p:spPr>
          <a:xfrm>
            <a:off x="654041" y="252536"/>
            <a:ext cx="152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 cap="none">
                <a:solidFill>
                  <a:srgbClr val="002A47"/>
                </a:solidFill>
                <a:latin typeface="Montserrat"/>
                <a:ea typeface="Montserrat"/>
                <a:cs typeface="Montserrat"/>
                <a:sym typeface="Montserrat"/>
              </a:rPr>
              <a:t>THEORY</a:t>
            </a:r>
            <a:endParaRPr/>
          </a:p>
        </p:txBody>
      </p:sp>
      <p:pic>
        <p:nvPicPr>
          <p:cNvPr id="107" name="Google Shape;107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5097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0" descr="Bandera de Jordania - Wikipedia, la enciclopedia libr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2732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0"/>
          <p:cNvSpPr/>
          <p:nvPr/>
        </p:nvSpPr>
        <p:spPr>
          <a:xfrm>
            <a:off x="2858325" y="3333025"/>
            <a:ext cx="5843400" cy="282000"/>
          </a:xfrm>
          <a:prstGeom prst="rect">
            <a:avLst/>
          </a:prstGeom>
          <a:noFill/>
          <a:ln w="3810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1"/>
          <p:cNvSpPr txBox="1"/>
          <p:nvPr/>
        </p:nvSpPr>
        <p:spPr>
          <a:xfrm>
            <a:off x="604042" y="1064269"/>
            <a:ext cx="7314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1.2 – Fundamentals of Tokenization</a:t>
            </a:r>
            <a:endParaRPr sz="20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1"/>
          <p:cNvSpPr txBox="1"/>
          <p:nvPr/>
        </p:nvSpPr>
        <p:spPr>
          <a:xfrm>
            <a:off x="604043" y="525302"/>
            <a:ext cx="624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M01.1 BPE</a:t>
            </a:r>
            <a:endParaRPr sz="36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1"/>
          <p:cNvSpPr txBox="1"/>
          <p:nvPr/>
        </p:nvSpPr>
        <p:spPr>
          <a:xfrm>
            <a:off x="738712" y="2211450"/>
            <a:ext cx="597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1"/>
          <p:cNvSpPr txBox="1"/>
          <p:nvPr/>
        </p:nvSpPr>
        <p:spPr>
          <a:xfrm>
            <a:off x="1372350" y="3743625"/>
            <a:ext cx="9447300" cy="1477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Modern LLM pipelines rely on highly optimized libraries to ensure efficiency, consistency, and reproducibility.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These tools define how text becomes training-ready data.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11" title="ChatGPT Image 4 feb 2026, 20_42_13.png"/>
          <p:cNvPicPr preferRelativeResize="0"/>
          <p:nvPr/>
        </p:nvPicPr>
        <p:blipFill rotWithShape="1">
          <a:blip r:embed="rId3">
            <a:alphaModFix/>
          </a:blip>
          <a:srcRect t="32846" b="41277"/>
          <a:stretch/>
        </p:blipFill>
        <p:spPr>
          <a:xfrm>
            <a:off x="2408350" y="1904900"/>
            <a:ext cx="7569900" cy="130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12"/>
          <p:cNvSpPr txBox="1"/>
          <p:nvPr/>
        </p:nvSpPr>
        <p:spPr>
          <a:xfrm>
            <a:off x="604042" y="1064269"/>
            <a:ext cx="7314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1.2 – Fundamentals of Tokenization</a:t>
            </a:r>
            <a:endParaRPr sz="20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12"/>
          <p:cNvSpPr txBox="1"/>
          <p:nvPr/>
        </p:nvSpPr>
        <p:spPr>
          <a:xfrm>
            <a:off x="604043" y="525302"/>
            <a:ext cx="624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M01.1 BPE</a:t>
            </a:r>
            <a:endParaRPr sz="36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12"/>
          <p:cNvSpPr txBox="1"/>
          <p:nvPr/>
        </p:nvSpPr>
        <p:spPr>
          <a:xfrm>
            <a:off x="738712" y="2211450"/>
            <a:ext cx="597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2"/>
          <p:cNvSpPr txBox="1"/>
          <p:nvPr/>
        </p:nvSpPr>
        <p:spPr>
          <a:xfrm>
            <a:off x="1372350" y="4307800"/>
            <a:ext cx="9447300" cy="1200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Tokenization is the deterministic process of splitting text into discrete units called tokens.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These tokens are the atomic elements used by language models to represent and process human language.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2" title="ChatGPT Image 4 feb 2026, 21_17_53.png"/>
          <p:cNvPicPr preferRelativeResize="0"/>
          <p:nvPr/>
        </p:nvPicPr>
        <p:blipFill rotWithShape="1">
          <a:blip r:embed="rId3">
            <a:alphaModFix/>
          </a:blip>
          <a:srcRect t="37356" b="39030"/>
          <a:stretch/>
        </p:blipFill>
        <p:spPr>
          <a:xfrm>
            <a:off x="1440013" y="2392675"/>
            <a:ext cx="9311973" cy="146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604042" y="1064269"/>
            <a:ext cx="7314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1.2 – Fundamentals of Tokenization</a:t>
            </a:r>
            <a:endParaRPr sz="20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604043" y="525302"/>
            <a:ext cx="624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M01.1 BPE</a:t>
            </a:r>
            <a:endParaRPr sz="36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738712" y="2211450"/>
            <a:ext cx="597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943100" y="2323375"/>
            <a:ext cx="5183100" cy="2308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Word-level tokenization fails when encountering words that are not present in the training vocabulary.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These unknown tokens reduce model performance and limit generalization to new data.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13" title="ChatGPT Image 4 feb 2026, 21_26_45.png"/>
          <p:cNvPicPr preferRelativeResize="0"/>
          <p:nvPr/>
        </p:nvPicPr>
        <p:blipFill rotWithShape="1">
          <a:blip r:embed="rId3">
            <a:alphaModFix/>
          </a:blip>
          <a:srcRect t="9157" b="27814"/>
          <a:stretch/>
        </p:blipFill>
        <p:spPr>
          <a:xfrm>
            <a:off x="6288350" y="2211450"/>
            <a:ext cx="5760998" cy="242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604042" y="1064269"/>
            <a:ext cx="7314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1.2 – Fundamentals of Tokenization</a:t>
            </a:r>
            <a:endParaRPr sz="20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604043" y="525302"/>
            <a:ext cx="624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M01.1 BPE</a:t>
            </a:r>
            <a:endParaRPr sz="36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738712" y="2211450"/>
            <a:ext cx="597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 txBox="1"/>
          <p:nvPr/>
        </p:nvSpPr>
        <p:spPr>
          <a:xfrm>
            <a:off x="689475" y="2440450"/>
            <a:ext cx="5183100" cy="2308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Rule-based tokenizers use predefined patterns to split text while preserving punctuation and structure.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Regular expressions allow precise control over how symbols, spaces, and contractions are handled.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14" title="ChatGPT Image 4 feb 2026, 21_28_50.png"/>
          <p:cNvPicPr preferRelativeResize="0"/>
          <p:nvPr/>
        </p:nvPicPr>
        <p:blipFill rotWithShape="1">
          <a:blip r:embed="rId3">
            <a:alphaModFix/>
          </a:blip>
          <a:srcRect t="10083" b="25400"/>
          <a:stretch/>
        </p:blipFill>
        <p:spPr>
          <a:xfrm>
            <a:off x="6126200" y="2355912"/>
            <a:ext cx="5760998" cy="247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/>
          <p:nvPr/>
        </p:nvSpPr>
        <p:spPr>
          <a:xfrm>
            <a:off x="2288904" y="1100520"/>
            <a:ext cx="76137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Training Program 1: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Advanced NLP &amp; Large Language Models (LLMs)</a:t>
            </a:r>
            <a:endParaRPr sz="18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6" name="Google Shape;156;p15" descr="Bandera de España - Wikipedia, la enciclopedia libr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2248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5"/>
          <p:cNvSpPr/>
          <p:nvPr/>
        </p:nvSpPr>
        <p:spPr>
          <a:xfrm>
            <a:off x="215570" y="235900"/>
            <a:ext cx="2401800" cy="4950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654041" y="252536"/>
            <a:ext cx="152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 cap="none">
                <a:solidFill>
                  <a:srgbClr val="002A47"/>
                </a:solidFill>
                <a:latin typeface="Montserrat"/>
                <a:ea typeface="Montserrat"/>
                <a:cs typeface="Montserrat"/>
                <a:sym typeface="Montserrat"/>
              </a:rPr>
              <a:t>THEORY</a:t>
            </a:r>
            <a:endParaRPr/>
          </a:p>
        </p:txBody>
      </p:sp>
      <p:pic>
        <p:nvPicPr>
          <p:cNvPr id="159" name="Google Shape;159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5097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descr="Bandera de Jordania - Wikipedia, la enciclopedia libr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2732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/>
          <p:cNvSpPr txBox="1"/>
          <p:nvPr/>
        </p:nvSpPr>
        <p:spPr>
          <a:xfrm>
            <a:off x="2424240" y="3040054"/>
            <a:ext cx="80001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1. Getting Started with Text Processing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2. Fundamentals of Tokenization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3. Byte-Pair Encoding (BPE) and Subword Tokenization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4. Advanced Subword Tokenization with SentencePiece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 Stopwords and Vocabulary Management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6. Processing Multilingual and Cross-Lingual Text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7. Summary and Next Steps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150745" marR="0" lvl="0" indent="-4572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Font typeface="Montserrat"/>
              <a:buChar char="•"/>
            </a:pP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2858325" y="3625675"/>
            <a:ext cx="6887400" cy="282000"/>
          </a:xfrm>
          <a:prstGeom prst="rect">
            <a:avLst/>
          </a:prstGeom>
          <a:noFill/>
          <a:ln w="3810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604042" y="1064269"/>
            <a:ext cx="7314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1.3 – Byte-Pair Encoding (BPE) and Subword Tokenization</a:t>
            </a:r>
            <a:endParaRPr sz="20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604043" y="525302"/>
            <a:ext cx="624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M01.1 BPE</a:t>
            </a:r>
            <a:endParaRPr sz="36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738712" y="2211450"/>
            <a:ext cx="597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689475" y="2440450"/>
            <a:ext cx="4275900" cy="2862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Subword tokenization was introduced to balance the limitations of word-level and character-level approaches.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●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 enables models to represent any word while preserving meaningful linguistic units.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16" title="ChatGPT Image 4 feb 2026, 21_35_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9450" y="1850000"/>
            <a:ext cx="5820073" cy="388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604042" y="1064269"/>
            <a:ext cx="7314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1.3 – Byte-Pair Encoding (BPE) and Subword Tokenization</a:t>
            </a:r>
            <a:endParaRPr sz="20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604043" y="525302"/>
            <a:ext cx="624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M01.1 BPE</a:t>
            </a:r>
            <a:endParaRPr sz="36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679725" y="2731025"/>
            <a:ext cx="4275900" cy="25860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Word-level tokenization fails on unseen or rare words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Unknown tokens reduce model accuracy and robustness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Subword tokenization decomposes unknown words into known units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This guarantees full coverage of any input text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603900" y="1943850"/>
            <a:ext cx="4137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Handling the Out-of-Vocabulary (OOV) Problem</a:t>
            </a:r>
            <a:endParaRPr sz="17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2" name="Google Shape;182;p17" title="ChatGPT Image 4 feb 2026, 21_40_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9200" y="1744474"/>
            <a:ext cx="6061824" cy="404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604042" y="1064269"/>
            <a:ext cx="7314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1.3 – Byte-Pair Encoding (BPE) and Subword Tokenization</a:t>
            </a:r>
            <a:endParaRPr sz="20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604043" y="525302"/>
            <a:ext cx="624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M01.1 BPE</a:t>
            </a:r>
            <a:endParaRPr sz="36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1108975" y="5228400"/>
            <a:ext cx="9426900" cy="1200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Byte-Pair Encoding is an iterative subword tokenization algorithm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It is based on frequency statistics from the training corpus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The algorithm merges the most frequent adjacent token pairs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Over time, meaningful subword units are learned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603900" y="1943850"/>
            <a:ext cx="41373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Is Byte-Pair Encoding (BPE)?</a:t>
            </a:r>
            <a:endParaRPr sz="17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2" name="Google Shape;192;p18" title="ChatGPT Image 4 feb 2026, 21_41_54.png"/>
          <p:cNvPicPr preferRelativeResize="0"/>
          <p:nvPr/>
        </p:nvPicPr>
        <p:blipFill rotWithShape="1">
          <a:blip r:embed="rId3">
            <a:alphaModFix/>
          </a:blip>
          <a:srcRect t="27944" b="21376"/>
          <a:stretch/>
        </p:blipFill>
        <p:spPr>
          <a:xfrm>
            <a:off x="2468050" y="2531650"/>
            <a:ext cx="7016552" cy="237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604042" y="1064269"/>
            <a:ext cx="7314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1.3 – Byte-Pair Encoding (BPE) and Subword Tokenization</a:t>
            </a:r>
            <a:endParaRPr sz="20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604043" y="525302"/>
            <a:ext cx="624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M01.1 BPE</a:t>
            </a:r>
            <a:endParaRPr sz="36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1085900" y="2745400"/>
            <a:ext cx="3580200" cy="31401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Training starts from individual characters or bytes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All adjacent token pairs are counted across the dataset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The most frequent pair is merged into a new token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The process repeats until the target vocabulary size is reached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603900" y="1943850"/>
            <a:ext cx="41373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BPE Training Process</a:t>
            </a:r>
            <a:endParaRPr sz="17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2" name="Google Shape;202;p19" title="ChatGPT Image 4 feb 2026, 21_46_05.png"/>
          <p:cNvPicPr preferRelativeResize="0"/>
          <p:nvPr/>
        </p:nvPicPr>
        <p:blipFill rotWithShape="1">
          <a:blip r:embed="rId3">
            <a:alphaModFix/>
          </a:blip>
          <a:srcRect t="9766" b="15512"/>
          <a:stretch/>
        </p:blipFill>
        <p:spPr>
          <a:xfrm>
            <a:off x="5144150" y="1508175"/>
            <a:ext cx="4357550" cy="488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604042" y="1064269"/>
            <a:ext cx="7314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1.3 – Byte-Pair Encoding (BPE) and Subword Tokenization</a:t>
            </a:r>
            <a:endParaRPr sz="20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604043" y="525302"/>
            <a:ext cx="624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M01.1 BPE</a:t>
            </a:r>
            <a:endParaRPr sz="36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1085900" y="2745400"/>
            <a:ext cx="3580200" cy="31401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Small vocabularies increase sequence length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Longer sequences raise computational cost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Large vocabularies reduce fragmentation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Excessively large vocabularies introduce sparsity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Vocabulary size is a key design decision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603900" y="1943850"/>
            <a:ext cx="41373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Vocabulary Size Trade-Offs in BPE</a:t>
            </a:r>
            <a:endParaRPr sz="17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2" name="Google Shape;212;p20" title="ChatGPT Image 4 feb 2026, 21_51_36.png"/>
          <p:cNvPicPr preferRelativeResize="0"/>
          <p:nvPr/>
        </p:nvPicPr>
        <p:blipFill rotWithShape="1">
          <a:blip r:embed="rId3">
            <a:alphaModFix/>
          </a:blip>
          <a:srcRect l="5594" t="19073" r="4887" b="13906"/>
          <a:stretch/>
        </p:blipFill>
        <p:spPr>
          <a:xfrm>
            <a:off x="5414225" y="2745400"/>
            <a:ext cx="5589800" cy="2790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604042" y="1064269"/>
            <a:ext cx="7314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1.3 – Byte-Pair Encoding (BPE) and Subword Tokenization</a:t>
            </a:r>
            <a:endParaRPr sz="20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604043" y="525302"/>
            <a:ext cx="624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M01.1 BPE</a:t>
            </a:r>
            <a:endParaRPr sz="36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829650" y="4803775"/>
            <a:ext cx="10532700" cy="1200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Modern Transformer models rely on subword tokenization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Byte-level BPE ensures a fixed and complete base vocabulary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This approach handles any character or symbol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It enables efficient and scalable language modeling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603900" y="1826775"/>
            <a:ext cx="7415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BPE in Transformer and GPT-Style Models</a:t>
            </a:r>
            <a:endParaRPr sz="17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2" name="Google Shape;222;p21" title="ChatGPT Image 4 feb 2026, 21_57_05.png"/>
          <p:cNvPicPr preferRelativeResize="0"/>
          <p:nvPr/>
        </p:nvPicPr>
        <p:blipFill rotWithShape="1">
          <a:blip r:embed="rId3">
            <a:alphaModFix/>
          </a:blip>
          <a:srcRect t="24615" b="30555"/>
          <a:stretch/>
        </p:blipFill>
        <p:spPr>
          <a:xfrm>
            <a:off x="2507125" y="2235275"/>
            <a:ext cx="7692948" cy="229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"/>
          <p:cNvSpPr txBox="1"/>
          <p:nvPr/>
        </p:nvSpPr>
        <p:spPr>
          <a:xfrm>
            <a:off x="2288904" y="1100520"/>
            <a:ext cx="76137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Training Program 1: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Advanced NLP &amp; Large Language Models (LLMs)</a:t>
            </a:r>
            <a:endParaRPr sz="18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9" name="Google Shape;229;p22" descr="Bandera de España - Wikipedia, la enciclopedia libr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2248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/>
          <p:nvPr/>
        </p:nvSpPr>
        <p:spPr>
          <a:xfrm>
            <a:off x="215570" y="235900"/>
            <a:ext cx="2401800" cy="4950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654041" y="252536"/>
            <a:ext cx="152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 cap="none">
                <a:solidFill>
                  <a:srgbClr val="002A47"/>
                </a:solidFill>
                <a:latin typeface="Montserrat"/>
                <a:ea typeface="Montserrat"/>
                <a:cs typeface="Montserrat"/>
                <a:sym typeface="Montserrat"/>
              </a:rPr>
              <a:t>THEORY</a:t>
            </a:r>
            <a:endParaRPr/>
          </a:p>
        </p:txBody>
      </p:sp>
      <p:pic>
        <p:nvPicPr>
          <p:cNvPr id="232" name="Google Shape;232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5097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 descr="Bandera de Jordania - Wikipedia, la enciclopedia libr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2732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 txBox="1"/>
          <p:nvPr/>
        </p:nvSpPr>
        <p:spPr>
          <a:xfrm>
            <a:off x="2424240" y="3040054"/>
            <a:ext cx="80001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1. Getting Started with Text Processing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2. Fundamentals of Tokenization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3. Byte-Pair Encoding (BPE) and Subword Tokenization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4. Advanced Subword Tokenization with SentencePiece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 Stopwords and Vocabulary Management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6. Processing Multilingual and Cross-Lingual Text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7. Summary and Next Steps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150745" marR="0" lvl="0" indent="-4572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Font typeface="Montserrat"/>
              <a:buChar char="•"/>
            </a:pP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2858325" y="3918325"/>
            <a:ext cx="6887400" cy="282000"/>
          </a:xfrm>
          <a:prstGeom prst="rect">
            <a:avLst/>
          </a:prstGeom>
          <a:noFill/>
          <a:ln w="3810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604042" y="1064269"/>
            <a:ext cx="7314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1.4 – SentencePiece</a:t>
            </a:r>
            <a:endParaRPr sz="20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604043" y="525302"/>
            <a:ext cx="624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M01.1 BPE</a:t>
            </a:r>
            <a:endParaRPr sz="36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1085900" y="2745400"/>
            <a:ext cx="3580200" cy="28629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Traditional tokenizers rely on language-specific rules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Whitespace-based pre-tokenization fails for many scripts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SentencePiece processes text as a raw character stream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This enables fully language-agnostic tokenization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 txBox="1"/>
          <p:nvPr/>
        </p:nvSpPr>
        <p:spPr>
          <a:xfrm>
            <a:off x="603900" y="1943850"/>
            <a:ext cx="4137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Why SentencePiece Was Introduced</a:t>
            </a:r>
            <a:endParaRPr sz="17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5" name="Google Shape;245;p23" title="ChatGPT Image 4 feb 2026, 21_59_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8900" y="1943850"/>
            <a:ext cx="5612901" cy="3741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"/>
          <p:cNvSpPr txBox="1"/>
          <p:nvPr/>
        </p:nvSpPr>
        <p:spPr>
          <a:xfrm>
            <a:off x="2288904" y="1100520"/>
            <a:ext cx="76137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Training Program 1: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Advanced NLP &amp; Large Language Models (LLMs)</a:t>
            </a:r>
            <a:endParaRPr sz="18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2" name="Google Shape;252;p24" descr="Bandera de España - Wikipedia, la enciclopedia libr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2248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/>
          <p:nvPr/>
        </p:nvSpPr>
        <p:spPr>
          <a:xfrm>
            <a:off x="215570" y="235900"/>
            <a:ext cx="2401800" cy="4950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 txBox="1"/>
          <p:nvPr/>
        </p:nvSpPr>
        <p:spPr>
          <a:xfrm>
            <a:off x="654041" y="252536"/>
            <a:ext cx="152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 cap="none">
                <a:solidFill>
                  <a:srgbClr val="002A47"/>
                </a:solidFill>
                <a:latin typeface="Montserrat"/>
                <a:ea typeface="Montserrat"/>
                <a:cs typeface="Montserrat"/>
                <a:sym typeface="Montserrat"/>
              </a:rPr>
              <a:t>THEORY</a:t>
            </a:r>
            <a:endParaRPr/>
          </a:p>
        </p:txBody>
      </p:sp>
      <p:pic>
        <p:nvPicPr>
          <p:cNvPr id="255" name="Google Shape;25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5097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4" descr="Bandera de Jordania - Wikipedia, la enciclopedia libr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2732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 txBox="1"/>
          <p:nvPr/>
        </p:nvSpPr>
        <p:spPr>
          <a:xfrm>
            <a:off x="2424240" y="3040054"/>
            <a:ext cx="80001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1. Getting Started with Text Processing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2. Fundamentals of Tokenization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3. Byte-Pair Encoding (BPE) and Subword Tokenization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4. Advanced Subword Tokenization with SentencePiece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 Stopwords and Vocabulary Management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6. Processing Multilingual and Cross-Lingual Text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7. Summary and Next Steps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150745" marR="0" lvl="0" indent="-4572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Font typeface="Montserrat"/>
              <a:buChar char="•"/>
            </a:pP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2858325" y="4191475"/>
            <a:ext cx="6887400" cy="282000"/>
          </a:xfrm>
          <a:prstGeom prst="rect">
            <a:avLst/>
          </a:prstGeom>
          <a:noFill/>
          <a:ln w="3810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604042" y="1064269"/>
            <a:ext cx="73143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GB" sz="20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 Chapter 1.5 – Stopwords and Vocabulary Management</a:t>
            </a:r>
            <a:endParaRPr sz="20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25"/>
          <p:cNvSpPr txBox="1"/>
          <p:nvPr/>
        </p:nvSpPr>
        <p:spPr>
          <a:xfrm>
            <a:off x="604043" y="525302"/>
            <a:ext cx="624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M01.1 BPE</a:t>
            </a:r>
            <a:endParaRPr sz="36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25"/>
          <p:cNvSpPr txBox="1"/>
          <p:nvPr/>
        </p:nvSpPr>
        <p:spPr>
          <a:xfrm>
            <a:off x="1085900" y="2745400"/>
            <a:ext cx="3580200" cy="2308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Stopwords are high-frequency functional words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Removing them was common in early NLP systems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Transformer models rely on context and attention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Modern pipelines often preserve stopwords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 txBox="1"/>
          <p:nvPr/>
        </p:nvSpPr>
        <p:spPr>
          <a:xfrm>
            <a:off x="603900" y="2265775"/>
            <a:ext cx="41373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Stopwords in Modern NLP Systems</a:t>
            </a:r>
            <a:endParaRPr sz="17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8" name="Google Shape;268;p25" title="Flujo reversible entre texto y tokens.png"/>
          <p:cNvPicPr preferRelativeResize="0"/>
          <p:nvPr/>
        </p:nvPicPr>
        <p:blipFill rotWithShape="1">
          <a:blip r:embed="rId3">
            <a:alphaModFix/>
          </a:blip>
          <a:srcRect l="6189" t="36404" r="3850" b="37998"/>
          <a:stretch/>
        </p:blipFill>
        <p:spPr>
          <a:xfrm>
            <a:off x="5219125" y="3086848"/>
            <a:ext cx="6428751" cy="12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6"/>
          <p:cNvSpPr txBox="1"/>
          <p:nvPr/>
        </p:nvSpPr>
        <p:spPr>
          <a:xfrm>
            <a:off x="2288904" y="1100520"/>
            <a:ext cx="76137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Training Program 1: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Advanced NLP &amp; Large Language Models (LLMs)</a:t>
            </a:r>
            <a:endParaRPr sz="18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5" name="Google Shape;275;p26" descr="Bandera de España - Wikipedia, la enciclopedia libr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2248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/>
          <p:nvPr/>
        </p:nvSpPr>
        <p:spPr>
          <a:xfrm>
            <a:off x="215570" y="235900"/>
            <a:ext cx="2401800" cy="4950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 txBox="1"/>
          <p:nvPr/>
        </p:nvSpPr>
        <p:spPr>
          <a:xfrm>
            <a:off x="654041" y="252536"/>
            <a:ext cx="152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 cap="none">
                <a:solidFill>
                  <a:srgbClr val="002A47"/>
                </a:solidFill>
                <a:latin typeface="Montserrat"/>
                <a:ea typeface="Montserrat"/>
                <a:cs typeface="Montserrat"/>
                <a:sym typeface="Montserrat"/>
              </a:rPr>
              <a:t>THEORY</a:t>
            </a:r>
            <a:endParaRPr/>
          </a:p>
        </p:txBody>
      </p:sp>
      <p:pic>
        <p:nvPicPr>
          <p:cNvPr id="278" name="Google Shape;278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5097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6" descr="Bandera de Jordania - Wikipedia, la enciclopedia libr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2732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6"/>
          <p:cNvSpPr txBox="1"/>
          <p:nvPr/>
        </p:nvSpPr>
        <p:spPr>
          <a:xfrm>
            <a:off x="2424240" y="3040054"/>
            <a:ext cx="80001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1. Getting Started with Text Processing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2. Fundamentals of Tokenization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3. Byte-Pair Encoding (BPE) and Subword Tokenization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4. Advanced Subword Tokenization with SentencePiece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 Stopwords and Vocabulary Management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6. Processing Multilingual and Cross-Lingual Text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7. Summary and Next Steps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150745" marR="0" lvl="0" indent="-4572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Font typeface="Montserrat"/>
              <a:buChar char="•"/>
            </a:pP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p26"/>
          <p:cNvSpPr/>
          <p:nvPr/>
        </p:nvSpPr>
        <p:spPr>
          <a:xfrm>
            <a:off x="2877825" y="4454875"/>
            <a:ext cx="6887400" cy="282000"/>
          </a:xfrm>
          <a:prstGeom prst="rect">
            <a:avLst/>
          </a:prstGeom>
          <a:noFill/>
          <a:ln w="3810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27"/>
          <p:cNvSpPr txBox="1"/>
          <p:nvPr/>
        </p:nvSpPr>
        <p:spPr>
          <a:xfrm>
            <a:off x="604042" y="1064269"/>
            <a:ext cx="73143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GB" sz="20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1.6 – Processing Multilingual and Cross-Lingual Text</a:t>
            </a:r>
            <a:endParaRPr sz="20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p27"/>
          <p:cNvSpPr txBox="1"/>
          <p:nvPr/>
        </p:nvSpPr>
        <p:spPr>
          <a:xfrm>
            <a:off x="604043" y="525302"/>
            <a:ext cx="624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M01.1 BPE</a:t>
            </a:r>
            <a:endParaRPr sz="36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" name="Google Shape;289;p27"/>
          <p:cNvSpPr txBox="1"/>
          <p:nvPr/>
        </p:nvSpPr>
        <p:spPr>
          <a:xfrm>
            <a:off x="1085900" y="2745400"/>
            <a:ext cx="3580200" cy="25860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Languages differ in scripts and morphology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Whitespace is not universal across languages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Subword tokenization enables shared vocabularies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This supports cross-lingual and zero-shot learning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7"/>
          <p:cNvSpPr txBox="1"/>
          <p:nvPr/>
        </p:nvSpPr>
        <p:spPr>
          <a:xfrm>
            <a:off x="603900" y="2060925"/>
            <a:ext cx="4137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Challenges of Multilingual Tokenization</a:t>
            </a:r>
            <a:endParaRPr sz="17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1" name="Google Shape;291;p27" title="ChatGPT Image 4 feb 2026, 22_06_10.png"/>
          <p:cNvPicPr preferRelativeResize="0"/>
          <p:nvPr/>
        </p:nvPicPr>
        <p:blipFill rotWithShape="1">
          <a:blip r:embed="rId3">
            <a:alphaModFix/>
          </a:blip>
          <a:srcRect l="5918" t="20432" r="7799" b="17930"/>
          <a:stretch/>
        </p:blipFill>
        <p:spPr>
          <a:xfrm>
            <a:off x="5287400" y="2570212"/>
            <a:ext cx="6165373" cy="2936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8"/>
          <p:cNvSpPr txBox="1"/>
          <p:nvPr/>
        </p:nvSpPr>
        <p:spPr>
          <a:xfrm>
            <a:off x="2288904" y="1100520"/>
            <a:ext cx="76137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Training Program 1: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Advanced NLP &amp; Large Language Models (LLMs)</a:t>
            </a:r>
            <a:endParaRPr sz="18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8" name="Google Shape;298;p28" descr="Bandera de España - Wikipedia, la enciclopedia libr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2248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/>
          <p:nvPr/>
        </p:nvSpPr>
        <p:spPr>
          <a:xfrm>
            <a:off x="215570" y="235900"/>
            <a:ext cx="2401800" cy="4950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8"/>
          <p:cNvSpPr txBox="1"/>
          <p:nvPr/>
        </p:nvSpPr>
        <p:spPr>
          <a:xfrm>
            <a:off x="654041" y="252536"/>
            <a:ext cx="152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 cap="none">
                <a:solidFill>
                  <a:srgbClr val="002A47"/>
                </a:solidFill>
                <a:latin typeface="Montserrat"/>
                <a:ea typeface="Montserrat"/>
                <a:cs typeface="Montserrat"/>
                <a:sym typeface="Montserrat"/>
              </a:rPr>
              <a:t>THEORY</a:t>
            </a:r>
            <a:endParaRPr/>
          </a:p>
        </p:txBody>
      </p:sp>
      <p:pic>
        <p:nvPicPr>
          <p:cNvPr id="301" name="Google Shape;301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5097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8" descr="Bandera de Jordania - Wikipedia, la enciclopedia libr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27323" y="205760"/>
            <a:ext cx="1115724" cy="657877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8"/>
          <p:cNvSpPr txBox="1"/>
          <p:nvPr/>
        </p:nvSpPr>
        <p:spPr>
          <a:xfrm>
            <a:off x="2424240" y="3040054"/>
            <a:ext cx="80001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1. Getting Started with Text Processing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2. Fundamentals of Tokenization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3. Byte-Pair Encoding (BPE) and Subword Tokenization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4. Advanced Subword Tokenization with SentencePiece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5. Stopwords and Vocabulary Management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6. Processing Multilingual and Cross-Lingual Text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Char char="•"/>
            </a:pPr>
            <a:r>
              <a:rPr lang="en-GB" sz="18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7. Summary and Next Steps</a:t>
            </a: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150745" marR="0" lvl="0" indent="-457200" algn="just" rtl="0">
              <a:spcBef>
                <a:spcPts val="0"/>
              </a:spcBef>
              <a:spcAft>
                <a:spcPts val="0"/>
              </a:spcAft>
              <a:buClr>
                <a:srgbClr val="D4A661"/>
              </a:buClr>
              <a:buSzPts val="1800"/>
              <a:buFont typeface="Montserrat"/>
              <a:buChar char="•"/>
            </a:pPr>
            <a:endParaRPr sz="18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28"/>
          <p:cNvSpPr/>
          <p:nvPr/>
        </p:nvSpPr>
        <p:spPr>
          <a:xfrm>
            <a:off x="2868075" y="4757300"/>
            <a:ext cx="6887400" cy="282000"/>
          </a:xfrm>
          <a:prstGeom prst="rect">
            <a:avLst/>
          </a:prstGeom>
          <a:noFill/>
          <a:ln w="3810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29"/>
          <p:cNvSpPr txBox="1"/>
          <p:nvPr/>
        </p:nvSpPr>
        <p:spPr>
          <a:xfrm>
            <a:off x="604042" y="1064269"/>
            <a:ext cx="7314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GB" sz="20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Chapter 1.7 – Summary and Next Steps</a:t>
            </a:r>
            <a:endParaRPr sz="20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604043" y="525302"/>
            <a:ext cx="624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M01.1 BPE</a:t>
            </a:r>
            <a:endParaRPr sz="36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1161000" y="4296500"/>
            <a:ext cx="9696600" cy="1200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Text preprocessing defines model capabilities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Tokenization bridges language and mathematics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Subword methods balance flexibility and efficiency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Modern systems support multilingual inputs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1161000" y="2060925"/>
            <a:ext cx="3580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Key Takeaways from Text Preprocessing</a:t>
            </a:r>
            <a:endParaRPr sz="17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4" name="Google Shape;314;p29" title="ChatGPT Image 4 feb 2026, 22_10_58.png"/>
          <p:cNvPicPr preferRelativeResize="0"/>
          <p:nvPr/>
        </p:nvPicPr>
        <p:blipFill rotWithShape="1">
          <a:blip r:embed="rId3">
            <a:alphaModFix/>
          </a:blip>
          <a:srcRect l="7963" t="32776" r="7946" b="40603"/>
          <a:stretch/>
        </p:blipFill>
        <p:spPr>
          <a:xfrm>
            <a:off x="2809525" y="2806213"/>
            <a:ext cx="6009300" cy="126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0"/>
          <p:cNvSpPr/>
          <p:nvPr/>
        </p:nvSpPr>
        <p:spPr>
          <a:xfrm>
            <a:off x="443706" y="565943"/>
            <a:ext cx="160200" cy="411300"/>
          </a:xfrm>
          <a:prstGeom prst="rect">
            <a:avLst/>
          </a:prstGeom>
          <a:solidFill>
            <a:srgbClr val="D4A66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30"/>
          <p:cNvSpPr txBox="1"/>
          <p:nvPr/>
        </p:nvSpPr>
        <p:spPr>
          <a:xfrm>
            <a:off x="604042" y="1064269"/>
            <a:ext cx="7314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GB" sz="2000" b="1">
                <a:solidFill>
                  <a:srgbClr val="D4A661"/>
                </a:solidFill>
                <a:latin typeface="Montserrat"/>
                <a:ea typeface="Montserrat"/>
                <a:cs typeface="Montserrat"/>
                <a:sym typeface="Montserrat"/>
              </a:rPr>
              <a:t>M01 – Text Preprocessing</a:t>
            </a:r>
            <a:endParaRPr sz="2000" b="1">
              <a:solidFill>
                <a:srgbClr val="D4A66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30"/>
          <p:cNvSpPr txBox="1"/>
          <p:nvPr/>
        </p:nvSpPr>
        <p:spPr>
          <a:xfrm>
            <a:off x="604043" y="525302"/>
            <a:ext cx="6244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M01.1 BPE</a:t>
            </a:r>
            <a:endParaRPr sz="36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p30"/>
          <p:cNvSpPr txBox="1"/>
          <p:nvPr/>
        </p:nvSpPr>
        <p:spPr>
          <a:xfrm>
            <a:off x="1085900" y="2861250"/>
            <a:ext cx="9732900" cy="2308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Sebastian Raschka – Build a Large Language Model (From Scratch)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Sennrich et al. (2016) – Neural Machine Translation of Rare Words with Subword Units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Kudo and Richardson (2018) – SentencePiece: A Language-Independent Tokenizer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Radford et al. (2019) – Language Models are Unsupervised Multitask Learners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Hugging Face Course – Tokenization and NLP Fundamentals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• OpenAI Documentation – Tokenizers and tiktoken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0"/>
          <p:cNvSpPr txBox="1"/>
          <p:nvPr/>
        </p:nvSpPr>
        <p:spPr>
          <a:xfrm>
            <a:off x="857550" y="1778025"/>
            <a:ext cx="6303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Recommended References and Learning Resources</a:t>
            </a:r>
            <a:endParaRPr sz="17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1395</Words>
  <Application>Microsoft Office PowerPoint</Application>
  <PresentationFormat>Panorámica</PresentationFormat>
  <Paragraphs>218</Paragraphs>
  <Slides>27</Slides>
  <Notes>27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Montserrat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AUSEJO Rafael</cp:lastModifiedBy>
  <cp:revision>1</cp:revision>
  <dcterms:modified xsi:type="dcterms:W3CDTF">2026-02-05T22:16:19Z</dcterms:modified>
</cp:coreProperties>
</file>