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10287000" cx="18288000"/>
  <p:notesSz cx="6858000" cy="9144000"/>
  <p:embeddedFontLst>
    <p:embeddedFont>
      <p:font typeface="Jost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9" roundtripDataSignature="AMtx7mjCxh9SooDlUsDkBovK5djOvM7H2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Jost-regular.fnt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Jost-italic.fntdata"/><Relationship Id="rId14" Type="http://schemas.openxmlformats.org/officeDocument/2006/relationships/slide" Target="slides/slide9.xml"/><Relationship Id="rId36" Type="http://schemas.openxmlformats.org/officeDocument/2006/relationships/font" Target="fonts/Jost-bold.fntdata"/><Relationship Id="rId17" Type="http://schemas.openxmlformats.org/officeDocument/2006/relationships/slide" Target="slides/slide12.xml"/><Relationship Id="rId39" Type="http://customschemas.google.com/relationships/presentationmetadata" Target="metadata"/><Relationship Id="rId16" Type="http://schemas.openxmlformats.org/officeDocument/2006/relationships/slide" Target="slides/slide11.xml"/><Relationship Id="rId38" Type="http://schemas.openxmlformats.org/officeDocument/2006/relationships/font" Target="fonts/Jost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3a02a1344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" name="Google Shape;138;g393a02a1344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c699a7b086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g3c699a7b086_1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c699a7b086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0" name="Google Shape;190;g3c699a7b086_1_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c699a7b086_1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6" name="Google Shape;216;g3c699a7b086_1_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c699a7b086_1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2" name="Google Shape;242;g3c699a7b086_1_1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c699a7b086_1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6" name="Google Shape;256;g3c699a7b086_1_1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c699a7b086_1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1" name="Google Shape;281;g3c699a7b086_1_1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c699a7b086_1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6" name="Google Shape;306;g3c699a7b086_1_1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c699a7b086_1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1" name="Google Shape;331;g3c699a7b086_1_2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c699a7b086_1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5" name="Google Shape;345;g3c699a7b086_1_2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c699a7b086_1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7" name="Google Shape;367;g3c699a7b086_1_2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c699a7b086_1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2" name="Google Shape;392;g3c699a7b086_1_2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c699a7b086_1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4" name="Google Shape;414;g3c699a7b086_1_2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c699a7b086_1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8" name="Google Shape;428;g3c699a7b086_1_3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c699a7b086_1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0" name="Google Shape;450;g3c699a7b086_1_3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c699a7b086_1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4" name="Google Shape;474;g3c699a7b086_1_3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c699a7b086_1_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9" name="Google Shape;499;g3c699a7b086_1_3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c699a7b086_1_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3" name="Google Shape;513;g3c699a7b086_1_3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c699a7b086_1_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8" name="Google Shape;538;g3c699a7b086_1_4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c699a7b086_1_4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3" name="Google Shape;563;g3c699a7b086_1_4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c699a7b086_1_4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88" name="Google Shape;588;g3c699a7b086_1_4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3c699a7b086_1_4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2" name="Google Shape;602;g3c699a7b086_1_4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3c699a7b086_1_5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7" name="Google Shape;627;g3c699a7b086_1_5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3c699a7b086_1_5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52" name="Google Shape;652;g3c699a7b086_1_5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96" name="Google Shape;696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Relationship Id="rId4" Type="http://schemas.openxmlformats.org/officeDocument/2006/relationships/image" Target="../media/image10.png"/><Relationship Id="rId5" Type="http://schemas.openxmlformats.org/officeDocument/2006/relationships/image" Target="../media/image2.png"/><Relationship Id="rId6" Type="http://schemas.openxmlformats.org/officeDocument/2006/relationships/image" Target="../media/image6.png"/><Relationship Id="rId7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Relationship Id="rId4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Relationship Id="rId4" Type="http://schemas.openxmlformats.org/officeDocument/2006/relationships/image" Target="../media/image10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Relationship Id="rId4" Type="http://schemas.openxmlformats.org/officeDocument/2006/relationships/image" Target="../media/image10.png"/><Relationship Id="rId5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Relationship Id="rId4" Type="http://schemas.openxmlformats.org/officeDocument/2006/relationships/image" Target="../media/image10.png"/><Relationship Id="rId5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Relationship Id="rId4" Type="http://schemas.openxmlformats.org/officeDocument/2006/relationships/image" Target="../media/image10.png"/><Relationship Id="rId5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jp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g"/><Relationship Id="rId4" Type="http://schemas.openxmlformats.org/officeDocument/2006/relationships/image" Target="../media/image10.png"/><Relationship Id="rId5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jpg"/><Relationship Id="rId4" Type="http://schemas.openxmlformats.org/officeDocument/2006/relationships/image" Target="../media/image10.png"/><Relationship Id="rId5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jpg"/><Relationship Id="rId4" Type="http://schemas.openxmlformats.org/officeDocument/2006/relationships/image" Target="../media/image10.png"/><Relationship Id="rId5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jpg"/><Relationship Id="rId4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jpg"/><Relationship Id="rId4" Type="http://schemas.openxmlformats.org/officeDocument/2006/relationships/image" Target="../media/image10.png"/><Relationship Id="rId5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jpg"/><Relationship Id="rId4" Type="http://schemas.openxmlformats.org/officeDocument/2006/relationships/image" Target="../media/image10.png"/><Relationship Id="rId5" Type="http://schemas.openxmlformats.org/officeDocument/2006/relationships/image" Target="../media/image2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jpg"/><Relationship Id="rId4" Type="http://schemas.openxmlformats.org/officeDocument/2006/relationships/image" Target="../media/image10.png"/><Relationship Id="rId5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jpg"/><Relationship Id="rId4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jpg"/><Relationship Id="rId4" Type="http://schemas.openxmlformats.org/officeDocument/2006/relationships/image" Target="../media/image10.png"/><Relationship Id="rId5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jpg"/><Relationship Id="rId4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jpg"/><Relationship Id="rId4" Type="http://schemas.openxmlformats.org/officeDocument/2006/relationships/image" Target="../media/image10.png"/><Relationship Id="rId5" Type="http://schemas.openxmlformats.org/officeDocument/2006/relationships/image" Target="../media/image1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jpg"/><Relationship Id="rId4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jpg"/><Relationship Id="rId4" Type="http://schemas.openxmlformats.org/officeDocument/2006/relationships/image" Target="../media/image10.png"/><Relationship Id="rId5" Type="http://schemas.openxmlformats.org/officeDocument/2006/relationships/image" Target="../media/image2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jpg"/><Relationship Id="rId4" Type="http://schemas.openxmlformats.org/officeDocument/2006/relationships/image" Target="../media/image10.png"/><Relationship Id="rId5" Type="http://schemas.openxmlformats.org/officeDocument/2006/relationships/image" Target="../media/image1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jpg"/><Relationship Id="rId4" Type="http://schemas.openxmlformats.org/officeDocument/2006/relationships/image" Target="../media/image10.png"/><Relationship Id="rId5" Type="http://schemas.openxmlformats.org/officeDocument/2006/relationships/image" Target="../media/image2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jpg"/><Relationship Id="rId4" Type="http://schemas.openxmlformats.org/officeDocument/2006/relationships/image" Target="../media/image1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jpg"/><Relationship Id="rId4" Type="http://schemas.openxmlformats.org/officeDocument/2006/relationships/image" Target="../media/image1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jpg"/><Relationship Id="rId4" Type="http://schemas.openxmlformats.org/officeDocument/2006/relationships/image" Target="../media/image1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.jpg"/><Relationship Id="rId4" Type="http://schemas.openxmlformats.org/officeDocument/2006/relationships/image" Target="../media/image1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.jp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84" l="0" r="-56470" t="-52934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Bandera de España - Wikipedia, la enciclopedia libre" id="86" name="Google Shape;86;p1"/>
          <p:cNvSpPr/>
          <p:nvPr/>
        </p:nvSpPr>
        <p:spPr>
          <a:xfrm>
            <a:off x="4574261" y="746736"/>
            <a:ext cx="956362" cy="563911"/>
          </a:xfrm>
          <a:custGeom>
            <a:rect b="b" l="l" r="r" t="t"/>
            <a:pathLst>
              <a:path extrusionOk="0" h="1315720" w="2231390">
                <a:moveTo>
                  <a:pt x="0" y="0"/>
                </a:moveTo>
                <a:lnTo>
                  <a:pt x="2231390" y="0"/>
                </a:lnTo>
                <a:lnTo>
                  <a:pt x="2231390" y="1315720"/>
                </a:lnTo>
                <a:lnTo>
                  <a:pt x="0" y="13157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1"/>
          <p:cNvSpPr/>
          <p:nvPr/>
        </p:nvSpPr>
        <p:spPr>
          <a:xfrm>
            <a:off x="5753321" y="746736"/>
            <a:ext cx="956362" cy="563911"/>
          </a:xfrm>
          <a:custGeom>
            <a:rect b="b" l="l" r="r" t="t"/>
            <a:pathLst>
              <a:path extrusionOk="0" h="1315720" w="2231390">
                <a:moveTo>
                  <a:pt x="0" y="0"/>
                </a:moveTo>
                <a:lnTo>
                  <a:pt x="2231390" y="0"/>
                </a:lnTo>
                <a:lnTo>
                  <a:pt x="2231390" y="1315720"/>
                </a:lnTo>
                <a:lnTo>
                  <a:pt x="0" y="13157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1615" l="0" r="0" t="0"/>
            </a:stretch>
          </a:blipFill>
          <a:ln>
            <a:noFill/>
          </a:ln>
        </p:spPr>
      </p:sp>
      <p:sp>
        <p:nvSpPr>
          <p:cNvPr descr="Bandera de Jordania - Wikipedia, la enciclopedia libre" id="88" name="Google Shape;88;p1"/>
          <p:cNvSpPr/>
          <p:nvPr/>
        </p:nvSpPr>
        <p:spPr>
          <a:xfrm>
            <a:off x="6935692" y="746736"/>
            <a:ext cx="956362" cy="563911"/>
          </a:xfrm>
          <a:custGeom>
            <a:rect b="b" l="l" r="r" t="t"/>
            <a:pathLst>
              <a:path extrusionOk="0" h="1315720" w="2231390">
                <a:moveTo>
                  <a:pt x="0" y="0"/>
                </a:moveTo>
                <a:lnTo>
                  <a:pt x="2231390" y="0"/>
                </a:lnTo>
                <a:lnTo>
                  <a:pt x="2231390" y="1315720"/>
                </a:lnTo>
                <a:lnTo>
                  <a:pt x="0" y="13157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17923" t="0"/>
            </a:stretch>
          </a:blipFill>
          <a:ln>
            <a:noFill/>
          </a:ln>
        </p:spPr>
      </p:sp>
      <p:grpSp>
        <p:nvGrpSpPr>
          <p:cNvPr id="89" name="Google Shape;89;p1"/>
          <p:cNvGrpSpPr/>
          <p:nvPr/>
        </p:nvGrpSpPr>
        <p:grpSpPr>
          <a:xfrm>
            <a:off x="1259561" y="710571"/>
            <a:ext cx="3086100" cy="600092"/>
            <a:chOff x="0" y="-9525"/>
            <a:chExt cx="812800" cy="158049"/>
          </a:xfrm>
        </p:grpSpPr>
        <p:sp>
          <p:nvSpPr>
            <p:cNvPr id="90" name="Google Shape;90;p1"/>
            <p:cNvSpPr/>
            <p:nvPr/>
          </p:nvSpPr>
          <p:spPr>
            <a:xfrm>
              <a:off x="0" y="0"/>
              <a:ext cx="812800" cy="148524"/>
            </a:xfrm>
            <a:custGeom>
              <a:rect b="b" l="l" r="r" t="t"/>
              <a:pathLst>
                <a:path extrusionOk="0" h="14852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48524"/>
                  </a:lnTo>
                  <a:lnTo>
                    <a:pt x="0" y="148524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91" name="Google Shape;91;p1"/>
            <p:cNvSpPr txBox="1"/>
            <p:nvPr/>
          </p:nvSpPr>
          <p:spPr>
            <a:xfrm>
              <a:off x="0" y="-9525"/>
              <a:ext cx="812800" cy="1580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1" i="0" lang="en-US" sz="2100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THEORY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2" name="Google Shape;92;p1"/>
          <p:cNvSpPr txBox="1"/>
          <p:nvPr/>
        </p:nvSpPr>
        <p:spPr>
          <a:xfrm>
            <a:off x="1259550" y="4477258"/>
            <a:ext cx="13313400" cy="31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92"/>
              <a:buFont typeface="Arial"/>
              <a:buNone/>
            </a:pPr>
            <a:r>
              <a:rPr b="1" i="0" lang="en-US" sz="14592" u="none" cap="none" strike="noStrike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Training Program 01</a:t>
            </a:r>
            <a:endParaRPr b="0" i="0" sz="1400" u="none" cap="none" strike="noStrike">
              <a:solidFill>
                <a:srgbClr val="000000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1259550" y="7954400"/>
            <a:ext cx="8989800" cy="11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Advanced NLP &amp; Large Language Models (LLMs)</a:t>
            </a:r>
            <a:endParaRPr b="0" i="0" sz="1400" u="none" cap="none" strike="noStrike">
              <a:solidFill>
                <a:srgbClr val="000000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84" l="0" r="-56470" t="-52934"/>
            </a:stretch>
          </a:blipFill>
          <a:ln>
            <a:noFill/>
          </a:ln>
        </p:spPr>
      </p:sp>
      <p:sp>
        <p:nvSpPr>
          <p:cNvPr id="99" name="Google Shape;99;p2"/>
          <p:cNvSpPr txBox="1"/>
          <p:nvPr/>
        </p:nvSpPr>
        <p:spPr>
          <a:xfrm>
            <a:off x="4595148" y="787651"/>
            <a:ext cx="7371900" cy="5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14"/>
              <a:buFont typeface="Arial"/>
              <a:buNone/>
            </a:pPr>
            <a:r>
              <a:rPr b="1" i="0" lang="en-US" sz="4514" u="none" cap="none" strike="noStrike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Training Program 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0" name="Google Shape;100;p2"/>
          <p:cNvGrpSpPr/>
          <p:nvPr/>
        </p:nvGrpSpPr>
        <p:grpSpPr>
          <a:xfrm>
            <a:off x="1259561" y="710571"/>
            <a:ext cx="3086100" cy="600092"/>
            <a:chOff x="0" y="-9525"/>
            <a:chExt cx="812800" cy="158049"/>
          </a:xfrm>
        </p:grpSpPr>
        <p:sp>
          <p:nvSpPr>
            <p:cNvPr id="101" name="Google Shape;101;p2"/>
            <p:cNvSpPr/>
            <p:nvPr/>
          </p:nvSpPr>
          <p:spPr>
            <a:xfrm>
              <a:off x="0" y="0"/>
              <a:ext cx="812800" cy="148524"/>
            </a:xfrm>
            <a:custGeom>
              <a:rect b="b" l="l" r="r" t="t"/>
              <a:pathLst>
                <a:path extrusionOk="0" h="14852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48524"/>
                  </a:lnTo>
                  <a:lnTo>
                    <a:pt x="0" y="148524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02" name="Google Shape;102;p2"/>
            <p:cNvSpPr txBox="1"/>
            <p:nvPr/>
          </p:nvSpPr>
          <p:spPr>
            <a:xfrm>
              <a:off x="0" y="-9525"/>
              <a:ext cx="812800" cy="1580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1" i="0" lang="en-US" sz="2100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THEORY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3" name="Google Shape;103;p2"/>
          <p:cNvGrpSpPr/>
          <p:nvPr/>
        </p:nvGrpSpPr>
        <p:grpSpPr>
          <a:xfrm>
            <a:off x="1259550" y="7486806"/>
            <a:ext cx="6352396" cy="720872"/>
            <a:chOff x="0" y="-9525"/>
            <a:chExt cx="1443136" cy="189863"/>
          </a:xfrm>
        </p:grpSpPr>
        <p:sp>
          <p:nvSpPr>
            <p:cNvPr id="104" name="Google Shape;104;p2"/>
            <p:cNvSpPr/>
            <p:nvPr/>
          </p:nvSpPr>
          <p:spPr>
            <a:xfrm>
              <a:off x="0" y="0"/>
              <a:ext cx="1443136" cy="180338"/>
            </a:xfrm>
            <a:custGeom>
              <a:rect b="b" l="l" r="r" t="t"/>
              <a:pathLst>
                <a:path extrusionOk="0" h="180338" w="1443136">
                  <a:moveTo>
                    <a:pt x="0" y="0"/>
                  </a:moveTo>
                  <a:lnTo>
                    <a:pt x="1443136" y="0"/>
                  </a:lnTo>
                  <a:lnTo>
                    <a:pt x="1443136" y="180338"/>
                  </a:lnTo>
                  <a:lnTo>
                    <a:pt x="0" y="18033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05" name="Google Shape;105;p2"/>
            <p:cNvSpPr txBox="1"/>
            <p:nvPr/>
          </p:nvSpPr>
          <p:spPr>
            <a:xfrm>
              <a:off x="0" y="-9525"/>
              <a:ext cx="1443136" cy="1898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6" name="Google Shape;106;p2"/>
          <p:cNvSpPr txBox="1"/>
          <p:nvPr/>
        </p:nvSpPr>
        <p:spPr>
          <a:xfrm>
            <a:off x="1259561" y="2047829"/>
            <a:ext cx="10060500" cy="69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M01: 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Text Preprocessing</a:t>
            </a:r>
            <a:endParaRPr b="0" i="0" sz="1400" u="none" cap="none" strike="noStrike">
              <a:solidFill>
                <a:srgbClr val="AEAEA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M02: 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Word and Sentence Embeddings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M03: 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Transformer Architectures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M04: 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Entity-Centric NLP</a:t>
            </a:r>
            <a:endParaRPr b="0" i="0" sz="1400" u="none" cap="none" strike="noStrike">
              <a:solidFill>
                <a:srgbClr val="AEAEA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M05: 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Applied NLP Tasks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M06: 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Multimodal NLP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M07:</a:t>
            </a:r>
            <a:r>
              <a:rPr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LLM </a:t>
            </a:r>
            <a:r>
              <a:rPr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Fundamentals</a:t>
            </a:r>
            <a:endParaRPr i="0" sz="1400" u="none" cap="none" strike="noStrike">
              <a:solidFill>
                <a:srgbClr val="AEAEAE"/>
              </a:solidFill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M08: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Prompt Engineering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i="0" lang="en-US" sz="4123" u="none" cap="none" strike="noStrike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M09: </a:t>
            </a:r>
            <a:r>
              <a:rPr b="1" i="0" lang="en-US" sz="4123" u="none" cap="none" strike="noStrike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Fine-Tuning &amp; PEFT</a:t>
            </a:r>
            <a:endParaRPr b="1" i="0" sz="1400" u="none" cap="none" strike="noStrike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M10: 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RAG &amp; Real-World Projects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84" l="0" r="-56470" t="-52934"/>
            </a:stretch>
          </a:blipFill>
          <a:ln>
            <a:noFill/>
          </a:ln>
        </p:spPr>
      </p:sp>
      <p:sp>
        <p:nvSpPr>
          <p:cNvPr id="113" name="Google Shape;113;p4"/>
          <p:cNvSpPr txBox="1"/>
          <p:nvPr/>
        </p:nvSpPr>
        <p:spPr>
          <a:xfrm>
            <a:off x="1028700" y="2425176"/>
            <a:ext cx="14094300" cy="11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999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44"/>
              <a:buFont typeface="Arial"/>
              <a:buNone/>
            </a:pPr>
            <a:r>
              <a:rPr b="1" i="0" lang="en-US" sz="8944" u="none" cap="none" strike="noStrike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TEXT PREPROCESSING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4"/>
          <p:cNvSpPr txBox="1"/>
          <p:nvPr/>
        </p:nvSpPr>
        <p:spPr>
          <a:xfrm>
            <a:off x="1028700" y="5172770"/>
            <a:ext cx="8518500" cy="7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11"/>
              <a:buFont typeface="Arial"/>
              <a:buNone/>
            </a:pPr>
            <a:r>
              <a:rPr lang="en-US" sz="621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Fine-Tuning &amp; PEFT</a:t>
            </a:r>
            <a:endParaRPr b="0" i="0" sz="621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115" name="Google Shape;115;p4"/>
          <p:cNvGrpSpPr/>
          <p:nvPr/>
        </p:nvGrpSpPr>
        <p:grpSpPr>
          <a:xfrm>
            <a:off x="1028700" y="1028700"/>
            <a:ext cx="5382906" cy="1023288"/>
            <a:chOff x="0" y="0"/>
            <a:chExt cx="1417720" cy="269508"/>
          </a:xfrm>
        </p:grpSpPr>
        <p:sp>
          <p:nvSpPr>
            <p:cNvPr id="116" name="Google Shape;116;p4"/>
            <p:cNvSpPr/>
            <p:nvPr/>
          </p:nvSpPr>
          <p:spPr>
            <a:xfrm>
              <a:off x="0" y="0"/>
              <a:ext cx="1417720" cy="269508"/>
            </a:xfrm>
            <a:custGeom>
              <a:rect b="b" l="l" r="r" t="t"/>
              <a:pathLst>
                <a:path extrusionOk="0" h="269508" w="1417720">
                  <a:moveTo>
                    <a:pt x="0" y="0"/>
                  </a:moveTo>
                  <a:lnTo>
                    <a:pt x="1417720" y="0"/>
                  </a:lnTo>
                  <a:lnTo>
                    <a:pt x="1417720" y="269508"/>
                  </a:lnTo>
                  <a:lnTo>
                    <a:pt x="0" y="26950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17" name="Google Shape;117;p4"/>
            <p:cNvSpPr txBox="1"/>
            <p:nvPr/>
          </p:nvSpPr>
          <p:spPr>
            <a:xfrm>
              <a:off x="0" y="0"/>
              <a:ext cx="1417720" cy="2695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b="1" i="0" lang="en-US" sz="44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MODULE M01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8" name="Google Shape;118;p4"/>
          <p:cNvGrpSpPr/>
          <p:nvPr/>
        </p:nvGrpSpPr>
        <p:grpSpPr>
          <a:xfrm>
            <a:off x="1028700" y="3796780"/>
            <a:ext cx="5382906" cy="1023288"/>
            <a:chOff x="0" y="0"/>
            <a:chExt cx="1417720" cy="269508"/>
          </a:xfrm>
        </p:grpSpPr>
        <p:sp>
          <p:nvSpPr>
            <p:cNvPr id="119" name="Google Shape;119;p4"/>
            <p:cNvSpPr/>
            <p:nvPr/>
          </p:nvSpPr>
          <p:spPr>
            <a:xfrm>
              <a:off x="0" y="0"/>
              <a:ext cx="1417720" cy="269508"/>
            </a:xfrm>
            <a:custGeom>
              <a:rect b="b" l="l" r="r" t="t"/>
              <a:pathLst>
                <a:path extrusionOk="0" h="269508" w="1417720">
                  <a:moveTo>
                    <a:pt x="0" y="0"/>
                  </a:moveTo>
                  <a:lnTo>
                    <a:pt x="1417720" y="0"/>
                  </a:lnTo>
                  <a:lnTo>
                    <a:pt x="1417720" y="269508"/>
                  </a:lnTo>
                  <a:lnTo>
                    <a:pt x="0" y="26950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20" name="Google Shape;120;p4"/>
            <p:cNvSpPr txBox="1"/>
            <p:nvPr/>
          </p:nvSpPr>
          <p:spPr>
            <a:xfrm>
              <a:off x="0" y="0"/>
              <a:ext cx="1417720" cy="2695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b="1" i="0" lang="en-US" sz="44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CHAPTER M0</a:t>
              </a:r>
              <a:r>
                <a:rPr b="1" lang="en-US" sz="44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9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1" name="Google Shape;121;p4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84" l="0" r="-56470" t="-52934"/>
            </a:stretch>
          </a:blipFill>
          <a:ln>
            <a:noFill/>
          </a:ln>
        </p:spPr>
      </p:sp>
      <p:grpSp>
        <p:nvGrpSpPr>
          <p:cNvPr id="127" name="Google Shape;127;p3"/>
          <p:cNvGrpSpPr/>
          <p:nvPr/>
        </p:nvGrpSpPr>
        <p:grpSpPr>
          <a:xfrm>
            <a:off x="1259561" y="710571"/>
            <a:ext cx="3086100" cy="600092"/>
            <a:chOff x="0" y="-9525"/>
            <a:chExt cx="812800" cy="158049"/>
          </a:xfrm>
        </p:grpSpPr>
        <p:sp>
          <p:nvSpPr>
            <p:cNvPr id="128" name="Google Shape;128;p3"/>
            <p:cNvSpPr/>
            <p:nvPr/>
          </p:nvSpPr>
          <p:spPr>
            <a:xfrm>
              <a:off x="0" y="0"/>
              <a:ext cx="812800" cy="148524"/>
            </a:xfrm>
            <a:custGeom>
              <a:rect b="b" l="l" r="r" t="t"/>
              <a:pathLst>
                <a:path extrusionOk="0" h="14852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48524"/>
                  </a:lnTo>
                  <a:lnTo>
                    <a:pt x="0" y="148524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29" name="Google Shape;129;p3"/>
            <p:cNvSpPr txBox="1"/>
            <p:nvPr/>
          </p:nvSpPr>
          <p:spPr>
            <a:xfrm>
              <a:off x="0" y="-9525"/>
              <a:ext cx="812800" cy="1580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1" i="0" lang="en-US" sz="2100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THEORY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0" name="Google Shape;130;p3"/>
          <p:cNvGrpSpPr/>
          <p:nvPr/>
        </p:nvGrpSpPr>
        <p:grpSpPr>
          <a:xfrm>
            <a:off x="1160375" y="2039325"/>
            <a:ext cx="9828004" cy="720872"/>
            <a:chOff x="0" y="-9525"/>
            <a:chExt cx="2404287" cy="189863"/>
          </a:xfrm>
        </p:grpSpPr>
        <p:sp>
          <p:nvSpPr>
            <p:cNvPr id="131" name="Google Shape;131;p3"/>
            <p:cNvSpPr/>
            <p:nvPr/>
          </p:nvSpPr>
          <p:spPr>
            <a:xfrm>
              <a:off x="0" y="0"/>
              <a:ext cx="2404287" cy="180338"/>
            </a:xfrm>
            <a:custGeom>
              <a:rect b="b" l="l" r="r" t="t"/>
              <a:pathLst>
                <a:path extrusionOk="0" h="180338" w="2404287">
                  <a:moveTo>
                    <a:pt x="0" y="0"/>
                  </a:moveTo>
                  <a:lnTo>
                    <a:pt x="2404287" y="0"/>
                  </a:lnTo>
                  <a:lnTo>
                    <a:pt x="2404287" y="180338"/>
                  </a:lnTo>
                  <a:lnTo>
                    <a:pt x="0" y="18033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32" name="Google Shape;132;p3"/>
            <p:cNvSpPr txBox="1"/>
            <p:nvPr/>
          </p:nvSpPr>
          <p:spPr>
            <a:xfrm>
              <a:off x="0" y="-9525"/>
              <a:ext cx="2404287" cy="1898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3" name="Google Shape;133;p3"/>
          <p:cNvSpPr txBox="1"/>
          <p:nvPr/>
        </p:nvSpPr>
        <p:spPr>
          <a:xfrm>
            <a:off x="1259550" y="2047825"/>
            <a:ext cx="15781200" cy="55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9.1 The Need for Efficient Fine-Tuning</a:t>
            </a:r>
            <a:endParaRPr b="1" sz="4123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9.2 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LoRA: Low-Rank Adaptation Mechanics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9.3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QLoRA: Quantization for Parameter Efficiency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9.4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RLHF: Aligning Models with Human Feedback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9.5 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Practical PEFT: A Hands-on Fine-Tuning Project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9.6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Summary and Next Steps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1" sz="4123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1" i="0" sz="4123" u="none" cap="none" strike="noStrike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34" name="Google Shape;134;p3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5" name="Google Shape;135;p3"/>
          <p:cNvSpPr txBox="1"/>
          <p:nvPr/>
        </p:nvSpPr>
        <p:spPr>
          <a:xfrm>
            <a:off x="4595148" y="787651"/>
            <a:ext cx="7371900" cy="5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14"/>
              <a:buFont typeface="Arial"/>
              <a:buNone/>
            </a:pPr>
            <a:r>
              <a:rPr b="1" i="0" lang="en-US" sz="4514" u="none" cap="none" strike="noStrike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Training Program 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93a02a1344_0_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2" l="0" r="-56474" t="-52933"/>
            </a:stretch>
          </a:blipFill>
          <a:ln>
            <a:noFill/>
          </a:ln>
        </p:spPr>
      </p:sp>
      <p:sp>
        <p:nvSpPr>
          <p:cNvPr id="141" name="Google Shape;141;g393a02a1344_0_3"/>
          <p:cNvSpPr txBox="1"/>
          <p:nvPr/>
        </p:nvSpPr>
        <p:spPr>
          <a:xfrm>
            <a:off x="1028700" y="2025600"/>
            <a:ext cx="154287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9.1 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The Need for Efficient Fine-Tuning</a:t>
            </a:r>
            <a:endParaRPr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42" name="Google Shape;142;g393a02a1344_0_3"/>
          <p:cNvSpPr txBox="1"/>
          <p:nvPr/>
        </p:nvSpPr>
        <p:spPr>
          <a:xfrm>
            <a:off x="1028700" y="3040600"/>
            <a:ext cx="7962000" cy="19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Why Full Fine-Tuning No Longer Scales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43" name="Google Shape;143;g393a02a1344_0_3"/>
          <p:cNvSpPr txBox="1"/>
          <p:nvPr/>
        </p:nvSpPr>
        <p:spPr>
          <a:xfrm>
            <a:off x="1394550" y="6478781"/>
            <a:ext cx="7865400" cy="26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Full fine-tuning updates every parameter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70B models exceed realistic VRAM limits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Costs scale linearly with model size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Not viable for most organizations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144" name="Google Shape;144;g393a02a1344_0_3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145" name="Google Shape;145;g393a02a1344_0_3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46" name="Google Shape;146;g393a02a1344_0_3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9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7" name="Google Shape;147;g393a02a1344_0_3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8" name="Google Shape;148;g393a02a1344_0_3"/>
          <p:cNvSpPr txBox="1"/>
          <p:nvPr/>
        </p:nvSpPr>
        <p:spPr>
          <a:xfrm>
            <a:off x="1028700" y="4605725"/>
            <a:ext cx="8042100" cy="13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Modern LLMs are too large to be fully fine-tuned in practical environments. Economic and hardware constraints force a shift toward efficiency-first adaptation strategies.</a:t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149" name="Google Shape;149;g393a02a1344_0_3"/>
          <p:cNvGrpSpPr/>
          <p:nvPr/>
        </p:nvGrpSpPr>
        <p:grpSpPr>
          <a:xfrm>
            <a:off x="906800" y="6480978"/>
            <a:ext cx="259162" cy="400015"/>
            <a:chOff x="0" y="0"/>
            <a:chExt cx="80174" cy="123748"/>
          </a:xfrm>
        </p:grpSpPr>
        <p:sp>
          <p:nvSpPr>
            <p:cNvPr id="150" name="Google Shape;150;g393a02a1344_0_3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51" name="Google Shape;151;g393a02a1344_0_3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2" name="Google Shape;152;g393a02a1344_0_3"/>
          <p:cNvGrpSpPr/>
          <p:nvPr/>
        </p:nvGrpSpPr>
        <p:grpSpPr>
          <a:xfrm>
            <a:off x="889323" y="7124134"/>
            <a:ext cx="259162" cy="400015"/>
            <a:chOff x="0" y="0"/>
            <a:chExt cx="80174" cy="123748"/>
          </a:xfrm>
        </p:grpSpPr>
        <p:sp>
          <p:nvSpPr>
            <p:cNvPr id="153" name="Google Shape;153;g393a02a1344_0_3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54" name="Google Shape;154;g393a02a1344_0_3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5" name="Google Shape;155;g393a02a1344_0_3"/>
          <p:cNvGrpSpPr/>
          <p:nvPr/>
        </p:nvGrpSpPr>
        <p:grpSpPr>
          <a:xfrm>
            <a:off x="890721" y="7786165"/>
            <a:ext cx="259162" cy="400015"/>
            <a:chOff x="0" y="0"/>
            <a:chExt cx="80174" cy="123748"/>
          </a:xfrm>
        </p:grpSpPr>
        <p:sp>
          <p:nvSpPr>
            <p:cNvPr id="156" name="Google Shape;156;g393a02a1344_0_3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57" name="Google Shape;157;g393a02a1344_0_3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8" name="Google Shape;158;g393a02a1344_0_3"/>
          <p:cNvGrpSpPr/>
          <p:nvPr/>
        </p:nvGrpSpPr>
        <p:grpSpPr>
          <a:xfrm>
            <a:off x="906800" y="8448203"/>
            <a:ext cx="259162" cy="400015"/>
            <a:chOff x="0" y="0"/>
            <a:chExt cx="80174" cy="123748"/>
          </a:xfrm>
        </p:grpSpPr>
        <p:sp>
          <p:nvSpPr>
            <p:cNvPr id="159" name="Google Shape;159;g393a02a1344_0_3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60" name="Google Shape;160;g393a02a1344_0_3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61" name="Google Shape;161;g393a02a1344_0_3" title="Why Full Fine-Tuning No Longer Scales - visual selection.png"/>
          <p:cNvPicPr preferRelativeResize="0"/>
          <p:nvPr/>
        </p:nvPicPr>
        <p:blipFill rotWithShape="1">
          <a:blip r:embed="rId5">
            <a:alphaModFix/>
          </a:blip>
          <a:srcRect b="7501" l="0" r="0" t="0"/>
          <a:stretch/>
        </p:blipFill>
        <p:spPr>
          <a:xfrm>
            <a:off x="10628800" y="3164224"/>
            <a:ext cx="6630500" cy="4202350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699a7b086_1_1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8" l="0" r="-56479" t="-52927"/>
            </a:stretch>
          </a:blipFill>
          <a:ln>
            <a:noFill/>
          </a:ln>
        </p:spPr>
      </p:sp>
      <p:sp>
        <p:nvSpPr>
          <p:cNvPr id="167" name="Google Shape;167;g3c699a7b086_1_16"/>
          <p:cNvSpPr txBox="1"/>
          <p:nvPr/>
        </p:nvSpPr>
        <p:spPr>
          <a:xfrm>
            <a:off x="1028700" y="2025600"/>
            <a:ext cx="154287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9.1 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The Need for Efficient Fine-Tuning</a:t>
            </a:r>
            <a:endParaRPr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68" name="Google Shape;168;g3c699a7b086_1_16"/>
          <p:cNvSpPr txBox="1"/>
          <p:nvPr/>
        </p:nvSpPr>
        <p:spPr>
          <a:xfrm>
            <a:off x="1028700" y="3040600"/>
            <a:ext cx="9504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The VRAM Bottleneck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69" name="Google Shape;169;g3c699a7b086_1_16"/>
          <p:cNvSpPr txBox="1"/>
          <p:nvPr/>
        </p:nvSpPr>
        <p:spPr>
          <a:xfrm>
            <a:off x="1344660" y="5159706"/>
            <a:ext cx="7865400" cy="26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Full fine-tuning updates every parameter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70B models exceed realistic VRAM limits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Costs scale linearly with model size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Not viable for most organizations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170" name="Google Shape;170;g3c699a7b086_1_16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171" name="Google Shape;171;g3c699a7b086_1_16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72" name="Google Shape;172;g3c699a7b086_1_16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9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3" name="Google Shape;173;g3c699a7b086_1_16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4" name="Google Shape;174;g3c699a7b086_1_16"/>
          <p:cNvSpPr txBox="1"/>
          <p:nvPr/>
        </p:nvSpPr>
        <p:spPr>
          <a:xfrm>
            <a:off x="889325" y="3904875"/>
            <a:ext cx="8139900" cy="10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Training requires far more memory than inference due to gradients, optimizer states, and activations.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175" name="Google Shape;175;g3c699a7b086_1_16"/>
          <p:cNvGrpSpPr/>
          <p:nvPr/>
        </p:nvGrpSpPr>
        <p:grpSpPr>
          <a:xfrm>
            <a:off x="905738" y="5121953"/>
            <a:ext cx="259162" cy="400015"/>
            <a:chOff x="0" y="0"/>
            <a:chExt cx="80174" cy="123748"/>
          </a:xfrm>
        </p:grpSpPr>
        <p:sp>
          <p:nvSpPr>
            <p:cNvPr id="176" name="Google Shape;176;g3c699a7b086_1_16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77" name="Google Shape;177;g3c699a7b086_1_16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8" name="Google Shape;178;g3c699a7b086_1_16"/>
          <p:cNvGrpSpPr/>
          <p:nvPr/>
        </p:nvGrpSpPr>
        <p:grpSpPr>
          <a:xfrm>
            <a:off x="888260" y="5765109"/>
            <a:ext cx="259162" cy="400015"/>
            <a:chOff x="0" y="0"/>
            <a:chExt cx="80174" cy="123748"/>
          </a:xfrm>
        </p:grpSpPr>
        <p:sp>
          <p:nvSpPr>
            <p:cNvPr id="179" name="Google Shape;179;g3c699a7b086_1_16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80" name="Google Shape;180;g3c699a7b086_1_16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1" name="Google Shape;181;g3c699a7b086_1_16"/>
          <p:cNvGrpSpPr/>
          <p:nvPr/>
        </p:nvGrpSpPr>
        <p:grpSpPr>
          <a:xfrm>
            <a:off x="889659" y="6427140"/>
            <a:ext cx="259162" cy="400015"/>
            <a:chOff x="0" y="0"/>
            <a:chExt cx="80174" cy="123748"/>
          </a:xfrm>
        </p:grpSpPr>
        <p:sp>
          <p:nvSpPr>
            <p:cNvPr id="182" name="Google Shape;182;g3c699a7b086_1_16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83" name="Google Shape;183;g3c699a7b086_1_16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4" name="Google Shape;184;g3c699a7b086_1_16"/>
          <p:cNvGrpSpPr/>
          <p:nvPr/>
        </p:nvGrpSpPr>
        <p:grpSpPr>
          <a:xfrm>
            <a:off x="905738" y="7089178"/>
            <a:ext cx="259162" cy="400015"/>
            <a:chOff x="0" y="0"/>
            <a:chExt cx="80174" cy="123748"/>
          </a:xfrm>
        </p:grpSpPr>
        <p:sp>
          <p:nvSpPr>
            <p:cNvPr id="185" name="Google Shape;185;g3c699a7b086_1_16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86" name="Google Shape;186;g3c699a7b086_1_16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87" name="Google Shape;187;g3c699a7b086_1_16" title="ChatGPT Image 5 feb 2026, 14_57_0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533600" y="3178584"/>
            <a:ext cx="6725699" cy="4483791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c699a7b086_1_4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8" l="0" r="-56479" t="-52927"/>
            </a:stretch>
          </a:blipFill>
          <a:ln>
            <a:noFill/>
          </a:ln>
        </p:spPr>
      </p:sp>
      <p:sp>
        <p:nvSpPr>
          <p:cNvPr id="193" name="Google Shape;193;g3c699a7b086_1_42"/>
          <p:cNvSpPr txBox="1"/>
          <p:nvPr/>
        </p:nvSpPr>
        <p:spPr>
          <a:xfrm>
            <a:off x="1028700" y="2025600"/>
            <a:ext cx="154287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9.1 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The Need for Efficient Fine-Tuning</a:t>
            </a:r>
            <a:endParaRPr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94" name="Google Shape;194;g3c699a7b086_1_42"/>
          <p:cNvSpPr txBox="1"/>
          <p:nvPr/>
        </p:nvSpPr>
        <p:spPr>
          <a:xfrm>
            <a:off x="1028700" y="3040600"/>
            <a:ext cx="9504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Catastrophic Forgetting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95" name="Google Shape;195;g3c699a7b086_1_42"/>
          <p:cNvSpPr txBox="1"/>
          <p:nvPr/>
        </p:nvSpPr>
        <p:spPr>
          <a:xfrm>
            <a:off x="1380911" y="5159706"/>
            <a:ext cx="7865400" cy="30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Model overwrites prior knowledge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Loss of instruction-following skills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Reduced generalization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Especially risky with small datasets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196" name="Google Shape;196;g3c699a7b086_1_42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197" name="Google Shape;197;g3c699a7b086_1_42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98" name="Google Shape;198;g3c699a7b086_1_42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9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9" name="Google Shape;199;g3c699a7b086_1_42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0" name="Google Shape;200;g3c699a7b086_1_42"/>
          <p:cNvSpPr txBox="1"/>
          <p:nvPr/>
        </p:nvSpPr>
        <p:spPr>
          <a:xfrm>
            <a:off x="889325" y="3904875"/>
            <a:ext cx="8139900" cy="10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Aggressive fine-tuning on narrow datasets can erase general reasoning abilities.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201" name="Google Shape;201;g3c699a7b086_1_42"/>
          <p:cNvGrpSpPr/>
          <p:nvPr/>
        </p:nvGrpSpPr>
        <p:grpSpPr>
          <a:xfrm>
            <a:off x="905738" y="5121953"/>
            <a:ext cx="259162" cy="400015"/>
            <a:chOff x="0" y="0"/>
            <a:chExt cx="80174" cy="123748"/>
          </a:xfrm>
        </p:grpSpPr>
        <p:sp>
          <p:nvSpPr>
            <p:cNvPr id="202" name="Google Shape;202;g3c699a7b086_1_42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03" name="Google Shape;203;g3c699a7b086_1_42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4" name="Google Shape;204;g3c699a7b086_1_42"/>
          <p:cNvGrpSpPr/>
          <p:nvPr/>
        </p:nvGrpSpPr>
        <p:grpSpPr>
          <a:xfrm>
            <a:off x="888260" y="5765109"/>
            <a:ext cx="259162" cy="400015"/>
            <a:chOff x="0" y="0"/>
            <a:chExt cx="80174" cy="123748"/>
          </a:xfrm>
        </p:grpSpPr>
        <p:sp>
          <p:nvSpPr>
            <p:cNvPr id="205" name="Google Shape;205;g3c699a7b086_1_42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06" name="Google Shape;206;g3c699a7b086_1_42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7" name="Google Shape;207;g3c699a7b086_1_42"/>
          <p:cNvGrpSpPr/>
          <p:nvPr/>
        </p:nvGrpSpPr>
        <p:grpSpPr>
          <a:xfrm>
            <a:off x="889659" y="6427140"/>
            <a:ext cx="259162" cy="400015"/>
            <a:chOff x="0" y="0"/>
            <a:chExt cx="80174" cy="123748"/>
          </a:xfrm>
        </p:grpSpPr>
        <p:sp>
          <p:nvSpPr>
            <p:cNvPr id="208" name="Google Shape;208;g3c699a7b086_1_42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09" name="Google Shape;209;g3c699a7b086_1_42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0" name="Google Shape;210;g3c699a7b086_1_42"/>
          <p:cNvGrpSpPr/>
          <p:nvPr/>
        </p:nvGrpSpPr>
        <p:grpSpPr>
          <a:xfrm>
            <a:off x="905738" y="7089178"/>
            <a:ext cx="259162" cy="400015"/>
            <a:chOff x="0" y="0"/>
            <a:chExt cx="80174" cy="123748"/>
          </a:xfrm>
        </p:grpSpPr>
        <p:sp>
          <p:nvSpPr>
            <p:cNvPr id="211" name="Google Shape;211;g3c699a7b086_1_42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12" name="Google Shape;212;g3c699a7b086_1_42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13" name="Google Shape;213;g3c699a7b086_1_42" title="_- visual selection (5).png"/>
          <p:cNvPicPr preferRelativeResize="0"/>
          <p:nvPr/>
        </p:nvPicPr>
        <p:blipFill rotWithShape="1">
          <a:blip r:embed="rId5">
            <a:alphaModFix/>
          </a:blip>
          <a:srcRect b="7866" l="0" r="3053" t="7084"/>
          <a:stretch/>
        </p:blipFill>
        <p:spPr>
          <a:xfrm>
            <a:off x="11567600" y="3172275"/>
            <a:ext cx="5691700" cy="4666300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c699a7b086_1_6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8" l="0" r="-56479" t="-52927"/>
            </a:stretch>
          </a:blipFill>
          <a:ln>
            <a:noFill/>
          </a:ln>
        </p:spPr>
      </p:sp>
      <p:sp>
        <p:nvSpPr>
          <p:cNvPr id="219" name="Google Shape;219;g3c699a7b086_1_68"/>
          <p:cNvSpPr txBox="1"/>
          <p:nvPr/>
        </p:nvSpPr>
        <p:spPr>
          <a:xfrm>
            <a:off x="1028700" y="2025600"/>
            <a:ext cx="154287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9.1 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The Need for Efficient Fine-Tuning</a:t>
            </a:r>
            <a:endParaRPr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20" name="Google Shape;220;g3c699a7b086_1_68"/>
          <p:cNvSpPr txBox="1"/>
          <p:nvPr/>
        </p:nvSpPr>
        <p:spPr>
          <a:xfrm>
            <a:off x="1028700" y="3040600"/>
            <a:ext cx="9504900" cy="13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Why PEFT Became the Standard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21" name="Google Shape;221;g3c699a7b086_1_68"/>
          <p:cNvSpPr txBox="1"/>
          <p:nvPr/>
        </p:nvSpPr>
        <p:spPr>
          <a:xfrm>
            <a:off x="1183763" y="5121956"/>
            <a:ext cx="7865400" cy="3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90–95% VRAM reduction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Preserves general intelligence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Enables fast experimentation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Ideal for domain adaptation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222" name="Google Shape;222;g3c699a7b086_1_68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223" name="Google Shape;223;g3c699a7b086_1_68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24" name="Google Shape;224;g3c699a7b086_1_68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9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5" name="Google Shape;225;g3c699a7b086_1_68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6" name="Google Shape;226;g3c699a7b086_1_68"/>
          <p:cNvSpPr txBox="1"/>
          <p:nvPr/>
        </p:nvSpPr>
        <p:spPr>
          <a:xfrm>
            <a:off x="889325" y="3904875"/>
            <a:ext cx="8139900" cy="10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PEFT freezes the base model and trains only a small number of new parameters.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227" name="Google Shape;227;g3c699a7b086_1_68"/>
          <p:cNvGrpSpPr/>
          <p:nvPr/>
        </p:nvGrpSpPr>
        <p:grpSpPr>
          <a:xfrm>
            <a:off x="905738" y="5121953"/>
            <a:ext cx="259162" cy="400015"/>
            <a:chOff x="0" y="0"/>
            <a:chExt cx="80174" cy="123748"/>
          </a:xfrm>
        </p:grpSpPr>
        <p:sp>
          <p:nvSpPr>
            <p:cNvPr id="228" name="Google Shape;228;g3c699a7b086_1_68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29" name="Google Shape;229;g3c699a7b086_1_68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0" name="Google Shape;230;g3c699a7b086_1_68"/>
          <p:cNvGrpSpPr/>
          <p:nvPr/>
        </p:nvGrpSpPr>
        <p:grpSpPr>
          <a:xfrm>
            <a:off x="888260" y="5765109"/>
            <a:ext cx="259162" cy="400015"/>
            <a:chOff x="0" y="0"/>
            <a:chExt cx="80174" cy="123748"/>
          </a:xfrm>
        </p:grpSpPr>
        <p:sp>
          <p:nvSpPr>
            <p:cNvPr id="231" name="Google Shape;231;g3c699a7b086_1_68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32" name="Google Shape;232;g3c699a7b086_1_68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3" name="Google Shape;233;g3c699a7b086_1_68"/>
          <p:cNvGrpSpPr/>
          <p:nvPr/>
        </p:nvGrpSpPr>
        <p:grpSpPr>
          <a:xfrm>
            <a:off x="889659" y="6427140"/>
            <a:ext cx="259162" cy="400015"/>
            <a:chOff x="0" y="0"/>
            <a:chExt cx="80174" cy="123748"/>
          </a:xfrm>
        </p:grpSpPr>
        <p:sp>
          <p:nvSpPr>
            <p:cNvPr id="234" name="Google Shape;234;g3c699a7b086_1_68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35" name="Google Shape;235;g3c699a7b086_1_68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6" name="Google Shape;236;g3c699a7b086_1_68"/>
          <p:cNvGrpSpPr/>
          <p:nvPr/>
        </p:nvGrpSpPr>
        <p:grpSpPr>
          <a:xfrm>
            <a:off x="905738" y="7089178"/>
            <a:ext cx="259162" cy="400015"/>
            <a:chOff x="0" y="0"/>
            <a:chExt cx="80174" cy="123748"/>
          </a:xfrm>
        </p:grpSpPr>
        <p:sp>
          <p:nvSpPr>
            <p:cNvPr id="237" name="Google Shape;237;g3c699a7b086_1_68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38" name="Google Shape;238;g3c699a7b086_1_68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39" name="Google Shape;239;g3c699a7b086_1_68" title="ChatGPT Image 5 feb 2026, 14_59_28.png"/>
          <p:cNvPicPr preferRelativeResize="0"/>
          <p:nvPr/>
        </p:nvPicPr>
        <p:blipFill rotWithShape="1">
          <a:blip r:embed="rId5">
            <a:alphaModFix/>
          </a:blip>
          <a:srcRect b="0" l="20641" r="0" t="0"/>
          <a:stretch/>
        </p:blipFill>
        <p:spPr>
          <a:xfrm>
            <a:off x="10848625" y="3127013"/>
            <a:ext cx="4800799" cy="4032975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c699a7b086_1_11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67" t="-52937"/>
            </a:stretch>
          </a:blipFill>
          <a:ln>
            <a:noFill/>
          </a:ln>
        </p:spPr>
      </p:sp>
      <p:grpSp>
        <p:nvGrpSpPr>
          <p:cNvPr id="245" name="Google Shape;245;g3c699a7b086_1_119"/>
          <p:cNvGrpSpPr/>
          <p:nvPr/>
        </p:nvGrpSpPr>
        <p:grpSpPr>
          <a:xfrm>
            <a:off x="1259561" y="710571"/>
            <a:ext cx="3086120" cy="600290"/>
            <a:chOff x="0" y="-9525"/>
            <a:chExt cx="812800" cy="158100"/>
          </a:xfrm>
        </p:grpSpPr>
        <p:sp>
          <p:nvSpPr>
            <p:cNvPr id="246" name="Google Shape;246;g3c699a7b086_1_119"/>
            <p:cNvSpPr/>
            <p:nvPr/>
          </p:nvSpPr>
          <p:spPr>
            <a:xfrm>
              <a:off x="0" y="0"/>
              <a:ext cx="812800" cy="148524"/>
            </a:xfrm>
            <a:custGeom>
              <a:rect b="b" l="l" r="r" t="t"/>
              <a:pathLst>
                <a:path extrusionOk="0" h="14852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48524"/>
                  </a:lnTo>
                  <a:lnTo>
                    <a:pt x="0" y="148524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47" name="Google Shape;247;g3c699a7b086_1_119"/>
            <p:cNvSpPr txBox="1"/>
            <p:nvPr/>
          </p:nvSpPr>
          <p:spPr>
            <a:xfrm>
              <a:off x="0" y="-9525"/>
              <a:ext cx="812700" cy="15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1" i="0" lang="en-US" sz="2100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THEORY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8" name="Google Shape;248;g3c699a7b086_1_119"/>
          <p:cNvGrpSpPr/>
          <p:nvPr/>
        </p:nvGrpSpPr>
        <p:grpSpPr>
          <a:xfrm>
            <a:off x="1160375" y="2737709"/>
            <a:ext cx="12645588" cy="721012"/>
            <a:chOff x="0" y="-9525"/>
            <a:chExt cx="2404287" cy="189900"/>
          </a:xfrm>
        </p:grpSpPr>
        <p:sp>
          <p:nvSpPr>
            <p:cNvPr id="249" name="Google Shape;249;g3c699a7b086_1_119"/>
            <p:cNvSpPr/>
            <p:nvPr/>
          </p:nvSpPr>
          <p:spPr>
            <a:xfrm>
              <a:off x="0" y="0"/>
              <a:ext cx="2404287" cy="180338"/>
            </a:xfrm>
            <a:custGeom>
              <a:rect b="b" l="l" r="r" t="t"/>
              <a:pathLst>
                <a:path extrusionOk="0" h="180338" w="2404287">
                  <a:moveTo>
                    <a:pt x="0" y="0"/>
                  </a:moveTo>
                  <a:lnTo>
                    <a:pt x="2404287" y="0"/>
                  </a:lnTo>
                  <a:lnTo>
                    <a:pt x="2404287" y="180338"/>
                  </a:lnTo>
                  <a:lnTo>
                    <a:pt x="0" y="18033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50" name="Google Shape;250;g3c699a7b086_1_119"/>
            <p:cNvSpPr txBox="1"/>
            <p:nvPr/>
          </p:nvSpPr>
          <p:spPr>
            <a:xfrm>
              <a:off x="0" y="-9525"/>
              <a:ext cx="2404200" cy="18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1" name="Google Shape;251;g3c699a7b086_1_119"/>
          <p:cNvSpPr txBox="1"/>
          <p:nvPr/>
        </p:nvSpPr>
        <p:spPr>
          <a:xfrm>
            <a:off x="1259550" y="2047825"/>
            <a:ext cx="15781200" cy="55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9.</a:t>
            </a: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1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The Need for Efficient Fine-Tuning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9.2 LoRA: Low-Rank Adaptation </a:t>
            </a:r>
            <a:r>
              <a:rPr b="1" lang="en-US" sz="4123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Mechanics</a:t>
            </a:r>
            <a:endParaRPr b="1" sz="4123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9.3 QLoRA: Quantization for Parameter Efficiency</a:t>
            </a:r>
            <a:endParaRPr b="1"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9.4 RLHF: Aligning Models with Human Feedback</a:t>
            </a:r>
            <a:endParaRPr b="1"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9.5 Practical PEFT: A Hands-on Fine-Tuning Project</a:t>
            </a:r>
            <a:endParaRPr b="1"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9.6 Summary and Next Steps</a:t>
            </a:r>
            <a:endParaRPr b="1"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1" sz="4123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1" i="0" sz="4123" u="none" cap="none" strike="noStrike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52" name="Google Shape;252;g3c699a7b086_1_119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3" name="Google Shape;253;g3c699a7b086_1_119"/>
          <p:cNvSpPr txBox="1"/>
          <p:nvPr/>
        </p:nvSpPr>
        <p:spPr>
          <a:xfrm>
            <a:off x="4595148" y="787651"/>
            <a:ext cx="7371900" cy="5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14"/>
              <a:buFont typeface="Arial"/>
              <a:buNone/>
            </a:pPr>
            <a:r>
              <a:rPr b="1" i="0" lang="en-US" sz="4514" u="none" cap="none" strike="noStrike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Training Program 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c699a7b086_1_13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8" l="0" r="-56479" t="-52927"/>
            </a:stretch>
          </a:blipFill>
          <a:ln>
            <a:noFill/>
          </a:ln>
        </p:spPr>
      </p:sp>
      <p:sp>
        <p:nvSpPr>
          <p:cNvPr id="259" name="Google Shape;259;g3c699a7b086_1_132"/>
          <p:cNvSpPr txBox="1"/>
          <p:nvPr/>
        </p:nvSpPr>
        <p:spPr>
          <a:xfrm>
            <a:off x="1028700" y="2025600"/>
            <a:ext cx="15428700" cy="13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9.2 LoRA: Low-Rank Adaptation Mechanics</a:t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60" name="Google Shape;260;g3c699a7b086_1_132"/>
          <p:cNvSpPr txBox="1"/>
          <p:nvPr/>
        </p:nvSpPr>
        <p:spPr>
          <a:xfrm>
            <a:off x="1028700" y="3040600"/>
            <a:ext cx="9504900" cy="13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The Core Idea of LoRA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61" name="Google Shape;261;g3c699a7b086_1_132"/>
          <p:cNvSpPr txBox="1"/>
          <p:nvPr/>
        </p:nvSpPr>
        <p:spPr>
          <a:xfrm>
            <a:off x="1164888" y="4178186"/>
            <a:ext cx="7865400" cy="47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LoRA assumes task-specific updates live in a low-dimensional subspace.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Weight updates are low-rank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No need to modify full matrices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Efficient and expressive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Minimal disruption to base model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262" name="Google Shape;262;g3c699a7b086_1_132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263" name="Google Shape;263;g3c699a7b086_1_132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64" name="Google Shape;264;g3c699a7b086_1_132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9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5" name="Google Shape;265;g3c699a7b086_1_132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66" name="Google Shape;266;g3c699a7b086_1_132"/>
          <p:cNvGrpSpPr/>
          <p:nvPr/>
        </p:nvGrpSpPr>
        <p:grpSpPr>
          <a:xfrm>
            <a:off x="905738" y="5121953"/>
            <a:ext cx="259162" cy="400015"/>
            <a:chOff x="0" y="0"/>
            <a:chExt cx="80174" cy="123748"/>
          </a:xfrm>
        </p:grpSpPr>
        <p:sp>
          <p:nvSpPr>
            <p:cNvPr id="267" name="Google Shape;267;g3c699a7b086_1_132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68" name="Google Shape;268;g3c699a7b086_1_132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9" name="Google Shape;269;g3c699a7b086_1_132"/>
          <p:cNvGrpSpPr/>
          <p:nvPr/>
        </p:nvGrpSpPr>
        <p:grpSpPr>
          <a:xfrm>
            <a:off x="888260" y="5765109"/>
            <a:ext cx="259162" cy="400015"/>
            <a:chOff x="0" y="0"/>
            <a:chExt cx="80174" cy="123748"/>
          </a:xfrm>
        </p:grpSpPr>
        <p:sp>
          <p:nvSpPr>
            <p:cNvPr id="270" name="Google Shape;270;g3c699a7b086_1_132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71" name="Google Shape;271;g3c699a7b086_1_132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2" name="Google Shape;272;g3c699a7b086_1_132"/>
          <p:cNvGrpSpPr/>
          <p:nvPr/>
        </p:nvGrpSpPr>
        <p:grpSpPr>
          <a:xfrm>
            <a:off x="889659" y="6427140"/>
            <a:ext cx="259162" cy="400015"/>
            <a:chOff x="0" y="0"/>
            <a:chExt cx="80174" cy="123748"/>
          </a:xfrm>
        </p:grpSpPr>
        <p:sp>
          <p:nvSpPr>
            <p:cNvPr id="273" name="Google Shape;273;g3c699a7b086_1_132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74" name="Google Shape;274;g3c699a7b086_1_132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5" name="Google Shape;275;g3c699a7b086_1_132"/>
          <p:cNvGrpSpPr/>
          <p:nvPr/>
        </p:nvGrpSpPr>
        <p:grpSpPr>
          <a:xfrm>
            <a:off x="905738" y="7089178"/>
            <a:ext cx="259162" cy="400015"/>
            <a:chOff x="0" y="0"/>
            <a:chExt cx="80174" cy="123748"/>
          </a:xfrm>
        </p:grpSpPr>
        <p:sp>
          <p:nvSpPr>
            <p:cNvPr id="276" name="Google Shape;276;g3c699a7b086_1_132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77" name="Google Shape;277;g3c699a7b086_1_132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78" name="Google Shape;278;g3c699a7b086_1_132" title="The Core Idea of LoRA - visual selection.png"/>
          <p:cNvPicPr preferRelativeResize="0"/>
          <p:nvPr/>
        </p:nvPicPr>
        <p:blipFill rotWithShape="1">
          <a:blip r:embed="rId5">
            <a:alphaModFix/>
          </a:blip>
          <a:srcRect b="9665" l="0" r="0" t="0"/>
          <a:stretch/>
        </p:blipFill>
        <p:spPr>
          <a:xfrm>
            <a:off x="8498104" y="3344105"/>
            <a:ext cx="7339446" cy="3755650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c699a7b086_1_15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8" l="0" r="-56479" t="-52927"/>
            </a:stretch>
          </a:blipFill>
          <a:ln>
            <a:noFill/>
          </a:ln>
        </p:spPr>
      </p:sp>
      <p:sp>
        <p:nvSpPr>
          <p:cNvPr id="284" name="Google Shape;284;g3c699a7b086_1_158"/>
          <p:cNvSpPr txBox="1"/>
          <p:nvPr/>
        </p:nvSpPr>
        <p:spPr>
          <a:xfrm>
            <a:off x="1028700" y="2025600"/>
            <a:ext cx="15428700" cy="13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9.2 LoRA: Low-Rank Adaptation Mechanics</a:t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85" name="Google Shape;285;g3c699a7b086_1_158"/>
          <p:cNvSpPr txBox="1"/>
          <p:nvPr/>
        </p:nvSpPr>
        <p:spPr>
          <a:xfrm>
            <a:off x="1028700" y="3040600"/>
            <a:ext cx="9504900" cy="19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The Core Idea of LoR</a:t>
            </a: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A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86" name="Google Shape;286;g3c699a7b086_1_158"/>
          <p:cNvSpPr txBox="1"/>
          <p:nvPr/>
        </p:nvSpPr>
        <p:spPr>
          <a:xfrm>
            <a:off x="1164888" y="4178186"/>
            <a:ext cx="7865400" cy="47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Instead of updating W, LoRA adds a parallel low-rank path.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W remains frozen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ΔW = B · A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Bottleneck enforces efficiency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Adapter path merged at inference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287" name="Google Shape;287;g3c699a7b086_1_158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288" name="Google Shape;288;g3c699a7b086_1_158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89" name="Google Shape;289;g3c699a7b086_1_158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9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0" name="Google Shape;290;g3c699a7b086_1_158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91" name="Google Shape;291;g3c699a7b086_1_158"/>
          <p:cNvGrpSpPr/>
          <p:nvPr/>
        </p:nvGrpSpPr>
        <p:grpSpPr>
          <a:xfrm>
            <a:off x="905738" y="5121953"/>
            <a:ext cx="259162" cy="400015"/>
            <a:chOff x="0" y="0"/>
            <a:chExt cx="80174" cy="123748"/>
          </a:xfrm>
        </p:grpSpPr>
        <p:sp>
          <p:nvSpPr>
            <p:cNvPr id="292" name="Google Shape;292;g3c699a7b086_1_158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93" name="Google Shape;293;g3c699a7b086_1_158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4" name="Google Shape;294;g3c699a7b086_1_158"/>
          <p:cNvGrpSpPr/>
          <p:nvPr/>
        </p:nvGrpSpPr>
        <p:grpSpPr>
          <a:xfrm>
            <a:off x="888260" y="5765109"/>
            <a:ext cx="259162" cy="400015"/>
            <a:chOff x="0" y="0"/>
            <a:chExt cx="80174" cy="123748"/>
          </a:xfrm>
        </p:grpSpPr>
        <p:sp>
          <p:nvSpPr>
            <p:cNvPr id="295" name="Google Shape;295;g3c699a7b086_1_158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96" name="Google Shape;296;g3c699a7b086_1_158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7" name="Google Shape;297;g3c699a7b086_1_158"/>
          <p:cNvGrpSpPr/>
          <p:nvPr/>
        </p:nvGrpSpPr>
        <p:grpSpPr>
          <a:xfrm>
            <a:off x="889659" y="6427140"/>
            <a:ext cx="259162" cy="400015"/>
            <a:chOff x="0" y="0"/>
            <a:chExt cx="80174" cy="123748"/>
          </a:xfrm>
        </p:grpSpPr>
        <p:sp>
          <p:nvSpPr>
            <p:cNvPr id="298" name="Google Shape;298;g3c699a7b086_1_158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99" name="Google Shape;299;g3c699a7b086_1_158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0" name="Google Shape;300;g3c699a7b086_1_158"/>
          <p:cNvGrpSpPr/>
          <p:nvPr/>
        </p:nvGrpSpPr>
        <p:grpSpPr>
          <a:xfrm>
            <a:off x="905738" y="7089178"/>
            <a:ext cx="259162" cy="400015"/>
            <a:chOff x="0" y="0"/>
            <a:chExt cx="80174" cy="123748"/>
          </a:xfrm>
        </p:grpSpPr>
        <p:sp>
          <p:nvSpPr>
            <p:cNvPr id="301" name="Google Shape;301;g3c699a7b086_1_158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02" name="Google Shape;302;g3c699a7b086_1_158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3" name="Google Shape;303;g3c699a7b086_1_158" title="ChatGPT Image 5 feb 2026, 15_07_42.png"/>
          <p:cNvPicPr preferRelativeResize="0"/>
          <p:nvPr/>
        </p:nvPicPr>
        <p:blipFill rotWithShape="1">
          <a:blip r:embed="rId5">
            <a:alphaModFix/>
          </a:blip>
          <a:srcRect b="16310" l="13397" r="10568" t="0"/>
          <a:stretch/>
        </p:blipFill>
        <p:spPr>
          <a:xfrm>
            <a:off x="10169100" y="3087875"/>
            <a:ext cx="5998644" cy="4401326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c699a7b086_1_18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8" l="0" r="-56479" t="-52927"/>
            </a:stretch>
          </a:blipFill>
          <a:ln>
            <a:noFill/>
          </a:ln>
        </p:spPr>
      </p:sp>
      <p:sp>
        <p:nvSpPr>
          <p:cNvPr id="309" name="Google Shape;309;g3c699a7b086_1_183"/>
          <p:cNvSpPr txBox="1"/>
          <p:nvPr/>
        </p:nvSpPr>
        <p:spPr>
          <a:xfrm>
            <a:off x="1028700" y="2025600"/>
            <a:ext cx="15428700" cy="13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9.2 LoRA: Low-Rank Adaptation Mechanics</a:t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10" name="Google Shape;310;g3c699a7b086_1_183"/>
          <p:cNvSpPr txBox="1"/>
          <p:nvPr/>
        </p:nvSpPr>
        <p:spPr>
          <a:xfrm>
            <a:off x="1028700" y="3040600"/>
            <a:ext cx="9504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Rank and Alpha Trade-off</a:t>
            </a: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s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11" name="Google Shape;311;g3c699a7b086_1_183"/>
          <p:cNvSpPr txBox="1"/>
          <p:nvPr/>
        </p:nvSpPr>
        <p:spPr>
          <a:xfrm>
            <a:off x="1164888" y="4178186"/>
            <a:ext cx="7865400" cy="43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LoRA performance depends on careful hyperparameter selection.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Rank controls capacity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Alpha controls update strength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Higher ≠ always better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Typical r: 8–32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312" name="Google Shape;312;g3c699a7b086_1_183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313" name="Google Shape;313;g3c699a7b086_1_183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14" name="Google Shape;314;g3c699a7b086_1_183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9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5" name="Google Shape;315;g3c699a7b086_1_183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16" name="Google Shape;316;g3c699a7b086_1_183"/>
          <p:cNvGrpSpPr/>
          <p:nvPr/>
        </p:nvGrpSpPr>
        <p:grpSpPr>
          <a:xfrm>
            <a:off x="905738" y="5121953"/>
            <a:ext cx="259162" cy="400015"/>
            <a:chOff x="0" y="0"/>
            <a:chExt cx="80174" cy="123748"/>
          </a:xfrm>
        </p:grpSpPr>
        <p:sp>
          <p:nvSpPr>
            <p:cNvPr id="317" name="Google Shape;317;g3c699a7b086_1_183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18" name="Google Shape;318;g3c699a7b086_1_183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9" name="Google Shape;319;g3c699a7b086_1_183"/>
          <p:cNvGrpSpPr/>
          <p:nvPr/>
        </p:nvGrpSpPr>
        <p:grpSpPr>
          <a:xfrm>
            <a:off x="888260" y="5765109"/>
            <a:ext cx="259162" cy="400015"/>
            <a:chOff x="0" y="0"/>
            <a:chExt cx="80174" cy="123748"/>
          </a:xfrm>
        </p:grpSpPr>
        <p:sp>
          <p:nvSpPr>
            <p:cNvPr id="320" name="Google Shape;320;g3c699a7b086_1_183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21" name="Google Shape;321;g3c699a7b086_1_183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2" name="Google Shape;322;g3c699a7b086_1_183"/>
          <p:cNvGrpSpPr/>
          <p:nvPr/>
        </p:nvGrpSpPr>
        <p:grpSpPr>
          <a:xfrm>
            <a:off x="889659" y="6427140"/>
            <a:ext cx="259162" cy="400015"/>
            <a:chOff x="0" y="0"/>
            <a:chExt cx="80174" cy="123748"/>
          </a:xfrm>
        </p:grpSpPr>
        <p:sp>
          <p:nvSpPr>
            <p:cNvPr id="323" name="Google Shape;323;g3c699a7b086_1_183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24" name="Google Shape;324;g3c699a7b086_1_183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5" name="Google Shape;325;g3c699a7b086_1_183"/>
          <p:cNvGrpSpPr/>
          <p:nvPr/>
        </p:nvGrpSpPr>
        <p:grpSpPr>
          <a:xfrm>
            <a:off x="905738" y="7089178"/>
            <a:ext cx="259162" cy="400015"/>
            <a:chOff x="0" y="0"/>
            <a:chExt cx="80174" cy="123748"/>
          </a:xfrm>
        </p:grpSpPr>
        <p:sp>
          <p:nvSpPr>
            <p:cNvPr id="326" name="Google Shape;326;g3c699a7b086_1_183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27" name="Google Shape;327;g3c699a7b086_1_183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28" name="Google Shape;328;g3c699a7b086_1_183" title="ChatGPT Image 5 feb 2026, 15_09_48.png"/>
          <p:cNvPicPr preferRelativeResize="0"/>
          <p:nvPr/>
        </p:nvPicPr>
        <p:blipFill rotWithShape="1">
          <a:blip r:embed="rId5">
            <a:alphaModFix/>
          </a:blip>
          <a:srcRect b="0" l="10518" r="7245" t="0"/>
          <a:stretch/>
        </p:blipFill>
        <p:spPr>
          <a:xfrm>
            <a:off x="9734975" y="3087875"/>
            <a:ext cx="5851327" cy="4743601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c699a7b086_1_21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67" t="-52937"/>
            </a:stretch>
          </a:blipFill>
          <a:ln>
            <a:noFill/>
          </a:ln>
        </p:spPr>
      </p:sp>
      <p:grpSp>
        <p:nvGrpSpPr>
          <p:cNvPr id="334" name="Google Shape;334;g3c699a7b086_1_210"/>
          <p:cNvGrpSpPr/>
          <p:nvPr/>
        </p:nvGrpSpPr>
        <p:grpSpPr>
          <a:xfrm>
            <a:off x="1259561" y="710571"/>
            <a:ext cx="3086120" cy="600290"/>
            <a:chOff x="0" y="-9525"/>
            <a:chExt cx="812800" cy="158100"/>
          </a:xfrm>
        </p:grpSpPr>
        <p:sp>
          <p:nvSpPr>
            <p:cNvPr id="335" name="Google Shape;335;g3c699a7b086_1_210"/>
            <p:cNvSpPr/>
            <p:nvPr/>
          </p:nvSpPr>
          <p:spPr>
            <a:xfrm>
              <a:off x="0" y="0"/>
              <a:ext cx="812800" cy="148524"/>
            </a:xfrm>
            <a:custGeom>
              <a:rect b="b" l="l" r="r" t="t"/>
              <a:pathLst>
                <a:path extrusionOk="0" h="14852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48524"/>
                  </a:lnTo>
                  <a:lnTo>
                    <a:pt x="0" y="148524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36" name="Google Shape;336;g3c699a7b086_1_210"/>
            <p:cNvSpPr txBox="1"/>
            <p:nvPr/>
          </p:nvSpPr>
          <p:spPr>
            <a:xfrm>
              <a:off x="0" y="-9525"/>
              <a:ext cx="812700" cy="15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1" i="0" lang="en-US" sz="2100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THEORY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7" name="Google Shape;337;g3c699a7b086_1_210"/>
          <p:cNvGrpSpPr/>
          <p:nvPr/>
        </p:nvGrpSpPr>
        <p:grpSpPr>
          <a:xfrm>
            <a:off x="1259550" y="3341709"/>
            <a:ext cx="12645588" cy="721012"/>
            <a:chOff x="0" y="-9525"/>
            <a:chExt cx="2404287" cy="189900"/>
          </a:xfrm>
        </p:grpSpPr>
        <p:sp>
          <p:nvSpPr>
            <p:cNvPr id="338" name="Google Shape;338;g3c699a7b086_1_210"/>
            <p:cNvSpPr/>
            <p:nvPr/>
          </p:nvSpPr>
          <p:spPr>
            <a:xfrm>
              <a:off x="0" y="0"/>
              <a:ext cx="2404287" cy="180338"/>
            </a:xfrm>
            <a:custGeom>
              <a:rect b="b" l="l" r="r" t="t"/>
              <a:pathLst>
                <a:path extrusionOk="0" h="180338" w="2404287">
                  <a:moveTo>
                    <a:pt x="0" y="0"/>
                  </a:moveTo>
                  <a:lnTo>
                    <a:pt x="2404287" y="0"/>
                  </a:lnTo>
                  <a:lnTo>
                    <a:pt x="2404287" y="180338"/>
                  </a:lnTo>
                  <a:lnTo>
                    <a:pt x="0" y="18033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39" name="Google Shape;339;g3c699a7b086_1_210"/>
            <p:cNvSpPr txBox="1"/>
            <p:nvPr/>
          </p:nvSpPr>
          <p:spPr>
            <a:xfrm>
              <a:off x="0" y="-9525"/>
              <a:ext cx="2404200" cy="18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0" name="Google Shape;340;g3c699a7b086_1_210"/>
          <p:cNvSpPr txBox="1"/>
          <p:nvPr/>
        </p:nvSpPr>
        <p:spPr>
          <a:xfrm>
            <a:off x="1259550" y="2047825"/>
            <a:ext cx="15781200" cy="55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9.1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The Need for Efficient Fine-Tuning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9.2 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LoRA: Low-Rank Adaptation Mechanics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9.3 QLoRA: Quantization for Parameter Efficiency</a:t>
            </a:r>
            <a:endParaRPr b="1" sz="4123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9.4 RLHF: Aligning Models with Human Feedback</a:t>
            </a:r>
            <a:endParaRPr b="1"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9.5 Practical PEFT: A Hands-on Fine-Tuning Project</a:t>
            </a:r>
            <a:endParaRPr b="1"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9.6 Summary and Next Steps</a:t>
            </a:r>
            <a:endParaRPr b="1"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1" sz="4123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1" i="0" sz="4123" u="none" cap="none" strike="noStrike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41" name="Google Shape;341;g3c699a7b086_1_210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2" name="Google Shape;342;g3c699a7b086_1_210"/>
          <p:cNvSpPr txBox="1"/>
          <p:nvPr/>
        </p:nvSpPr>
        <p:spPr>
          <a:xfrm>
            <a:off x="4595148" y="787651"/>
            <a:ext cx="7371900" cy="5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14"/>
              <a:buFont typeface="Arial"/>
              <a:buNone/>
            </a:pPr>
            <a:r>
              <a:rPr b="1" i="0" lang="en-US" sz="4514" u="none" cap="none" strike="noStrike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Training Program 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c699a7b086_1_22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8" l="0" r="-56479" t="-52927"/>
            </a:stretch>
          </a:blipFill>
          <a:ln>
            <a:noFill/>
          </a:ln>
        </p:spPr>
      </p:sp>
      <p:sp>
        <p:nvSpPr>
          <p:cNvPr id="348" name="Google Shape;348;g3c699a7b086_1_223"/>
          <p:cNvSpPr txBox="1"/>
          <p:nvPr/>
        </p:nvSpPr>
        <p:spPr>
          <a:xfrm>
            <a:off x="1028700" y="2025600"/>
            <a:ext cx="15428700" cy="19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9.3 QLoRA: Quantization for Parameter Efficiency</a:t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49" name="Google Shape;349;g3c699a7b086_1_223"/>
          <p:cNvSpPr txBox="1"/>
          <p:nvPr/>
        </p:nvSpPr>
        <p:spPr>
          <a:xfrm>
            <a:off x="1028700" y="3040600"/>
            <a:ext cx="9504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Why Quantization Is Necessary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50" name="Google Shape;350;g3c699a7b086_1_223"/>
          <p:cNvSpPr txBox="1"/>
          <p:nvPr/>
        </p:nvSpPr>
        <p:spPr>
          <a:xfrm>
            <a:off x="1164888" y="4178186"/>
            <a:ext cx="7865400" cy="36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Even frozen models are too large to load in FP16.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70B FP16 ≈ 140 GB VRAM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Consumer GPUs cannot load them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Quantization solves the loading problem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351" name="Google Shape;351;g3c699a7b086_1_223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352" name="Google Shape;352;g3c699a7b086_1_223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53" name="Google Shape;353;g3c699a7b086_1_223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9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4" name="Google Shape;354;g3c699a7b086_1_223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55" name="Google Shape;355;g3c699a7b086_1_223"/>
          <p:cNvGrpSpPr/>
          <p:nvPr/>
        </p:nvGrpSpPr>
        <p:grpSpPr>
          <a:xfrm>
            <a:off x="830237" y="4782198"/>
            <a:ext cx="259162" cy="400015"/>
            <a:chOff x="0" y="0"/>
            <a:chExt cx="80174" cy="123748"/>
          </a:xfrm>
        </p:grpSpPr>
        <p:sp>
          <p:nvSpPr>
            <p:cNvPr id="356" name="Google Shape;356;g3c699a7b086_1_223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57" name="Google Shape;357;g3c699a7b086_1_223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8" name="Google Shape;358;g3c699a7b086_1_223"/>
          <p:cNvGrpSpPr/>
          <p:nvPr/>
        </p:nvGrpSpPr>
        <p:grpSpPr>
          <a:xfrm>
            <a:off x="812760" y="5481980"/>
            <a:ext cx="259162" cy="400015"/>
            <a:chOff x="0" y="0"/>
            <a:chExt cx="80174" cy="123748"/>
          </a:xfrm>
        </p:grpSpPr>
        <p:sp>
          <p:nvSpPr>
            <p:cNvPr id="359" name="Google Shape;359;g3c699a7b086_1_223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60" name="Google Shape;360;g3c699a7b086_1_223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1" name="Google Shape;361;g3c699a7b086_1_223"/>
          <p:cNvGrpSpPr/>
          <p:nvPr/>
        </p:nvGrpSpPr>
        <p:grpSpPr>
          <a:xfrm>
            <a:off x="833033" y="6106261"/>
            <a:ext cx="259162" cy="400015"/>
            <a:chOff x="0" y="0"/>
            <a:chExt cx="80174" cy="123748"/>
          </a:xfrm>
        </p:grpSpPr>
        <p:sp>
          <p:nvSpPr>
            <p:cNvPr id="362" name="Google Shape;362;g3c699a7b086_1_223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63" name="Google Shape;363;g3c699a7b086_1_223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64" name="Google Shape;364;g3c699a7b086_1_223" title="Why Quantization Is Necessary - visual selection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749925" y="3180700"/>
            <a:ext cx="5963329" cy="4468200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c699a7b086_1_24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8" l="0" r="-56479" t="-52927"/>
            </a:stretch>
          </a:blipFill>
          <a:ln>
            <a:noFill/>
          </a:ln>
        </p:spPr>
      </p:sp>
      <p:sp>
        <p:nvSpPr>
          <p:cNvPr id="370" name="Google Shape;370;g3c699a7b086_1_248"/>
          <p:cNvSpPr txBox="1"/>
          <p:nvPr/>
        </p:nvSpPr>
        <p:spPr>
          <a:xfrm>
            <a:off x="1028700" y="2025600"/>
            <a:ext cx="15428700" cy="19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9.3 QLoRA: Quantization for Parameter Efficiency</a:t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71" name="Google Shape;371;g3c699a7b086_1_248"/>
          <p:cNvSpPr txBox="1"/>
          <p:nvPr/>
        </p:nvSpPr>
        <p:spPr>
          <a:xfrm>
            <a:off x="1028700" y="3040600"/>
            <a:ext cx="9504900" cy="19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QLoRA: Training Through 4-bit Weights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72" name="Google Shape;372;g3c699a7b086_1_248"/>
          <p:cNvSpPr txBox="1"/>
          <p:nvPr/>
        </p:nvSpPr>
        <p:spPr>
          <a:xfrm>
            <a:off x="1092188" y="4494374"/>
            <a:ext cx="7865400" cy="47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QLoRA combines 4-bit quantization with LoRA adapters.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Base model in NF4 (4-bit)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LoRA trained in higher precision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On-the-fly dequantization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No accuracy collapse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373" name="Google Shape;373;g3c699a7b086_1_248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374" name="Google Shape;374;g3c699a7b086_1_248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75" name="Google Shape;375;g3c699a7b086_1_248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9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6" name="Google Shape;376;g3c699a7b086_1_248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77" name="Google Shape;377;g3c699a7b086_1_248"/>
          <p:cNvGrpSpPr/>
          <p:nvPr/>
        </p:nvGrpSpPr>
        <p:grpSpPr>
          <a:xfrm>
            <a:off x="754736" y="5423956"/>
            <a:ext cx="259162" cy="400015"/>
            <a:chOff x="0" y="0"/>
            <a:chExt cx="80174" cy="123748"/>
          </a:xfrm>
        </p:grpSpPr>
        <p:sp>
          <p:nvSpPr>
            <p:cNvPr id="378" name="Google Shape;378;g3c699a7b086_1_248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79" name="Google Shape;379;g3c699a7b086_1_248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0" name="Google Shape;380;g3c699a7b086_1_248"/>
          <p:cNvGrpSpPr/>
          <p:nvPr/>
        </p:nvGrpSpPr>
        <p:grpSpPr>
          <a:xfrm>
            <a:off x="756134" y="6085987"/>
            <a:ext cx="259162" cy="400015"/>
            <a:chOff x="0" y="0"/>
            <a:chExt cx="80174" cy="123748"/>
          </a:xfrm>
        </p:grpSpPr>
        <p:sp>
          <p:nvSpPr>
            <p:cNvPr id="381" name="Google Shape;381;g3c699a7b086_1_248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82" name="Google Shape;382;g3c699a7b086_1_248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3" name="Google Shape;383;g3c699a7b086_1_248"/>
          <p:cNvGrpSpPr/>
          <p:nvPr/>
        </p:nvGrpSpPr>
        <p:grpSpPr>
          <a:xfrm>
            <a:off x="776407" y="6823520"/>
            <a:ext cx="259162" cy="400015"/>
            <a:chOff x="0" y="0"/>
            <a:chExt cx="80174" cy="123748"/>
          </a:xfrm>
        </p:grpSpPr>
        <p:sp>
          <p:nvSpPr>
            <p:cNvPr id="384" name="Google Shape;384;g3c699a7b086_1_248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85" name="Google Shape;385;g3c699a7b086_1_248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6" name="Google Shape;386;g3c699a7b086_1_248"/>
          <p:cNvGrpSpPr/>
          <p:nvPr/>
        </p:nvGrpSpPr>
        <p:grpSpPr>
          <a:xfrm>
            <a:off x="777805" y="7466676"/>
            <a:ext cx="259162" cy="400015"/>
            <a:chOff x="0" y="0"/>
            <a:chExt cx="80174" cy="123748"/>
          </a:xfrm>
        </p:grpSpPr>
        <p:sp>
          <p:nvSpPr>
            <p:cNvPr id="387" name="Google Shape;387;g3c699a7b086_1_248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88" name="Google Shape;388;g3c699a7b086_1_248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89" name="Google Shape;389;g3c699a7b086_1_248" title="ChatGPT Image 5 feb 2026, 15_11_1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645650" y="3221588"/>
            <a:ext cx="6244500" cy="416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c699a7b086_1_27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8" l="0" r="-56479" t="-52927"/>
            </a:stretch>
          </a:blipFill>
          <a:ln>
            <a:noFill/>
          </a:ln>
        </p:spPr>
      </p:sp>
      <p:sp>
        <p:nvSpPr>
          <p:cNvPr id="395" name="Google Shape;395;g3c699a7b086_1_273"/>
          <p:cNvSpPr txBox="1"/>
          <p:nvPr/>
        </p:nvSpPr>
        <p:spPr>
          <a:xfrm>
            <a:off x="1028700" y="2025600"/>
            <a:ext cx="15428700" cy="19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9.3 QLoRA: Quantization for Parameter Efficiency</a:t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96" name="Google Shape;396;g3c699a7b086_1_273"/>
          <p:cNvSpPr txBox="1"/>
          <p:nvPr/>
        </p:nvSpPr>
        <p:spPr>
          <a:xfrm>
            <a:off x="1028700" y="3040600"/>
            <a:ext cx="9504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Double Quantizatio</a:t>
            </a: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n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97" name="Google Shape;397;g3c699a7b086_1_273"/>
          <p:cNvSpPr txBox="1"/>
          <p:nvPr/>
        </p:nvSpPr>
        <p:spPr>
          <a:xfrm>
            <a:off x="1092188" y="4006499"/>
            <a:ext cx="7865400" cy="40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QLoRA reduces memory even further by quantizing quantization constants.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Saves several GB VRAM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Critical for large models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Enables single-GPU fine-tuning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398" name="Google Shape;398;g3c699a7b086_1_273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399" name="Google Shape;399;g3c699a7b086_1_273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00" name="Google Shape;400;g3c699a7b086_1_273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9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1" name="Google Shape;401;g3c699a7b086_1_273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02" name="Google Shape;402;g3c699a7b086_1_273"/>
          <p:cNvGrpSpPr/>
          <p:nvPr/>
        </p:nvGrpSpPr>
        <p:grpSpPr>
          <a:xfrm>
            <a:off x="754736" y="4936081"/>
            <a:ext cx="259162" cy="400015"/>
            <a:chOff x="0" y="0"/>
            <a:chExt cx="80174" cy="123748"/>
          </a:xfrm>
        </p:grpSpPr>
        <p:sp>
          <p:nvSpPr>
            <p:cNvPr id="403" name="Google Shape;403;g3c699a7b086_1_273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04" name="Google Shape;404;g3c699a7b086_1_273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5" name="Google Shape;405;g3c699a7b086_1_273"/>
          <p:cNvGrpSpPr/>
          <p:nvPr/>
        </p:nvGrpSpPr>
        <p:grpSpPr>
          <a:xfrm>
            <a:off x="756134" y="5598112"/>
            <a:ext cx="259162" cy="400015"/>
            <a:chOff x="0" y="0"/>
            <a:chExt cx="80174" cy="123748"/>
          </a:xfrm>
        </p:grpSpPr>
        <p:sp>
          <p:nvSpPr>
            <p:cNvPr id="406" name="Google Shape;406;g3c699a7b086_1_273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07" name="Google Shape;407;g3c699a7b086_1_273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8" name="Google Shape;408;g3c699a7b086_1_273"/>
          <p:cNvGrpSpPr/>
          <p:nvPr/>
        </p:nvGrpSpPr>
        <p:grpSpPr>
          <a:xfrm>
            <a:off x="776407" y="6335645"/>
            <a:ext cx="259162" cy="400015"/>
            <a:chOff x="0" y="0"/>
            <a:chExt cx="80174" cy="123748"/>
          </a:xfrm>
        </p:grpSpPr>
        <p:sp>
          <p:nvSpPr>
            <p:cNvPr id="409" name="Google Shape;409;g3c699a7b086_1_273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10" name="Google Shape;410;g3c699a7b086_1_273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11" name="Google Shape;411;g3c699a7b086_1_273" title="ChatGPT Image 5 feb 2026, 15_14_55.png"/>
          <p:cNvPicPr preferRelativeResize="0"/>
          <p:nvPr/>
        </p:nvPicPr>
        <p:blipFill rotWithShape="1">
          <a:blip r:embed="rId5">
            <a:alphaModFix/>
          </a:blip>
          <a:srcRect b="19067" l="9560" r="6799" t="0"/>
          <a:stretch/>
        </p:blipFill>
        <p:spPr>
          <a:xfrm>
            <a:off x="10112475" y="3157350"/>
            <a:ext cx="6027076" cy="3887974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c699a7b086_1_29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67" t="-52937"/>
            </a:stretch>
          </a:blipFill>
          <a:ln>
            <a:noFill/>
          </a:ln>
        </p:spPr>
      </p:sp>
      <p:grpSp>
        <p:nvGrpSpPr>
          <p:cNvPr id="417" name="Google Shape;417;g3c699a7b086_1_298"/>
          <p:cNvGrpSpPr/>
          <p:nvPr/>
        </p:nvGrpSpPr>
        <p:grpSpPr>
          <a:xfrm>
            <a:off x="1259561" y="710571"/>
            <a:ext cx="3086120" cy="600290"/>
            <a:chOff x="0" y="-9525"/>
            <a:chExt cx="812800" cy="158100"/>
          </a:xfrm>
        </p:grpSpPr>
        <p:sp>
          <p:nvSpPr>
            <p:cNvPr id="418" name="Google Shape;418;g3c699a7b086_1_298"/>
            <p:cNvSpPr/>
            <p:nvPr/>
          </p:nvSpPr>
          <p:spPr>
            <a:xfrm>
              <a:off x="0" y="0"/>
              <a:ext cx="812800" cy="148524"/>
            </a:xfrm>
            <a:custGeom>
              <a:rect b="b" l="l" r="r" t="t"/>
              <a:pathLst>
                <a:path extrusionOk="0" h="14852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48524"/>
                  </a:lnTo>
                  <a:lnTo>
                    <a:pt x="0" y="148524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19" name="Google Shape;419;g3c699a7b086_1_298"/>
            <p:cNvSpPr txBox="1"/>
            <p:nvPr/>
          </p:nvSpPr>
          <p:spPr>
            <a:xfrm>
              <a:off x="0" y="-9525"/>
              <a:ext cx="812700" cy="15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1" i="0" lang="en-US" sz="2100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THEORY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0" name="Google Shape;420;g3c699a7b086_1_298"/>
          <p:cNvGrpSpPr/>
          <p:nvPr/>
        </p:nvGrpSpPr>
        <p:grpSpPr>
          <a:xfrm>
            <a:off x="1259550" y="4115593"/>
            <a:ext cx="12645588" cy="721012"/>
            <a:chOff x="0" y="-9525"/>
            <a:chExt cx="2404287" cy="189900"/>
          </a:xfrm>
        </p:grpSpPr>
        <p:sp>
          <p:nvSpPr>
            <p:cNvPr id="421" name="Google Shape;421;g3c699a7b086_1_298"/>
            <p:cNvSpPr/>
            <p:nvPr/>
          </p:nvSpPr>
          <p:spPr>
            <a:xfrm>
              <a:off x="0" y="0"/>
              <a:ext cx="2404287" cy="180338"/>
            </a:xfrm>
            <a:custGeom>
              <a:rect b="b" l="l" r="r" t="t"/>
              <a:pathLst>
                <a:path extrusionOk="0" h="180338" w="2404287">
                  <a:moveTo>
                    <a:pt x="0" y="0"/>
                  </a:moveTo>
                  <a:lnTo>
                    <a:pt x="2404287" y="0"/>
                  </a:lnTo>
                  <a:lnTo>
                    <a:pt x="2404287" y="180338"/>
                  </a:lnTo>
                  <a:lnTo>
                    <a:pt x="0" y="18033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22" name="Google Shape;422;g3c699a7b086_1_298"/>
            <p:cNvSpPr txBox="1"/>
            <p:nvPr/>
          </p:nvSpPr>
          <p:spPr>
            <a:xfrm>
              <a:off x="0" y="-9525"/>
              <a:ext cx="2404200" cy="18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3" name="Google Shape;423;g3c699a7b086_1_298"/>
          <p:cNvSpPr txBox="1"/>
          <p:nvPr/>
        </p:nvSpPr>
        <p:spPr>
          <a:xfrm>
            <a:off x="1240675" y="2085575"/>
            <a:ext cx="15781200" cy="55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9.1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The Need for Efficient Fine-Tuning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9.2 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LoRA: Low-Rank Adaptation Mechanics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9.3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QLoRA: Quantization for Parameter Efficiency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9.4 RLHF: Aligning Models with Human Feedback</a:t>
            </a:r>
            <a:endParaRPr b="1" sz="4123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9.5 Practical PEFT: A Hands-on Fine-Tuning Project</a:t>
            </a:r>
            <a:endParaRPr b="1"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9.6 Summary and Next Steps</a:t>
            </a:r>
            <a:endParaRPr b="1"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1" sz="4123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1" i="0" sz="4123" u="none" cap="none" strike="noStrike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424" name="Google Shape;424;g3c699a7b086_1_298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5" name="Google Shape;425;g3c699a7b086_1_298"/>
          <p:cNvSpPr txBox="1"/>
          <p:nvPr/>
        </p:nvSpPr>
        <p:spPr>
          <a:xfrm>
            <a:off x="4595148" y="787651"/>
            <a:ext cx="7371900" cy="5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14"/>
              <a:buFont typeface="Arial"/>
              <a:buNone/>
            </a:pPr>
            <a:r>
              <a:rPr b="1" i="0" lang="en-US" sz="4514" u="none" cap="none" strike="noStrike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Training Program 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c699a7b086_1_31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8" l="0" r="-56479" t="-52927"/>
            </a:stretch>
          </a:blipFill>
          <a:ln>
            <a:noFill/>
          </a:ln>
        </p:spPr>
      </p:sp>
      <p:sp>
        <p:nvSpPr>
          <p:cNvPr id="431" name="Google Shape;431;g3c699a7b086_1_311"/>
          <p:cNvSpPr txBox="1"/>
          <p:nvPr/>
        </p:nvSpPr>
        <p:spPr>
          <a:xfrm>
            <a:off x="1028700" y="2025600"/>
            <a:ext cx="154287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9.4 RLHF: Aligning Models with Human Feedback</a:t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432" name="Google Shape;432;g3c699a7b086_1_311"/>
          <p:cNvSpPr txBox="1"/>
          <p:nvPr/>
        </p:nvSpPr>
        <p:spPr>
          <a:xfrm>
            <a:off x="1028700" y="3040600"/>
            <a:ext cx="9504900" cy="19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The Alignment Problem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433" name="Google Shape;433;g3c699a7b086_1_311"/>
          <p:cNvSpPr txBox="1"/>
          <p:nvPr/>
        </p:nvSpPr>
        <p:spPr>
          <a:xfrm>
            <a:off x="1035563" y="3987629"/>
            <a:ext cx="7865400" cy="43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Instruction-following alone does not guarantee safe or helpful behavior.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Models inherit internet biases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May be verbose, unsafe, or misaligned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Alignment is mandatory for production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434" name="Google Shape;434;g3c699a7b086_1_311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435" name="Google Shape;435;g3c699a7b086_1_311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36" name="Google Shape;436;g3c699a7b086_1_311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9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7" name="Google Shape;437;g3c699a7b086_1_311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38" name="Google Shape;438;g3c699a7b086_1_311"/>
          <p:cNvGrpSpPr/>
          <p:nvPr/>
        </p:nvGrpSpPr>
        <p:grpSpPr>
          <a:xfrm>
            <a:off x="735861" y="4936087"/>
            <a:ext cx="259162" cy="400015"/>
            <a:chOff x="0" y="0"/>
            <a:chExt cx="80174" cy="123748"/>
          </a:xfrm>
        </p:grpSpPr>
        <p:sp>
          <p:nvSpPr>
            <p:cNvPr id="439" name="Google Shape;439;g3c699a7b086_1_311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40" name="Google Shape;440;g3c699a7b086_1_311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1" name="Google Shape;441;g3c699a7b086_1_311"/>
          <p:cNvGrpSpPr/>
          <p:nvPr/>
        </p:nvGrpSpPr>
        <p:grpSpPr>
          <a:xfrm>
            <a:off x="699509" y="5560367"/>
            <a:ext cx="259162" cy="400015"/>
            <a:chOff x="0" y="0"/>
            <a:chExt cx="80174" cy="123748"/>
          </a:xfrm>
        </p:grpSpPr>
        <p:sp>
          <p:nvSpPr>
            <p:cNvPr id="442" name="Google Shape;442;g3c699a7b086_1_311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43" name="Google Shape;443;g3c699a7b086_1_311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4" name="Google Shape;444;g3c699a7b086_1_311"/>
          <p:cNvGrpSpPr/>
          <p:nvPr/>
        </p:nvGrpSpPr>
        <p:grpSpPr>
          <a:xfrm>
            <a:off x="719782" y="6279024"/>
            <a:ext cx="259162" cy="400015"/>
            <a:chOff x="0" y="0"/>
            <a:chExt cx="80174" cy="123748"/>
          </a:xfrm>
        </p:grpSpPr>
        <p:sp>
          <p:nvSpPr>
            <p:cNvPr id="445" name="Google Shape;445;g3c699a7b086_1_311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46" name="Google Shape;446;g3c699a7b086_1_311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47" name="Google Shape;447;g3c699a7b086_1_311" title="Aligning Models with Human Feedback - visual selection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558175" y="3336113"/>
            <a:ext cx="5106514" cy="4468200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c699a7b086_1_33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8" l="0" r="-56479" t="-52927"/>
            </a:stretch>
          </a:blipFill>
          <a:ln>
            <a:noFill/>
          </a:ln>
        </p:spPr>
      </p:sp>
      <p:sp>
        <p:nvSpPr>
          <p:cNvPr id="453" name="Google Shape;453;g3c699a7b086_1_333"/>
          <p:cNvSpPr txBox="1"/>
          <p:nvPr/>
        </p:nvSpPr>
        <p:spPr>
          <a:xfrm>
            <a:off x="1028700" y="2025600"/>
            <a:ext cx="154287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9.4 RLHF: Aligning Models with Human Feedback</a:t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454" name="Google Shape;454;g3c699a7b086_1_333"/>
          <p:cNvSpPr txBox="1"/>
          <p:nvPr/>
        </p:nvSpPr>
        <p:spPr>
          <a:xfrm>
            <a:off x="1028700" y="3040600"/>
            <a:ext cx="9504900" cy="26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The RLHF Pipeline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455" name="Google Shape;455;g3c699a7b086_1_333"/>
          <p:cNvSpPr txBox="1"/>
          <p:nvPr/>
        </p:nvSpPr>
        <p:spPr>
          <a:xfrm>
            <a:off x="1035563" y="3987629"/>
            <a:ext cx="7865400" cy="50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RLHF converts human preference into a learnable signal.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Supervised Fine-Tuning (SFT)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Reward Model training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Reinforcement Learning (PPO)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Human values → reward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456" name="Google Shape;456;g3c699a7b086_1_333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457" name="Google Shape;457;g3c699a7b086_1_333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58" name="Google Shape;458;g3c699a7b086_1_333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9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9" name="Google Shape;459;g3c699a7b086_1_333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60" name="Google Shape;460;g3c699a7b086_1_333"/>
          <p:cNvGrpSpPr/>
          <p:nvPr/>
        </p:nvGrpSpPr>
        <p:grpSpPr>
          <a:xfrm>
            <a:off x="735861" y="4936087"/>
            <a:ext cx="259162" cy="400015"/>
            <a:chOff x="0" y="0"/>
            <a:chExt cx="80174" cy="123748"/>
          </a:xfrm>
        </p:grpSpPr>
        <p:sp>
          <p:nvSpPr>
            <p:cNvPr id="461" name="Google Shape;461;g3c699a7b086_1_333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62" name="Google Shape;462;g3c699a7b086_1_333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3" name="Google Shape;463;g3c699a7b086_1_333"/>
          <p:cNvGrpSpPr/>
          <p:nvPr/>
        </p:nvGrpSpPr>
        <p:grpSpPr>
          <a:xfrm>
            <a:off x="737259" y="6239876"/>
            <a:ext cx="259162" cy="400015"/>
            <a:chOff x="0" y="0"/>
            <a:chExt cx="80174" cy="123748"/>
          </a:xfrm>
        </p:grpSpPr>
        <p:sp>
          <p:nvSpPr>
            <p:cNvPr id="464" name="Google Shape;464;g3c699a7b086_1_333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65" name="Google Shape;465;g3c699a7b086_1_333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6" name="Google Shape;466;g3c699a7b086_1_333"/>
          <p:cNvGrpSpPr/>
          <p:nvPr/>
        </p:nvGrpSpPr>
        <p:grpSpPr>
          <a:xfrm>
            <a:off x="719782" y="6958532"/>
            <a:ext cx="259162" cy="400015"/>
            <a:chOff x="0" y="0"/>
            <a:chExt cx="80174" cy="123748"/>
          </a:xfrm>
        </p:grpSpPr>
        <p:sp>
          <p:nvSpPr>
            <p:cNvPr id="467" name="Google Shape;467;g3c699a7b086_1_333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68" name="Google Shape;468;g3c699a7b086_1_333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9" name="Google Shape;469;g3c699a7b086_1_333"/>
          <p:cNvGrpSpPr/>
          <p:nvPr/>
        </p:nvGrpSpPr>
        <p:grpSpPr>
          <a:xfrm>
            <a:off x="738657" y="5542890"/>
            <a:ext cx="259162" cy="400015"/>
            <a:chOff x="0" y="0"/>
            <a:chExt cx="80174" cy="123748"/>
          </a:xfrm>
        </p:grpSpPr>
        <p:sp>
          <p:nvSpPr>
            <p:cNvPr id="470" name="Google Shape;470;g3c699a7b086_1_333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71" name="Google Shape;471;g3c699a7b086_1_333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c699a7b086_1_35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8" l="0" r="-56479" t="-52927"/>
            </a:stretch>
          </a:blipFill>
          <a:ln>
            <a:noFill/>
          </a:ln>
        </p:spPr>
      </p:sp>
      <p:sp>
        <p:nvSpPr>
          <p:cNvPr id="477" name="Google Shape;477;g3c699a7b086_1_357"/>
          <p:cNvSpPr txBox="1"/>
          <p:nvPr/>
        </p:nvSpPr>
        <p:spPr>
          <a:xfrm>
            <a:off x="1028700" y="2025600"/>
            <a:ext cx="154287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9.4 RLHF: Aligning Models with Human Feedback</a:t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478" name="Google Shape;478;g3c699a7b086_1_357"/>
          <p:cNvSpPr txBox="1"/>
          <p:nvPr/>
        </p:nvSpPr>
        <p:spPr>
          <a:xfrm>
            <a:off x="1028700" y="3040600"/>
            <a:ext cx="9504900" cy="3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PPO and Modern Alternatives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479" name="Google Shape;479;g3c699a7b086_1_357"/>
          <p:cNvSpPr txBox="1"/>
          <p:nvPr/>
        </p:nvSpPr>
        <p:spPr>
          <a:xfrm>
            <a:off x="1035563" y="3987629"/>
            <a:ext cx="7865400" cy="53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PPO optimizes rewards while preserving model stability.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Prevents over-optimization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Maintains language quality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DPO simplifies the pipeline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Fewer moving parts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480" name="Google Shape;480;g3c699a7b086_1_357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481" name="Google Shape;481;g3c699a7b086_1_357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82" name="Google Shape;482;g3c699a7b086_1_357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9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3" name="Google Shape;483;g3c699a7b086_1_357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84" name="Google Shape;484;g3c699a7b086_1_357"/>
          <p:cNvGrpSpPr/>
          <p:nvPr/>
        </p:nvGrpSpPr>
        <p:grpSpPr>
          <a:xfrm>
            <a:off x="735861" y="4936087"/>
            <a:ext cx="259162" cy="400015"/>
            <a:chOff x="0" y="0"/>
            <a:chExt cx="80174" cy="123748"/>
          </a:xfrm>
        </p:grpSpPr>
        <p:sp>
          <p:nvSpPr>
            <p:cNvPr id="485" name="Google Shape;485;g3c699a7b086_1_357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86" name="Google Shape;486;g3c699a7b086_1_357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7" name="Google Shape;487;g3c699a7b086_1_357"/>
          <p:cNvGrpSpPr/>
          <p:nvPr/>
        </p:nvGrpSpPr>
        <p:grpSpPr>
          <a:xfrm>
            <a:off x="737259" y="6239876"/>
            <a:ext cx="259162" cy="400015"/>
            <a:chOff x="0" y="0"/>
            <a:chExt cx="80174" cy="123748"/>
          </a:xfrm>
        </p:grpSpPr>
        <p:sp>
          <p:nvSpPr>
            <p:cNvPr id="488" name="Google Shape;488;g3c699a7b086_1_357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89" name="Google Shape;489;g3c699a7b086_1_357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0" name="Google Shape;490;g3c699a7b086_1_357"/>
          <p:cNvGrpSpPr/>
          <p:nvPr/>
        </p:nvGrpSpPr>
        <p:grpSpPr>
          <a:xfrm>
            <a:off x="719782" y="6958532"/>
            <a:ext cx="259162" cy="400015"/>
            <a:chOff x="0" y="0"/>
            <a:chExt cx="80174" cy="123748"/>
          </a:xfrm>
        </p:grpSpPr>
        <p:sp>
          <p:nvSpPr>
            <p:cNvPr id="491" name="Google Shape;491;g3c699a7b086_1_357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92" name="Google Shape;492;g3c699a7b086_1_357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3" name="Google Shape;493;g3c699a7b086_1_357"/>
          <p:cNvGrpSpPr/>
          <p:nvPr/>
        </p:nvGrpSpPr>
        <p:grpSpPr>
          <a:xfrm>
            <a:off x="738657" y="5542890"/>
            <a:ext cx="259162" cy="400015"/>
            <a:chOff x="0" y="0"/>
            <a:chExt cx="80174" cy="123748"/>
          </a:xfrm>
        </p:grpSpPr>
        <p:sp>
          <p:nvSpPr>
            <p:cNvPr id="494" name="Google Shape;494;g3c699a7b086_1_357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95" name="Google Shape;495;g3c699a7b086_1_357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96" name="Google Shape;496;g3c699a7b086_1_357" title="PPO and Modern Alternatives - visual selection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247125" y="3139913"/>
            <a:ext cx="6565518" cy="4468200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c699a7b086_1_38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67" t="-52937"/>
            </a:stretch>
          </a:blipFill>
          <a:ln>
            <a:noFill/>
          </a:ln>
        </p:spPr>
      </p:sp>
      <p:grpSp>
        <p:nvGrpSpPr>
          <p:cNvPr id="502" name="Google Shape;502;g3c699a7b086_1_381"/>
          <p:cNvGrpSpPr/>
          <p:nvPr/>
        </p:nvGrpSpPr>
        <p:grpSpPr>
          <a:xfrm>
            <a:off x="1259561" y="710571"/>
            <a:ext cx="3086120" cy="600290"/>
            <a:chOff x="0" y="-9525"/>
            <a:chExt cx="812800" cy="158100"/>
          </a:xfrm>
        </p:grpSpPr>
        <p:sp>
          <p:nvSpPr>
            <p:cNvPr id="503" name="Google Shape;503;g3c699a7b086_1_381"/>
            <p:cNvSpPr/>
            <p:nvPr/>
          </p:nvSpPr>
          <p:spPr>
            <a:xfrm>
              <a:off x="0" y="0"/>
              <a:ext cx="812800" cy="148524"/>
            </a:xfrm>
            <a:custGeom>
              <a:rect b="b" l="l" r="r" t="t"/>
              <a:pathLst>
                <a:path extrusionOk="0" h="14852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48524"/>
                  </a:lnTo>
                  <a:lnTo>
                    <a:pt x="0" y="148524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04" name="Google Shape;504;g3c699a7b086_1_381"/>
            <p:cNvSpPr txBox="1"/>
            <p:nvPr/>
          </p:nvSpPr>
          <p:spPr>
            <a:xfrm>
              <a:off x="0" y="-9525"/>
              <a:ext cx="812700" cy="15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1" i="0" lang="en-US" sz="2100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THEORY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5" name="Google Shape;505;g3c699a7b086_1_381"/>
          <p:cNvGrpSpPr/>
          <p:nvPr/>
        </p:nvGrpSpPr>
        <p:grpSpPr>
          <a:xfrm>
            <a:off x="1259550" y="4813976"/>
            <a:ext cx="12645588" cy="721012"/>
            <a:chOff x="0" y="-9525"/>
            <a:chExt cx="2404287" cy="189900"/>
          </a:xfrm>
        </p:grpSpPr>
        <p:sp>
          <p:nvSpPr>
            <p:cNvPr id="506" name="Google Shape;506;g3c699a7b086_1_381"/>
            <p:cNvSpPr/>
            <p:nvPr/>
          </p:nvSpPr>
          <p:spPr>
            <a:xfrm>
              <a:off x="0" y="0"/>
              <a:ext cx="2404287" cy="180338"/>
            </a:xfrm>
            <a:custGeom>
              <a:rect b="b" l="l" r="r" t="t"/>
              <a:pathLst>
                <a:path extrusionOk="0" h="180338" w="2404287">
                  <a:moveTo>
                    <a:pt x="0" y="0"/>
                  </a:moveTo>
                  <a:lnTo>
                    <a:pt x="2404287" y="0"/>
                  </a:lnTo>
                  <a:lnTo>
                    <a:pt x="2404287" y="180338"/>
                  </a:lnTo>
                  <a:lnTo>
                    <a:pt x="0" y="18033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07" name="Google Shape;507;g3c699a7b086_1_381"/>
            <p:cNvSpPr txBox="1"/>
            <p:nvPr/>
          </p:nvSpPr>
          <p:spPr>
            <a:xfrm>
              <a:off x="0" y="-9525"/>
              <a:ext cx="2404200" cy="18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8" name="Google Shape;508;g3c699a7b086_1_381"/>
          <p:cNvSpPr txBox="1"/>
          <p:nvPr/>
        </p:nvSpPr>
        <p:spPr>
          <a:xfrm>
            <a:off x="1240675" y="2142201"/>
            <a:ext cx="15781200" cy="55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9.1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The Need for Efficient Fine-Tuning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9.2 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LoRA: Low-Rank Adaptation Mechanics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9.3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QLoRA: Quantization for Parameter Efficiency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9.4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RLHF: Aligning Models with Human Feedback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9.5 Practical PEFT: A Hands-on Fine-Tuning Project</a:t>
            </a:r>
            <a:endParaRPr b="1" sz="4123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9.6 Summary and Next Steps</a:t>
            </a:r>
            <a:endParaRPr b="1"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1" sz="4123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1" i="0" sz="4123" u="none" cap="none" strike="noStrike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509" name="Google Shape;509;g3c699a7b086_1_381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10" name="Google Shape;510;g3c699a7b086_1_381"/>
          <p:cNvSpPr txBox="1"/>
          <p:nvPr/>
        </p:nvSpPr>
        <p:spPr>
          <a:xfrm>
            <a:off x="4595148" y="787651"/>
            <a:ext cx="7371900" cy="5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14"/>
              <a:buFont typeface="Arial"/>
              <a:buNone/>
            </a:pPr>
            <a:r>
              <a:rPr b="1" i="0" lang="en-US" sz="4514" u="none" cap="none" strike="noStrike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Training Program 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c699a7b086_1_39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8" l="0" r="-56479" t="-52927"/>
            </a:stretch>
          </a:blipFill>
          <a:ln>
            <a:noFill/>
          </a:ln>
        </p:spPr>
      </p:sp>
      <p:sp>
        <p:nvSpPr>
          <p:cNvPr id="516" name="Google Shape;516;g3c699a7b086_1_394"/>
          <p:cNvSpPr txBox="1"/>
          <p:nvPr/>
        </p:nvSpPr>
        <p:spPr>
          <a:xfrm>
            <a:off x="1028700" y="2025600"/>
            <a:ext cx="15428700" cy="13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9.5 Practical PEFT: A Hands-on Fine-Tuning Project</a:t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517" name="Google Shape;517;g3c699a7b086_1_394"/>
          <p:cNvSpPr txBox="1"/>
          <p:nvPr/>
        </p:nvSpPr>
        <p:spPr>
          <a:xfrm>
            <a:off x="1028700" y="3040600"/>
            <a:ext cx="9504900" cy="39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Project Objective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518" name="Google Shape;518;g3c699a7b086_1_394"/>
          <p:cNvSpPr txBox="1"/>
          <p:nvPr/>
        </p:nvSpPr>
        <p:spPr>
          <a:xfrm>
            <a:off x="1092188" y="4006505"/>
            <a:ext cx="7865400" cy="57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The goal is to build a domain-expert assistant via PEFT.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L</a:t>
            </a: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egal audit assistant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2k–5k instruction-response pairs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Strict data schema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High-quality supervision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519" name="Google Shape;519;g3c699a7b086_1_394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520" name="Google Shape;520;g3c699a7b086_1_394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21" name="Google Shape;521;g3c699a7b086_1_394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9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2" name="Google Shape;522;g3c699a7b086_1_394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23" name="Google Shape;523;g3c699a7b086_1_394"/>
          <p:cNvGrpSpPr/>
          <p:nvPr/>
        </p:nvGrpSpPr>
        <p:grpSpPr>
          <a:xfrm>
            <a:off x="735861" y="4936087"/>
            <a:ext cx="259162" cy="400015"/>
            <a:chOff x="0" y="0"/>
            <a:chExt cx="80174" cy="123748"/>
          </a:xfrm>
        </p:grpSpPr>
        <p:sp>
          <p:nvSpPr>
            <p:cNvPr id="524" name="Google Shape;524;g3c699a7b086_1_394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25" name="Google Shape;525;g3c699a7b086_1_394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6" name="Google Shape;526;g3c699a7b086_1_394"/>
          <p:cNvGrpSpPr/>
          <p:nvPr/>
        </p:nvGrpSpPr>
        <p:grpSpPr>
          <a:xfrm>
            <a:off x="737259" y="6239876"/>
            <a:ext cx="259162" cy="400015"/>
            <a:chOff x="0" y="0"/>
            <a:chExt cx="80174" cy="123748"/>
          </a:xfrm>
        </p:grpSpPr>
        <p:sp>
          <p:nvSpPr>
            <p:cNvPr id="527" name="Google Shape;527;g3c699a7b086_1_394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28" name="Google Shape;528;g3c699a7b086_1_394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9" name="Google Shape;529;g3c699a7b086_1_394"/>
          <p:cNvGrpSpPr/>
          <p:nvPr/>
        </p:nvGrpSpPr>
        <p:grpSpPr>
          <a:xfrm>
            <a:off x="719782" y="6958532"/>
            <a:ext cx="259162" cy="400015"/>
            <a:chOff x="0" y="0"/>
            <a:chExt cx="80174" cy="123748"/>
          </a:xfrm>
        </p:grpSpPr>
        <p:sp>
          <p:nvSpPr>
            <p:cNvPr id="530" name="Google Shape;530;g3c699a7b086_1_394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31" name="Google Shape;531;g3c699a7b086_1_394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2" name="Google Shape;532;g3c699a7b086_1_394"/>
          <p:cNvGrpSpPr/>
          <p:nvPr/>
        </p:nvGrpSpPr>
        <p:grpSpPr>
          <a:xfrm>
            <a:off x="738657" y="5542890"/>
            <a:ext cx="259162" cy="400015"/>
            <a:chOff x="0" y="0"/>
            <a:chExt cx="80174" cy="123748"/>
          </a:xfrm>
        </p:grpSpPr>
        <p:sp>
          <p:nvSpPr>
            <p:cNvPr id="533" name="Google Shape;533;g3c699a7b086_1_394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34" name="Google Shape;534;g3c699a7b086_1_394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35" name="Google Shape;535;g3c699a7b086_1_394" title="ChatGPT Image 5 feb 2026, 15_17_47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63100" y="3265175"/>
            <a:ext cx="6463450" cy="4308974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c699a7b086_1_42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8" l="0" r="-56479" t="-52927"/>
            </a:stretch>
          </a:blipFill>
          <a:ln>
            <a:noFill/>
          </a:ln>
        </p:spPr>
      </p:sp>
      <p:sp>
        <p:nvSpPr>
          <p:cNvPr id="541" name="Google Shape;541;g3c699a7b086_1_421"/>
          <p:cNvSpPr txBox="1"/>
          <p:nvPr/>
        </p:nvSpPr>
        <p:spPr>
          <a:xfrm>
            <a:off x="1028700" y="2025600"/>
            <a:ext cx="15428700" cy="13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9.5 Practical PEFT: A Hands-on Fine-Tuning Project</a:t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542" name="Google Shape;542;g3c699a7b086_1_421"/>
          <p:cNvSpPr txBox="1"/>
          <p:nvPr/>
        </p:nvSpPr>
        <p:spPr>
          <a:xfrm>
            <a:off x="1028700" y="3040600"/>
            <a:ext cx="9504900" cy="39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Training Setup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543" name="Google Shape;543;g3c699a7b086_1_421"/>
          <p:cNvSpPr txBox="1"/>
          <p:nvPr/>
        </p:nvSpPr>
        <p:spPr>
          <a:xfrm>
            <a:off x="1092188" y="4006505"/>
            <a:ext cx="7865400" cy="57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QLoRA + LoRA enables efficient specialization.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Legal audit assistant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2k–5k instruction-response pairs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Strict data schema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High-quality supervision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544" name="Google Shape;544;g3c699a7b086_1_421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545" name="Google Shape;545;g3c699a7b086_1_421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46" name="Google Shape;546;g3c699a7b086_1_421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9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7" name="Google Shape;547;g3c699a7b086_1_421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48" name="Google Shape;548;g3c699a7b086_1_421"/>
          <p:cNvGrpSpPr/>
          <p:nvPr/>
        </p:nvGrpSpPr>
        <p:grpSpPr>
          <a:xfrm>
            <a:off x="735861" y="4936087"/>
            <a:ext cx="259162" cy="400015"/>
            <a:chOff x="0" y="0"/>
            <a:chExt cx="80174" cy="123748"/>
          </a:xfrm>
        </p:grpSpPr>
        <p:sp>
          <p:nvSpPr>
            <p:cNvPr id="549" name="Google Shape;549;g3c699a7b086_1_421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50" name="Google Shape;550;g3c699a7b086_1_421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1" name="Google Shape;551;g3c699a7b086_1_421"/>
          <p:cNvGrpSpPr/>
          <p:nvPr/>
        </p:nvGrpSpPr>
        <p:grpSpPr>
          <a:xfrm>
            <a:off x="737259" y="6239876"/>
            <a:ext cx="259162" cy="400015"/>
            <a:chOff x="0" y="0"/>
            <a:chExt cx="80174" cy="123748"/>
          </a:xfrm>
        </p:grpSpPr>
        <p:sp>
          <p:nvSpPr>
            <p:cNvPr id="552" name="Google Shape;552;g3c699a7b086_1_421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53" name="Google Shape;553;g3c699a7b086_1_421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4" name="Google Shape;554;g3c699a7b086_1_421"/>
          <p:cNvGrpSpPr/>
          <p:nvPr/>
        </p:nvGrpSpPr>
        <p:grpSpPr>
          <a:xfrm>
            <a:off x="719782" y="6958532"/>
            <a:ext cx="259162" cy="400015"/>
            <a:chOff x="0" y="0"/>
            <a:chExt cx="80174" cy="123748"/>
          </a:xfrm>
        </p:grpSpPr>
        <p:sp>
          <p:nvSpPr>
            <p:cNvPr id="555" name="Google Shape;555;g3c699a7b086_1_421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56" name="Google Shape;556;g3c699a7b086_1_421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7" name="Google Shape;557;g3c699a7b086_1_421"/>
          <p:cNvGrpSpPr/>
          <p:nvPr/>
        </p:nvGrpSpPr>
        <p:grpSpPr>
          <a:xfrm>
            <a:off x="738657" y="5542890"/>
            <a:ext cx="259162" cy="400015"/>
            <a:chOff x="0" y="0"/>
            <a:chExt cx="80174" cy="123748"/>
          </a:xfrm>
        </p:grpSpPr>
        <p:sp>
          <p:nvSpPr>
            <p:cNvPr id="558" name="Google Shape;558;g3c699a7b086_1_421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59" name="Google Shape;559;g3c699a7b086_1_421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60" name="Google Shape;560;g3c699a7b086_1_421" title="_- visual selection (6).png"/>
          <p:cNvPicPr preferRelativeResize="0"/>
          <p:nvPr/>
        </p:nvPicPr>
        <p:blipFill rotWithShape="1">
          <a:blip r:embed="rId5">
            <a:alphaModFix/>
          </a:blip>
          <a:srcRect b="8792" l="0" r="0" t="0"/>
          <a:stretch/>
        </p:blipFill>
        <p:spPr>
          <a:xfrm>
            <a:off x="8984424" y="3265175"/>
            <a:ext cx="7014528" cy="3968399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c699a7b086_1_45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8" l="0" r="-56479" t="-52927"/>
            </a:stretch>
          </a:blipFill>
          <a:ln>
            <a:noFill/>
          </a:ln>
        </p:spPr>
      </p:sp>
      <p:sp>
        <p:nvSpPr>
          <p:cNvPr id="566" name="Google Shape;566;g3c699a7b086_1_459"/>
          <p:cNvSpPr txBox="1"/>
          <p:nvPr/>
        </p:nvSpPr>
        <p:spPr>
          <a:xfrm>
            <a:off x="1028700" y="2025600"/>
            <a:ext cx="15428700" cy="13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9.5 Practical PEFT: A Hands-on Fine-Tuning Project</a:t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567" name="Google Shape;567;g3c699a7b086_1_459"/>
          <p:cNvSpPr txBox="1"/>
          <p:nvPr/>
        </p:nvSpPr>
        <p:spPr>
          <a:xfrm>
            <a:off x="1028700" y="3040600"/>
            <a:ext cx="9504900" cy="46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Evaluation and Deployment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568" name="Google Shape;568;g3c699a7b086_1_459"/>
          <p:cNvSpPr txBox="1"/>
          <p:nvPr/>
        </p:nvSpPr>
        <p:spPr>
          <a:xfrm>
            <a:off x="1092188" y="4006505"/>
            <a:ext cx="7865400" cy="60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Training is monitored and adapters are merged for deployment.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Watch validation loss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Test unseen samples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Merge LoRA into base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Produce single deployable model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569" name="Google Shape;569;g3c699a7b086_1_459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570" name="Google Shape;570;g3c699a7b086_1_459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71" name="Google Shape;571;g3c699a7b086_1_459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9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2" name="Google Shape;572;g3c699a7b086_1_459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73" name="Google Shape;573;g3c699a7b086_1_459"/>
          <p:cNvGrpSpPr/>
          <p:nvPr/>
        </p:nvGrpSpPr>
        <p:grpSpPr>
          <a:xfrm>
            <a:off x="735861" y="4936087"/>
            <a:ext cx="259162" cy="400015"/>
            <a:chOff x="0" y="0"/>
            <a:chExt cx="80174" cy="123748"/>
          </a:xfrm>
        </p:grpSpPr>
        <p:sp>
          <p:nvSpPr>
            <p:cNvPr id="574" name="Google Shape;574;g3c699a7b086_1_459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75" name="Google Shape;575;g3c699a7b086_1_459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6" name="Google Shape;576;g3c699a7b086_1_459"/>
          <p:cNvGrpSpPr/>
          <p:nvPr/>
        </p:nvGrpSpPr>
        <p:grpSpPr>
          <a:xfrm>
            <a:off x="737259" y="6239876"/>
            <a:ext cx="259162" cy="400015"/>
            <a:chOff x="0" y="0"/>
            <a:chExt cx="80174" cy="123748"/>
          </a:xfrm>
        </p:grpSpPr>
        <p:sp>
          <p:nvSpPr>
            <p:cNvPr id="577" name="Google Shape;577;g3c699a7b086_1_459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78" name="Google Shape;578;g3c699a7b086_1_459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9" name="Google Shape;579;g3c699a7b086_1_459"/>
          <p:cNvGrpSpPr/>
          <p:nvPr/>
        </p:nvGrpSpPr>
        <p:grpSpPr>
          <a:xfrm>
            <a:off x="719782" y="6958532"/>
            <a:ext cx="259162" cy="400015"/>
            <a:chOff x="0" y="0"/>
            <a:chExt cx="80174" cy="123748"/>
          </a:xfrm>
        </p:grpSpPr>
        <p:sp>
          <p:nvSpPr>
            <p:cNvPr id="580" name="Google Shape;580;g3c699a7b086_1_459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81" name="Google Shape;581;g3c699a7b086_1_459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2" name="Google Shape;582;g3c699a7b086_1_459"/>
          <p:cNvGrpSpPr/>
          <p:nvPr/>
        </p:nvGrpSpPr>
        <p:grpSpPr>
          <a:xfrm>
            <a:off x="738657" y="5542890"/>
            <a:ext cx="259162" cy="400015"/>
            <a:chOff x="0" y="0"/>
            <a:chExt cx="80174" cy="123748"/>
          </a:xfrm>
        </p:grpSpPr>
        <p:sp>
          <p:nvSpPr>
            <p:cNvPr id="583" name="Google Shape;583;g3c699a7b086_1_459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84" name="Google Shape;584;g3c699a7b086_1_459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85" name="Google Shape;585;g3c699a7b086_1_459" title="ChatGPT Image 5 feb 2026, 15_21_13.png"/>
          <p:cNvPicPr preferRelativeResize="0"/>
          <p:nvPr/>
        </p:nvPicPr>
        <p:blipFill rotWithShape="1">
          <a:blip r:embed="rId5">
            <a:alphaModFix/>
          </a:blip>
          <a:srcRect b="23259" l="0" r="0" t="0"/>
          <a:stretch/>
        </p:blipFill>
        <p:spPr>
          <a:xfrm>
            <a:off x="8823400" y="3040599"/>
            <a:ext cx="7447123" cy="3809925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c699a7b086_1_44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67" t="-52937"/>
            </a:stretch>
          </a:blipFill>
          <a:ln>
            <a:noFill/>
          </a:ln>
        </p:spPr>
      </p:sp>
      <p:grpSp>
        <p:nvGrpSpPr>
          <p:cNvPr id="591" name="Google Shape;591;g3c699a7b086_1_446"/>
          <p:cNvGrpSpPr/>
          <p:nvPr/>
        </p:nvGrpSpPr>
        <p:grpSpPr>
          <a:xfrm>
            <a:off x="1259561" y="710571"/>
            <a:ext cx="3086120" cy="600290"/>
            <a:chOff x="0" y="-9525"/>
            <a:chExt cx="812800" cy="158100"/>
          </a:xfrm>
        </p:grpSpPr>
        <p:sp>
          <p:nvSpPr>
            <p:cNvPr id="592" name="Google Shape;592;g3c699a7b086_1_446"/>
            <p:cNvSpPr/>
            <p:nvPr/>
          </p:nvSpPr>
          <p:spPr>
            <a:xfrm>
              <a:off x="0" y="0"/>
              <a:ext cx="812800" cy="148524"/>
            </a:xfrm>
            <a:custGeom>
              <a:rect b="b" l="l" r="r" t="t"/>
              <a:pathLst>
                <a:path extrusionOk="0" h="14852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48524"/>
                  </a:lnTo>
                  <a:lnTo>
                    <a:pt x="0" y="148524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93" name="Google Shape;593;g3c699a7b086_1_446"/>
            <p:cNvSpPr txBox="1"/>
            <p:nvPr/>
          </p:nvSpPr>
          <p:spPr>
            <a:xfrm>
              <a:off x="0" y="-9525"/>
              <a:ext cx="812700" cy="15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1" i="0" lang="en-US" sz="2100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THEORY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4" name="Google Shape;594;g3c699a7b086_1_446"/>
          <p:cNvGrpSpPr/>
          <p:nvPr/>
        </p:nvGrpSpPr>
        <p:grpSpPr>
          <a:xfrm>
            <a:off x="1165175" y="5550101"/>
            <a:ext cx="12645588" cy="721012"/>
            <a:chOff x="0" y="-9525"/>
            <a:chExt cx="2404287" cy="189900"/>
          </a:xfrm>
        </p:grpSpPr>
        <p:sp>
          <p:nvSpPr>
            <p:cNvPr id="595" name="Google Shape;595;g3c699a7b086_1_446"/>
            <p:cNvSpPr/>
            <p:nvPr/>
          </p:nvSpPr>
          <p:spPr>
            <a:xfrm>
              <a:off x="0" y="0"/>
              <a:ext cx="2404287" cy="180338"/>
            </a:xfrm>
            <a:custGeom>
              <a:rect b="b" l="l" r="r" t="t"/>
              <a:pathLst>
                <a:path extrusionOk="0" h="180338" w="2404287">
                  <a:moveTo>
                    <a:pt x="0" y="0"/>
                  </a:moveTo>
                  <a:lnTo>
                    <a:pt x="2404287" y="0"/>
                  </a:lnTo>
                  <a:lnTo>
                    <a:pt x="2404287" y="180338"/>
                  </a:lnTo>
                  <a:lnTo>
                    <a:pt x="0" y="18033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96" name="Google Shape;596;g3c699a7b086_1_446"/>
            <p:cNvSpPr txBox="1"/>
            <p:nvPr/>
          </p:nvSpPr>
          <p:spPr>
            <a:xfrm>
              <a:off x="0" y="-9525"/>
              <a:ext cx="2404200" cy="18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97" name="Google Shape;597;g3c699a7b086_1_446"/>
          <p:cNvSpPr txBox="1"/>
          <p:nvPr/>
        </p:nvSpPr>
        <p:spPr>
          <a:xfrm>
            <a:off x="1165174" y="2142201"/>
            <a:ext cx="15781200" cy="55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9.1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The Need for Efficient Fine-Tuning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9.2 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LoRA: Low-Rank Adaptation Mechanics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9.3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QLoRA: Quantization for Parameter Efficiency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9.4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RLHF: Aligning Models with Human Feedback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9.5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Practical PEFT: A Hands-on Fine-Tuning Project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9.6 Summary and Next Steps</a:t>
            </a:r>
            <a:endParaRPr b="1" sz="4123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1" sz="4123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1" i="0" sz="4123" u="none" cap="none" strike="noStrike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598" name="Google Shape;598;g3c699a7b086_1_446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99" name="Google Shape;599;g3c699a7b086_1_446"/>
          <p:cNvSpPr txBox="1"/>
          <p:nvPr/>
        </p:nvSpPr>
        <p:spPr>
          <a:xfrm>
            <a:off x="4595148" y="787651"/>
            <a:ext cx="7371900" cy="5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14"/>
              <a:buFont typeface="Arial"/>
              <a:buNone/>
            </a:pPr>
            <a:r>
              <a:rPr b="1" i="0" lang="en-US" sz="4514" u="none" cap="none" strike="noStrike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Training Program 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3c699a7b086_1_48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8" l="0" r="-56479" t="-52927"/>
            </a:stretch>
          </a:blipFill>
          <a:ln>
            <a:noFill/>
          </a:ln>
        </p:spPr>
      </p:sp>
      <p:sp>
        <p:nvSpPr>
          <p:cNvPr id="605" name="Google Shape;605;g3c699a7b086_1_488"/>
          <p:cNvSpPr txBox="1"/>
          <p:nvPr/>
        </p:nvSpPr>
        <p:spPr>
          <a:xfrm>
            <a:off x="1028700" y="2025600"/>
            <a:ext cx="154287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9.6 Summary and Next Steps</a:t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606" name="Google Shape;606;g3c699a7b086_1_488"/>
          <p:cNvSpPr txBox="1"/>
          <p:nvPr/>
        </p:nvSpPr>
        <p:spPr>
          <a:xfrm>
            <a:off x="1028700" y="3040600"/>
            <a:ext cx="12519000" cy="46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Choosing the Right Adaptation Strategy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607" name="Google Shape;607;g3c699a7b086_1_488"/>
          <p:cNvSpPr txBox="1"/>
          <p:nvPr/>
        </p:nvSpPr>
        <p:spPr>
          <a:xfrm>
            <a:off x="1736473" y="5553250"/>
            <a:ext cx="13056900" cy="3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25"/>
              <a:buFont typeface="Arial"/>
              <a:buNone/>
            </a:pPr>
            <a:r>
              <a:t/>
            </a:r>
            <a:endParaRPr sz="2424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25"/>
              <a:buFont typeface="Arial"/>
              <a:buNone/>
            </a:pPr>
            <a:r>
              <a:rPr lang="en-US" sz="2424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Prompting first: Use prompt engineering to shape behavior without modifying weights</a:t>
            </a:r>
            <a:endParaRPr sz="2424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25"/>
              <a:buFont typeface="Arial"/>
              <a:buNone/>
            </a:pPr>
            <a:r>
              <a:t/>
            </a:r>
            <a:endParaRPr sz="2424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25"/>
              <a:buFont typeface="Arial"/>
              <a:buNone/>
            </a:pPr>
            <a:r>
              <a:rPr lang="en-US" sz="2424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RAG second: Inject external knowledge before altering the model itself</a:t>
            </a:r>
            <a:endParaRPr sz="2424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25"/>
              <a:buFont typeface="Arial"/>
              <a:buNone/>
            </a:pPr>
            <a:r>
              <a:t/>
            </a:r>
            <a:endParaRPr sz="2424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25"/>
              <a:buFont typeface="Arial"/>
              <a:buNone/>
            </a:pPr>
            <a:r>
              <a:rPr lang="en-US" sz="2424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PEFT when necessary: Apply LoRA / QLoRA when style, structure, or domain expertise must be permanent</a:t>
            </a:r>
            <a:endParaRPr sz="2424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25"/>
              <a:buFont typeface="Arial"/>
              <a:buNone/>
            </a:pPr>
            <a:r>
              <a:t/>
            </a:r>
            <a:endParaRPr sz="2424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25"/>
              <a:buFont typeface="Arial"/>
              <a:buNone/>
            </a:pPr>
            <a:r>
              <a:rPr lang="en-US" sz="2424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Full fine-tuning rarely justified: Reserved for foundation-model creators or extreme specialization scenarios</a:t>
            </a:r>
            <a:endParaRPr sz="2424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25"/>
              <a:buFont typeface="Arial"/>
              <a:buNone/>
            </a:pPr>
            <a:r>
              <a:t/>
            </a:r>
            <a:endParaRPr sz="2424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608" name="Google Shape;608;g3c699a7b086_1_488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609" name="Google Shape;609;g3c699a7b086_1_488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10" name="Google Shape;610;g3c699a7b086_1_488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9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1" name="Google Shape;611;g3c699a7b086_1_488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612" name="Google Shape;612;g3c699a7b086_1_488"/>
          <p:cNvGrpSpPr/>
          <p:nvPr/>
        </p:nvGrpSpPr>
        <p:grpSpPr>
          <a:xfrm>
            <a:off x="1293688" y="5810372"/>
            <a:ext cx="324600" cy="355182"/>
            <a:chOff x="0" y="0"/>
            <a:chExt cx="80174" cy="123748"/>
          </a:xfrm>
        </p:grpSpPr>
        <p:sp>
          <p:nvSpPr>
            <p:cNvPr id="613" name="Google Shape;613;g3c699a7b086_1_488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14" name="Google Shape;614;g3c699a7b086_1_488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100" lIns="45100" spcFirstLastPara="1" rIns="45100" wrap="square" tIns="451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98"/>
                <a:buFont typeface="Arial"/>
                <a:buNone/>
              </a:pPr>
              <a:r>
                <a:t/>
              </a:r>
              <a:endParaRPr b="0" i="0" sz="159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5" name="Google Shape;615;g3c699a7b086_1_488"/>
          <p:cNvGrpSpPr/>
          <p:nvPr/>
        </p:nvGrpSpPr>
        <p:grpSpPr>
          <a:xfrm>
            <a:off x="1293691" y="6426668"/>
            <a:ext cx="324600" cy="355182"/>
            <a:chOff x="0" y="0"/>
            <a:chExt cx="80174" cy="123748"/>
          </a:xfrm>
        </p:grpSpPr>
        <p:sp>
          <p:nvSpPr>
            <p:cNvPr id="616" name="Google Shape;616;g3c699a7b086_1_488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17" name="Google Shape;617;g3c699a7b086_1_488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100" lIns="45100" spcFirstLastPara="1" rIns="45100" wrap="square" tIns="451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98"/>
                <a:buFont typeface="Arial"/>
                <a:buNone/>
              </a:pPr>
              <a:r>
                <a:t/>
              </a:r>
              <a:endParaRPr b="0" i="0" sz="159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18" name="Google Shape;618;g3c699a7b086_1_488"/>
          <p:cNvSpPr txBox="1"/>
          <p:nvPr/>
        </p:nvSpPr>
        <p:spPr>
          <a:xfrm>
            <a:off x="1028700" y="3755339"/>
            <a:ext cx="15989400" cy="15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Fine-tuning must be treated as a strategic architectural decision, not as a default solution. Each adaptation technique introduces increasing levels of complexity, cost, and maintenance overhead. A mature AI system follows a layered escalation path, applying the minimum level of intervention required to achieve the desired performance and reliability.</a:t>
            </a:r>
            <a:endParaRPr/>
          </a:p>
        </p:txBody>
      </p:sp>
      <p:grpSp>
        <p:nvGrpSpPr>
          <p:cNvPr id="619" name="Google Shape;619;g3c699a7b086_1_488"/>
          <p:cNvGrpSpPr/>
          <p:nvPr/>
        </p:nvGrpSpPr>
        <p:grpSpPr>
          <a:xfrm>
            <a:off x="1342525" y="7008346"/>
            <a:ext cx="226949" cy="588026"/>
            <a:chOff x="0" y="0"/>
            <a:chExt cx="80174" cy="123748"/>
          </a:xfrm>
        </p:grpSpPr>
        <p:sp>
          <p:nvSpPr>
            <p:cNvPr id="620" name="Google Shape;620;g3c699a7b086_1_488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21" name="Google Shape;621;g3c699a7b086_1_488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22" name="Google Shape;622;g3c699a7b086_1_488"/>
          <p:cNvGrpSpPr/>
          <p:nvPr/>
        </p:nvGrpSpPr>
        <p:grpSpPr>
          <a:xfrm>
            <a:off x="1358301" y="7821012"/>
            <a:ext cx="226949" cy="588026"/>
            <a:chOff x="0" y="0"/>
            <a:chExt cx="80174" cy="123748"/>
          </a:xfrm>
        </p:grpSpPr>
        <p:sp>
          <p:nvSpPr>
            <p:cNvPr id="623" name="Google Shape;623;g3c699a7b086_1_488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24" name="Google Shape;624;g3c699a7b086_1_488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3c699a7b086_1_52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8" l="0" r="-56479" t="-52927"/>
            </a:stretch>
          </a:blipFill>
          <a:ln>
            <a:noFill/>
          </a:ln>
        </p:spPr>
      </p:sp>
      <p:sp>
        <p:nvSpPr>
          <p:cNvPr id="630" name="Google Shape;630;g3c699a7b086_1_525"/>
          <p:cNvSpPr txBox="1"/>
          <p:nvPr/>
        </p:nvSpPr>
        <p:spPr>
          <a:xfrm>
            <a:off x="1028700" y="2025600"/>
            <a:ext cx="154287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9.6 Summary and Next Steps</a:t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631" name="Google Shape;631;g3c699a7b086_1_525"/>
          <p:cNvSpPr txBox="1"/>
          <p:nvPr/>
        </p:nvSpPr>
        <p:spPr>
          <a:xfrm>
            <a:off x="1028700" y="3040600"/>
            <a:ext cx="125190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The Future of PEFT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632" name="Google Shape;632;g3c699a7b086_1_525"/>
          <p:cNvSpPr txBox="1"/>
          <p:nvPr/>
        </p:nvSpPr>
        <p:spPr>
          <a:xfrm>
            <a:off x="1472225" y="5453075"/>
            <a:ext cx="13056900" cy="23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25"/>
              <a:buFont typeface="Arial"/>
              <a:buNone/>
            </a:pPr>
            <a:r>
              <a:t/>
            </a:r>
            <a:endParaRPr sz="2424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25"/>
              <a:buFont typeface="Arial"/>
              <a:buNone/>
            </a:pPr>
            <a:r>
              <a:rPr lang="en-US" sz="2424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Adapter routing: Automatic selection of the most relevant LoRA at inference time</a:t>
            </a:r>
            <a:endParaRPr sz="2424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25"/>
              <a:buFont typeface="Arial"/>
              <a:buNone/>
            </a:pPr>
            <a:r>
              <a:t/>
            </a:r>
            <a:endParaRPr sz="2424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25"/>
              <a:buFont typeface="Arial"/>
              <a:buNone/>
            </a:pPr>
            <a:r>
              <a:rPr lang="en-US" sz="2424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Mixture-of-Experts adapters: Multiple specialized adapters activated in parallel</a:t>
            </a:r>
            <a:endParaRPr sz="2424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25"/>
              <a:buFont typeface="Arial"/>
              <a:buNone/>
            </a:pPr>
            <a:r>
              <a:t/>
            </a:r>
            <a:endParaRPr sz="2424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25"/>
              <a:buFont typeface="Arial"/>
              <a:buNone/>
            </a:pPr>
            <a:r>
              <a:rPr lang="en-US" sz="2424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Instant specialization: No retraining required per request</a:t>
            </a:r>
            <a:endParaRPr sz="2424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25"/>
              <a:buFont typeface="Arial"/>
              <a:buNone/>
            </a:pPr>
            <a:r>
              <a:t/>
            </a:r>
            <a:endParaRPr sz="2424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25"/>
              <a:buFont typeface="Arial"/>
              <a:buNone/>
            </a:pPr>
            <a:r>
              <a:rPr lang="en-US" sz="2424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Shared backbone intelligence: One model, many expert behaviors</a:t>
            </a:r>
            <a:endParaRPr sz="2424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633" name="Google Shape;633;g3c699a7b086_1_525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634" name="Google Shape;634;g3c699a7b086_1_525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35" name="Google Shape;635;g3c699a7b086_1_525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9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6" name="Google Shape;636;g3c699a7b086_1_525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637" name="Google Shape;637;g3c699a7b086_1_525"/>
          <p:cNvGrpSpPr/>
          <p:nvPr/>
        </p:nvGrpSpPr>
        <p:grpSpPr>
          <a:xfrm>
            <a:off x="1123811" y="5659370"/>
            <a:ext cx="324600" cy="355182"/>
            <a:chOff x="0" y="0"/>
            <a:chExt cx="80174" cy="123748"/>
          </a:xfrm>
        </p:grpSpPr>
        <p:sp>
          <p:nvSpPr>
            <p:cNvPr id="638" name="Google Shape;638;g3c699a7b086_1_525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39" name="Google Shape;639;g3c699a7b086_1_525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100" lIns="45100" spcFirstLastPara="1" rIns="45100" wrap="square" tIns="451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98"/>
                <a:buFont typeface="Arial"/>
                <a:buNone/>
              </a:pPr>
              <a:r>
                <a:t/>
              </a:r>
              <a:endParaRPr b="0" i="0" sz="159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40" name="Google Shape;640;g3c699a7b086_1_525"/>
          <p:cNvGrpSpPr/>
          <p:nvPr/>
        </p:nvGrpSpPr>
        <p:grpSpPr>
          <a:xfrm>
            <a:off x="1104938" y="6294541"/>
            <a:ext cx="324600" cy="355182"/>
            <a:chOff x="0" y="0"/>
            <a:chExt cx="80174" cy="123748"/>
          </a:xfrm>
        </p:grpSpPr>
        <p:sp>
          <p:nvSpPr>
            <p:cNvPr id="641" name="Google Shape;641;g3c699a7b086_1_525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42" name="Google Shape;642;g3c699a7b086_1_525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100" lIns="45100" spcFirstLastPara="1" rIns="45100" wrap="square" tIns="451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98"/>
                <a:buFont typeface="Arial"/>
                <a:buNone/>
              </a:pPr>
              <a:r>
                <a:t/>
              </a:r>
              <a:endParaRPr b="0" i="0" sz="159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43" name="Google Shape;643;g3c699a7b086_1_525"/>
          <p:cNvSpPr txBox="1"/>
          <p:nvPr/>
        </p:nvSpPr>
        <p:spPr>
          <a:xfrm>
            <a:off x="1028700" y="3774214"/>
            <a:ext cx="15989400" cy="15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Model adaptation is evolving toward dynamic, modular intelligence, where specialization is no longer a static training event but a real-time, routable capability. Instead of maintaining multiple full models, future systems will rely on a single foundation model enhanced by a library of lightweight, interchangeable adapters.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644" name="Google Shape;644;g3c699a7b086_1_525"/>
          <p:cNvGrpSpPr/>
          <p:nvPr/>
        </p:nvGrpSpPr>
        <p:grpSpPr>
          <a:xfrm>
            <a:off x="1087461" y="6843321"/>
            <a:ext cx="324600" cy="355182"/>
            <a:chOff x="0" y="0"/>
            <a:chExt cx="80174" cy="123748"/>
          </a:xfrm>
        </p:grpSpPr>
        <p:sp>
          <p:nvSpPr>
            <p:cNvPr id="645" name="Google Shape;645;g3c699a7b086_1_525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46" name="Google Shape;646;g3c699a7b086_1_525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100" lIns="45100" spcFirstLastPara="1" rIns="45100" wrap="square" tIns="451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98"/>
                <a:buFont typeface="Arial"/>
                <a:buNone/>
              </a:pPr>
              <a:r>
                <a:t/>
              </a:r>
              <a:endParaRPr b="0" i="0" sz="159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47" name="Google Shape;647;g3c699a7b086_1_525"/>
          <p:cNvGrpSpPr/>
          <p:nvPr/>
        </p:nvGrpSpPr>
        <p:grpSpPr>
          <a:xfrm>
            <a:off x="1088859" y="7429851"/>
            <a:ext cx="324600" cy="355182"/>
            <a:chOff x="0" y="0"/>
            <a:chExt cx="80174" cy="123748"/>
          </a:xfrm>
        </p:grpSpPr>
        <p:sp>
          <p:nvSpPr>
            <p:cNvPr id="648" name="Google Shape;648;g3c699a7b086_1_525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49" name="Google Shape;649;g3c699a7b086_1_525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100" lIns="45100" spcFirstLastPara="1" rIns="45100" wrap="square" tIns="451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98"/>
                <a:buFont typeface="Arial"/>
                <a:buNone/>
              </a:pPr>
              <a:r>
                <a:t/>
              </a:r>
              <a:endParaRPr b="0" i="0" sz="159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3c699a7b086_1_55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8" l="0" r="-56479" t="-52927"/>
            </a:stretch>
          </a:blipFill>
          <a:ln>
            <a:noFill/>
          </a:ln>
        </p:spPr>
      </p:sp>
      <p:sp>
        <p:nvSpPr>
          <p:cNvPr id="655" name="Google Shape;655;g3c699a7b086_1_555"/>
          <p:cNvSpPr txBox="1"/>
          <p:nvPr/>
        </p:nvSpPr>
        <p:spPr>
          <a:xfrm>
            <a:off x="786325" y="1964700"/>
            <a:ext cx="125190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Key References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656" name="Google Shape;656;g3c699a7b086_1_555"/>
          <p:cNvSpPr txBox="1"/>
          <p:nvPr/>
        </p:nvSpPr>
        <p:spPr>
          <a:xfrm>
            <a:off x="868200" y="2945625"/>
            <a:ext cx="15624000" cy="68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25"/>
              <a:buFont typeface="Arial"/>
              <a:buNone/>
            </a:pPr>
            <a:r>
              <a:t/>
            </a:r>
            <a:endParaRPr sz="2424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25"/>
              <a:buFont typeface="Arial"/>
              <a:buNone/>
            </a:pPr>
            <a:r>
              <a:rPr lang="en-US" sz="2424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Houlsby et al. (2019) – Parameter-Efficient Transfer Learning for NLP</a:t>
            </a:r>
            <a:endParaRPr sz="2424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25"/>
              <a:buFont typeface="Arial"/>
              <a:buNone/>
            </a:pPr>
            <a:r>
              <a:t/>
            </a:r>
            <a:endParaRPr sz="2424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25"/>
              <a:buFont typeface="Arial"/>
              <a:buNone/>
            </a:pPr>
            <a:r>
              <a:rPr lang="en-US" sz="2424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Lester et al. (2021) – The Power of Scale for Parameter-Efficient Prompt Tuning</a:t>
            </a:r>
            <a:endParaRPr sz="2424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25"/>
              <a:buFont typeface="Arial"/>
              <a:buNone/>
            </a:pPr>
            <a:r>
              <a:t/>
            </a:r>
            <a:endParaRPr sz="2424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25"/>
              <a:buFont typeface="Arial"/>
              <a:buNone/>
            </a:pPr>
            <a:r>
              <a:rPr lang="en-US" sz="2424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Hu et al. (2021) – LoRA: Low-Rank Adaptation of Large Language Models</a:t>
            </a:r>
            <a:endParaRPr sz="2424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25"/>
              <a:buFont typeface="Arial"/>
              <a:buNone/>
            </a:pPr>
            <a:r>
              <a:t/>
            </a:r>
            <a:endParaRPr sz="2424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25"/>
              <a:buFont typeface="Arial"/>
              <a:buNone/>
            </a:pPr>
            <a:r>
              <a:rPr lang="en-US" sz="2424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Aghajanyan et al. (2020) – Intrinsic Dimensionality Explains the Effectiveness of Language Model Fine-Tuning</a:t>
            </a:r>
            <a:endParaRPr sz="2424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25"/>
              <a:buFont typeface="Arial"/>
              <a:buNone/>
            </a:pPr>
            <a:r>
              <a:t/>
            </a:r>
            <a:endParaRPr sz="2424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25"/>
              <a:buFont typeface="Arial"/>
              <a:buNone/>
            </a:pPr>
            <a:r>
              <a:rPr lang="en-US" sz="2424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Dettmers et al. (2023) – QLoRA: Efficient Finetuning of Quantized LLMs</a:t>
            </a:r>
            <a:endParaRPr sz="2424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25"/>
              <a:buFont typeface="Arial"/>
              <a:buNone/>
            </a:pPr>
            <a:r>
              <a:t/>
            </a:r>
            <a:endParaRPr sz="2424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25"/>
              <a:buFont typeface="Arial"/>
              <a:buNone/>
            </a:pPr>
            <a:r>
              <a:rPr lang="en-US" sz="2424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Frantar et al. (2022) – GPTQ: Accurate Post-Training Quantization for Generative Pre-trained Transformers</a:t>
            </a:r>
            <a:endParaRPr sz="2424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25"/>
              <a:buFont typeface="Arial"/>
              <a:buNone/>
            </a:pPr>
            <a:r>
              <a:t/>
            </a:r>
            <a:endParaRPr sz="2424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25"/>
              <a:buFont typeface="Arial"/>
              <a:buNone/>
            </a:pPr>
            <a:r>
              <a:rPr lang="en-US" sz="2424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Ouyang et al. (2022) – Training Language Models to Follow Instructions with Human Feedback</a:t>
            </a:r>
            <a:endParaRPr sz="2424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25"/>
              <a:buFont typeface="Arial"/>
              <a:buNone/>
            </a:pPr>
            <a:r>
              <a:t/>
            </a:r>
            <a:endParaRPr sz="2424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25"/>
              <a:buFont typeface="Arial"/>
              <a:buNone/>
            </a:pPr>
            <a:r>
              <a:rPr lang="en-US" sz="2424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Rafailov et al. (2023) – Direct Preference Optimization</a:t>
            </a:r>
            <a:endParaRPr sz="2424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25"/>
              <a:buFont typeface="Arial"/>
              <a:buNone/>
            </a:pPr>
            <a:r>
              <a:t/>
            </a:r>
            <a:endParaRPr sz="2424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25"/>
              <a:buFont typeface="Arial"/>
              <a:buNone/>
            </a:pPr>
            <a:r>
              <a:rPr lang="en-US" sz="2424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Taori et al. (2023) – Stanford Alpaca: An Instruction-Following LLaMA Model</a:t>
            </a:r>
            <a:endParaRPr sz="2424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25"/>
              <a:buFont typeface="Arial"/>
              <a:buNone/>
            </a:pPr>
            <a:r>
              <a:t/>
            </a:r>
            <a:endParaRPr sz="2424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25"/>
              <a:buFont typeface="Arial"/>
              <a:buNone/>
            </a:pPr>
            <a:r>
              <a:rPr lang="en-US" sz="2424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Mangrulkar et al. (2022) – PEFT: State-of-the-Art Parameter-Efficient Fine-Tuning Methods</a:t>
            </a:r>
            <a:endParaRPr sz="2424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25"/>
              <a:buFont typeface="Arial"/>
              <a:buNone/>
            </a:pPr>
            <a:r>
              <a:t/>
            </a:r>
            <a:endParaRPr sz="2424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25"/>
              <a:buFont typeface="Arial"/>
              <a:buNone/>
            </a:pPr>
            <a:r>
              <a:rPr lang="en-US" sz="2424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Sun et al. (2023) – A Survey of Parameter-Efficient Fine-Tuning in Large Language Models</a:t>
            </a:r>
            <a:endParaRPr sz="2424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25"/>
              <a:buFont typeface="Arial"/>
              <a:buNone/>
            </a:pPr>
            <a:r>
              <a:t/>
            </a:r>
            <a:endParaRPr sz="2424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657" name="Google Shape;657;g3c699a7b086_1_555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658" name="Google Shape;658;g3c699a7b086_1_555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59" name="Google Shape;659;g3c699a7b086_1_555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9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0" name="Google Shape;660;g3c699a7b086_1_555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661" name="Google Shape;661;g3c699a7b086_1_555"/>
          <p:cNvGrpSpPr/>
          <p:nvPr/>
        </p:nvGrpSpPr>
        <p:grpSpPr>
          <a:xfrm>
            <a:off x="461736" y="3251408"/>
            <a:ext cx="324600" cy="355182"/>
            <a:chOff x="0" y="0"/>
            <a:chExt cx="80174" cy="123748"/>
          </a:xfrm>
        </p:grpSpPr>
        <p:sp>
          <p:nvSpPr>
            <p:cNvPr id="662" name="Google Shape;662;g3c699a7b086_1_555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63" name="Google Shape;663;g3c699a7b086_1_555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100" lIns="45100" spcFirstLastPara="1" rIns="45100" wrap="square" tIns="451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98"/>
                <a:buFont typeface="Arial"/>
                <a:buNone/>
              </a:pPr>
              <a:r>
                <a:t/>
              </a:r>
              <a:endParaRPr b="0" i="0" sz="159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64" name="Google Shape;664;g3c699a7b086_1_555"/>
          <p:cNvGrpSpPr/>
          <p:nvPr/>
        </p:nvGrpSpPr>
        <p:grpSpPr>
          <a:xfrm>
            <a:off x="461713" y="3840766"/>
            <a:ext cx="324600" cy="355182"/>
            <a:chOff x="0" y="0"/>
            <a:chExt cx="80174" cy="123748"/>
          </a:xfrm>
        </p:grpSpPr>
        <p:sp>
          <p:nvSpPr>
            <p:cNvPr id="665" name="Google Shape;665;g3c699a7b086_1_555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66" name="Google Shape;666;g3c699a7b086_1_555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100" lIns="45100" spcFirstLastPara="1" rIns="45100" wrap="square" tIns="451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98"/>
                <a:buFont typeface="Arial"/>
                <a:buNone/>
              </a:pPr>
              <a:r>
                <a:t/>
              </a:r>
              <a:endParaRPr b="0" i="0" sz="159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67" name="Google Shape;667;g3c699a7b086_1_555"/>
          <p:cNvGrpSpPr/>
          <p:nvPr/>
        </p:nvGrpSpPr>
        <p:grpSpPr>
          <a:xfrm>
            <a:off x="461736" y="4430121"/>
            <a:ext cx="324600" cy="355182"/>
            <a:chOff x="0" y="0"/>
            <a:chExt cx="80174" cy="123748"/>
          </a:xfrm>
        </p:grpSpPr>
        <p:sp>
          <p:nvSpPr>
            <p:cNvPr id="668" name="Google Shape;668;g3c699a7b086_1_555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69" name="Google Shape;669;g3c699a7b086_1_555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100" lIns="45100" spcFirstLastPara="1" rIns="45100" wrap="square" tIns="451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98"/>
                <a:buFont typeface="Arial"/>
                <a:buNone/>
              </a:pPr>
              <a:r>
                <a:t/>
              </a:r>
              <a:endParaRPr b="0" i="0" sz="159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70" name="Google Shape;670;g3c699a7b086_1_555"/>
          <p:cNvGrpSpPr/>
          <p:nvPr/>
        </p:nvGrpSpPr>
        <p:grpSpPr>
          <a:xfrm>
            <a:off x="461734" y="5019476"/>
            <a:ext cx="324600" cy="355182"/>
            <a:chOff x="0" y="0"/>
            <a:chExt cx="80174" cy="123748"/>
          </a:xfrm>
        </p:grpSpPr>
        <p:sp>
          <p:nvSpPr>
            <p:cNvPr id="671" name="Google Shape;671;g3c699a7b086_1_555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72" name="Google Shape;672;g3c699a7b086_1_555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100" lIns="45100" spcFirstLastPara="1" rIns="45100" wrap="square" tIns="451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98"/>
                <a:buFont typeface="Arial"/>
                <a:buNone/>
              </a:pPr>
              <a:r>
                <a:t/>
              </a:r>
              <a:endParaRPr b="0" i="0" sz="159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73" name="Google Shape;673;g3c699a7b086_1_555"/>
          <p:cNvGrpSpPr/>
          <p:nvPr/>
        </p:nvGrpSpPr>
        <p:grpSpPr>
          <a:xfrm>
            <a:off x="444257" y="5606007"/>
            <a:ext cx="324600" cy="355182"/>
            <a:chOff x="0" y="0"/>
            <a:chExt cx="80174" cy="123748"/>
          </a:xfrm>
        </p:grpSpPr>
        <p:sp>
          <p:nvSpPr>
            <p:cNvPr id="674" name="Google Shape;674;g3c699a7b086_1_555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75" name="Google Shape;675;g3c699a7b086_1_555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100" lIns="45100" spcFirstLastPara="1" rIns="45100" wrap="square" tIns="451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98"/>
                <a:buFont typeface="Arial"/>
                <a:buNone/>
              </a:pPr>
              <a:r>
                <a:t/>
              </a:r>
              <a:endParaRPr b="0" i="0" sz="159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76" name="Google Shape;676;g3c699a7b086_1_555"/>
          <p:cNvGrpSpPr/>
          <p:nvPr/>
        </p:nvGrpSpPr>
        <p:grpSpPr>
          <a:xfrm>
            <a:off x="461734" y="6779076"/>
            <a:ext cx="324600" cy="355182"/>
            <a:chOff x="0" y="0"/>
            <a:chExt cx="80174" cy="123748"/>
          </a:xfrm>
        </p:grpSpPr>
        <p:sp>
          <p:nvSpPr>
            <p:cNvPr id="677" name="Google Shape;677;g3c699a7b086_1_555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78" name="Google Shape;678;g3c699a7b086_1_555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100" lIns="45100" spcFirstLastPara="1" rIns="45100" wrap="square" tIns="451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98"/>
                <a:buFont typeface="Arial"/>
                <a:buNone/>
              </a:pPr>
              <a:r>
                <a:t/>
              </a:r>
              <a:endParaRPr b="0" i="0" sz="159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79" name="Google Shape;679;g3c699a7b086_1_555"/>
          <p:cNvGrpSpPr/>
          <p:nvPr/>
        </p:nvGrpSpPr>
        <p:grpSpPr>
          <a:xfrm>
            <a:off x="461734" y="6192551"/>
            <a:ext cx="324600" cy="355182"/>
            <a:chOff x="0" y="0"/>
            <a:chExt cx="80174" cy="123748"/>
          </a:xfrm>
        </p:grpSpPr>
        <p:sp>
          <p:nvSpPr>
            <p:cNvPr id="680" name="Google Shape;680;g3c699a7b086_1_555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81" name="Google Shape;681;g3c699a7b086_1_555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100" lIns="45100" spcFirstLastPara="1" rIns="45100" wrap="square" tIns="451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98"/>
                <a:buFont typeface="Arial"/>
                <a:buNone/>
              </a:pPr>
              <a:r>
                <a:t/>
              </a:r>
              <a:endParaRPr b="0" i="0" sz="159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82" name="Google Shape;682;g3c699a7b086_1_555"/>
          <p:cNvGrpSpPr/>
          <p:nvPr/>
        </p:nvGrpSpPr>
        <p:grpSpPr>
          <a:xfrm>
            <a:off x="461734" y="7365601"/>
            <a:ext cx="324600" cy="355182"/>
            <a:chOff x="0" y="0"/>
            <a:chExt cx="80174" cy="123748"/>
          </a:xfrm>
        </p:grpSpPr>
        <p:sp>
          <p:nvSpPr>
            <p:cNvPr id="683" name="Google Shape;683;g3c699a7b086_1_555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84" name="Google Shape;684;g3c699a7b086_1_555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100" lIns="45100" spcFirstLastPara="1" rIns="45100" wrap="square" tIns="451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98"/>
                <a:buFont typeface="Arial"/>
                <a:buNone/>
              </a:pPr>
              <a:r>
                <a:t/>
              </a:r>
              <a:endParaRPr b="0" i="0" sz="159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85" name="Google Shape;685;g3c699a7b086_1_555"/>
          <p:cNvGrpSpPr/>
          <p:nvPr/>
        </p:nvGrpSpPr>
        <p:grpSpPr>
          <a:xfrm>
            <a:off x="444259" y="7895501"/>
            <a:ext cx="324600" cy="355182"/>
            <a:chOff x="0" y="0"/>
            <a:chExt cx="80174" cy="123748"/>
          </a:xfrm>
        </p:grpSpPr>
        <p:sp>
          <p:nvSpPr>
            <p:cNvPr id="686" name="Google Shape;686;g3c699a7b086_1_555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87" name="Google Shape;687;g3c699a7b086_1_555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100" lIns="45100" spcFirstLastPara="1" rIns="45100" wrap="square" tIns="451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98"/>
                <a:buFont typeface="Arial"/>
                <a:buNone/>
              </a:pPr>
              <a:r>
                <a:t/>
              </a:r>
              <a:endParaRPr b="0" i="0" sz="159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88" name="Google Shape;688;g3c699a7b086_1_555"/>
          <p:cNvGrpSpPr/>
          <p:nvPr/>
        </p:nvGrpSpPr>
        <p:grpSpPr>
          <a:xfrm>
            <a:off x="444259" y="8568390"/>
            <a:ext cx="324600" cy="355182"/>
            <a:chOff x="0" y="0"/>
            <a:chExt cx="80174" cy="123748"/>
          </a:xfrm>
        </p:grpSpPr>
        <p:sp>
          <p:nvSpPr>
            <p:cNvPr id="689" name="Google Shape;689;g3c699a7b086_1_555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90" name="Google Shape;690;g3c699a7b086_1_555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100" lIns="45100" spcFirstLastPara="1" rIns="45100" wrap="square" tIns="451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98"/>
                <a:buFont typeface="Arial"/>
                <a:buNone/>
              </a:pPr>
              <a:r>
                <a:t/>
              </a:r>
              <a:endParaRPr b="0" i="0" sz="159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91" name="Google Shape;691;g3c699a7b086_1_555"/>
          <p:cNvGrpSpPr/>
          <p:nvPr/>
        </p:nvGrpSpPr>
        <p:grpSpPr>
          <a:xfrm>
            <a:off x="461734" y="9128026"/>
            <a:ext cx="324600" cy="355182"/>
            <a:chOff x="0" y="0"/>
            <a:chExt cx="80174" cy="123748"/>
          </a:xfrm>
        </p:grpSpPr>
        <p:sp>
          <p:nvSpPr>
            <p:cNvPr id="692" name="Google Shape;692;g3c699a7b086_1_555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93" name="Google Shape;693;g3c699a7b086_1_555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100" lIns="45100" spcFirstLastPara="1" rIns="45100" wrap="square" tIns="451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98"/>
                <a:buFont typeface="Arial"/>
                <a:buNone/>
              </a:pPr>
              <a:r>
                <a:t/>
              </a:r>
              <a:endParaRPr b="0" i="0" sz="159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3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84" l="0" r="-56470" t="-52934"/>
            </a:stretch>
          </a:blipFill>
          <a:ln>
            <a:noFill/>
          </a:ln>
        </p:spPr>
      </p:sp>
      <p:sp>
        <p:nvSpPr>
          <p:cNvPr id="699" name="Google Shape;699;p30"/>
          <p:cNvSpPr/>
          <p:nvPr/>
        </p:nvSpPr>
        <p:spPr>
          <a:xfrm>
            <a:off x="5915603" y="4111509"/>
            <a:ext cx="6456794" cy="2063982"/>
          </a:xfrm>
          <a:custGeom>
            <a:rect b="b" l="l" r="r" t="t"/>
            <a:pathLst>
              <a:path extrusionOk="0" h="2063982" w="6456794">
                <a:moveTo>
                  <a:pt x="0" y="0"/>
                </a:moveTo>
                <a:lnTo>
                  <a:pt x="6456794" y="0"/>
                </a:lnTo>
                <a:lnTo>
                  <a:pt x="6456794" y="2063982"/>
                </a:lnTo>
                <a:lnTo>
                  <a:pt x="0" y="20639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