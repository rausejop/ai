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6858000" cy="9144000"/>
  <p:embeddedFontLst>
    <p:embeddedFont>
      <p:font typeface="Jos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NKh8t8smIOKtCz/Fr6ynXj7rv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Jos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t-italic.fntdata"/><Relationship Id="rId14" Type="http://schemas.openxmlformats.org/officeDocument/2006/relationships/slide" Target="slides/slide9.xml"/><Relationship Id="rId36" Type="http://schemas.openxmlformats.org/officeDocument/2006/relationships/font" Target="fonts/Jost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Jos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99b4b52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c699b4b52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699b4b52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c699b4b52c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699b4b52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c699b4b52c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699b4b52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c699b4b52c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699b4b52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c699b4b52c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699b4b52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c699b4b52c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699b4b52c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c699b4b52c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699b4b52c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c699b4b52c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699b4b52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c699b4b52c_0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699b4b52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c699b4b52c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99b4b52c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3c699b4b52c_0_3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699b4b52c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c699b4b52c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699b4b52c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3c699b4b52c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699b4b52c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3c699b4b52c_0_4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699b4b52c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9" name="Google Shape;489;g3c699b4b52c_0_4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699b4b52c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g3c699b4b52c_0_4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699b4b52c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c699b4b52c_0_4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699b4b52c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g3c699b4b52c_0_5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699b4b52c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g3c699b4b52c_0_5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699b4b52c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g3c699b4b52c_0_5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c699b4b52c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g3c699b4b52c_0_6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c699b4b52c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g3c699b4b52c_0_6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699b4b52c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7" name="Google Shape;687;g3c699b4b52c_0_6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c691fa32ac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c691fa32a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5" name="Google Shape;75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259550" y="4477258"/>
            <a:ext cx="133134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92"/>
              <a:buFont typeface="Arial"/>
              <a:buNone/>
            </a:pPr>
            <a:r>
              <a:rPr b="1" i="0" lang="en-US" sz="1459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descr="Bandera de España - Wikipedia, la enciclopedia libre" id="87" name="Google Shape;87;p1"/>
          <p:cNvSpPr/>
          <p:nvPr/>
        </p:nvSpPr>
        <p:spPr>
          <a:xfrm>
            <a:off x="457426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575332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15" l="0" r="0" t="0"/>
            </a:stretch>
          </a:blipFill>
          <a:ln>
            <a:noFill/>
          </a:ln>
        </p:spPr>
      </p:sp>
      <p:sp>
        <p:nvSpPr>
          <p:cNvPr descr="Bandera de Jordania - Wikipedia, la enciclopedia libre" id="89" name="Google Shape;89;p1"/>
          <p:cNvSpPr/>
          <p:nvPr/>
        </p:nvSpPr>
        <p:spPr>
          <a:xfrm>
            <a:off x="6935692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17923" t="0"/>
            </a:stretch>
          </a:blip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259550" y="7954400"/>
            <a:ext cx="8989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Advanced NLP &amp; Large Language Models (LLMs)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0400" y="6859900"/>
            <a:ext cx="6771771" cy="720872"/>
            <a:chOff x="0" y="-9525"/>
            <a:chExt cx="1443136" cy="18986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43136" cy="180338"/>
            </a:xfrm>
            <a:custGeom>
              <a:rect b="b" l="l" r="r" t="t"/>
              <a:pathLst>
                <a:path extrusionOk="0" h="180338" w="1443136">
                  <a:moveTo>
                    <a:pt x="0" y="0"/>
                  </a:moveTo>
                  <a:lnTo>
                    <a:pt x="1443136" y="0"/>
                  </a:lnTo>
                  <a:lnTo>
                    <a:pt x="1443136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9525"/>
              <a:ext cx="1443136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9561" y="2047829"/>
            <a:ext cx="10060500" cy="6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M01: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Text Preprocessing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M02: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Word and Sentence Embeddings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M03: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Architectures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M04: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Entity-Centric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M05: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M06: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Multimodal NLP</a:t>
            </a:r>
            <a:endParaRPr i="0" sz="1400" u="none" cap="none" strike="noStrike">
              <a:solidFill>
                <a:srgbClr val="AEAEAE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M07: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 Fundamentals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M08:</a:t>
            </a: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 Engineering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M09: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M10: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0" l="0" r="-56472" t="-52930"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2425176"/>
            <a:ext cx="140943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44"/>
              <a:buFont typeface="Arial"/>
              <a:buNone/>
            </a:pPr>
            <a:r>
              <a:rPr b="1" i="0" lang="en-US" sz="894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5172775"/>
            <a:ext cx="139545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1"/>
              <a:buFont typeface="Arial"/>
              <a:buNone/>
            </a:pPr>
            <a:r>
              <a:rPr lang="en-US" sz="621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 Engineering</a:t>
            </a:r>
            <a:endParaRPr b="0" i="0" sz="621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028700" y="1028700"/>
            <a:ext cx="5383245" cy="1023295"/>
            <a:chOff x="0" y="0"/>
            <a:chExt cx="1417800" cy="269508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MODULE M01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1028700" y="3796780"/>
            <a:ext cx="5383245" cy="1023295"/>
            <a:chOff x="0" y="0"/>
            <a:chExt cx="1417800" cy="269508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CHAPTER M0</a:t>
              </a:r>
              <a:r>
                <a:rPr b="1" lang="en-US" sz="44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160375" y="1999375"/>
            <a:ext cx="13842923" cy="720872"/>
            <a:chOff x="0" y="-9525"/>
            <a:chExt cx="2404287" cy="189863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9525"/>
              <a:ext cx="240428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1259550" y="20478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8.1 Introduction to Prompt Engineering: Why It Matters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In-Context Learning: Zero-Shot and Few-Shot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Chain-of-Thought: Eliciting Reasoning and Planning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Structured Prompting: RISEN and CARE Frameworks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Advanced Prompt Strategies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99b4b52c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41" name="Google Shape;141;g3c699b4b52c_0_3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8.1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2" name="Google Shape;142;g3c699b4b52c_0_3"/>
          <p:cNvSpPr txBox="1"/>
          <p:nvPr/>
        </p:nvSpPr>
        <p:spPr>
          <a:xfrm>
            <a:off x="1028700" y="3040600"/>
            <a:ext cx="80943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Prompt Engineering?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3" name="Google Shape;143;g3c699b4b52c_0_3"/>
          <p:cNvSpPr txBox="1"/>
          <p:nvPr/>
        </p:nvSpPr>
        <p:spPr>
          <a:xfrm>
            <a:off x="1463225" y="5957126"/>
            <a:ext cx="7865400" cy="4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LLMs are controlled through language, not code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Prompts shape the model’s internal probability distribution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Small wording changes can produce radically different outputs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Prompting is not chatting, it is system control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4" name="Google Shape;144;g3c699b4b52c_0_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5" name="Google Shape;145;g3c699b4b52c_0_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" name="Google Shape;146;g3c699b4b52c_0_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g3c699b4b52c_0_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c699b4b52c_0_3"/>
          <p:cNvSpPr txBox="1"/>
          <p:nvPr/>
        </p:nvSpPr>
        <p:spPr>
          <a:xfrm>
            <a:off x="1028700" y="4131825"/>
            <a:ext cx="80943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 Engineering is the primary interface between human intent and large language models. It transforms natural language into a precise control mechanism for probabilistic systems.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9" name="Google Shape;149;g3c699b4b52c_0_3"/>
          <p:cNvGrpSpPr/>
          <p:nvPr/>
        </p:nvGrpSpPr>
        <p:grpSpPr>
          <a:xfrm>
            <a:off x="1028700" y="5957148"/>
            <a:ext cx="259162" cy="400015"/>
            <a:chOff x="0" y="0"/>
            <a:chExt cx="80174" cy="123748"/>
          </a:xfrm>
        </p:grpSpPr>
        <p:sp>
          <p:nvSpPr>
            <p:cNvPr id="150" name="Google Shape;150;g3c699b4b52c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1" name="Google Shape;151;g3c699b4b52c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g3c699b4b52c_0_3"/>
          <p:cNvGrpSpPr/>
          <p:nvPr/>
        </p:nvGrpSpPr>
        <p:grpSpPr>
          <a:xfrm>
            <a:off x="1028703" y="8556350"/>
            <a:ext cx="259146" cy="400028"/>
            <a:chOff x="0" y="0"/>
            <a:chExt cx="80174" cy="123748"/>
          </a:xfrm>
        </p:grpSpPr>
        <p:sp>
          <p:nvSpPr>
            <p:cNvPr id="153" name="Google Shape;153;g3c699b4b52c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" name="Google Shape;154;g3c699b4b52c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c699b4b52c_0_3"/>
          <p:cNvSpPr txBox="1"/>
          <p:nvPr/>
        </p:nvSpPr>
        <p:spPr>
          <a:xfrm>
            <a:off x="1044800" y="4308969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g3c699b4b52c_0_3"/>
          <p:cNvGrpSpPr/>
          <p:nvPr/>
        </p:nvGrpSpPr>
        <p:grpSpPr>
          <a:xfrm>
            <a:off x="1044800" y="6680943"/>
            <a:ext cx="226949" cy="588026"/>
            <a:chOff x="0" y="0"/>
            <a:chExt cx="80174" cy="123748"/>
          </a:xfrm>
        </p:grpSpPr>
        <p:sp>
          <p:nvSpPr>
            <p:cNvPr id="157" name="Google Shape;157;g3c699b4b52c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8" name="Google Shape;158;g3c699b4b52c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g3c699b4b52c_0_3"/>
          <p:cNvGrpSpPr/>
          <p:nvPr/>
        </p:nvGrpSpPr>
        <p:grpSpPr>
          <a:xfrm>
            <a:off x="1044725" y="7638618"/>
            <a:ext cx="226949" cy="588026"/>
            <a:chOff x="0" y="0"/>
            <a:chExt cx="80174" cy="123748"/>
          </a:xfrm>
        </p:grpSpPr>
        <p:sp>
          <p:nvSpPr>
            <p:cNvPr id="160" name="Google Shape;160;g3c699b4b52c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1" name="Google Shape;161;g3c699b4b52c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2" name="Google Shape;162;g3c699b4b52c_0_3" title="ChatGPT Image 5 feb 2026, 14_17_50.png"/>
          <p:cNvPicPr preferRelativeResize="0"/>
          <p:nvPr/>
        </p:nvPicPr>
        <p:blipFill rotWithShape="1">
          <a:blip r:embed="rId5">
            <a:alphaModFix/>
          </a:blip>
          <a:srcRect b="13058" l="0" r="0" t="0"/>
          <a:stretch/>
        </p:blipFill>
        <p:spPr>
          <a:xfrm>
            <a:off x="9650025" y="3220276"/>
            <a:ext cx="7609275" cy="44102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699b4b52c_0_1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68" name="Google Shape;168;g3c699b4b52c_0_115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8.1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9" name="Google Shape;169;g3c699b4b52c_0_115"/>
          <p:cNvSpPr txBox="1"/>
          <p:nvPr/>
        </p:nvSpPr>
        <p:spPr>
          <a:xfrm>
            <a:off x="1028700" y="3040600"/>
            <a:ext cx="85815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Core Components of a Professional Prompt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0" name="Google Shape;170;g3c699b4b52c_0_115"/>
          <p:cNvSpPr txBox="1"/>
          <p:nvPr/>
        </p:nvSpPr>
        <p:spPr>
          <a:xfrm>
            <a:off x="1463225" y="6202001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Prompts function as a new programming layer.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Logic is expressed in natural language.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Focus on what to achieve, not how.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rapid prototyping without training models.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1" name="Google Shape;171;g3c699b4b52c_0_11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2" name="Google Shape;172;g3c699b4b52c_0_11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3" name="Google Shape;173;g3c699b4b52c_0_11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g3c699b4b52c_0_11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g3c699b4b52c_0_115"/>
          <p:cNvSpPr txBox="1"/>
          <p:nvPr/>
        </p:nvSpPr>
        <p:spPr>
          <a:xfrm>
            <a:off x="1028700" y="4685200"/>
            <a:ext cx="80943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 Engineering replaces hard-coded logic with declarative language instructions. Instead of writing rules, developers describe outcomes.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6" name="Google Shape;176;g3c699b4b52c_0_115"/>
          <p:cNvGrpSpPr/>
          <p:nvPr/>
        </p:nvGrpSpPr>
        <p:grpSpPr>
          <a:xfrm>
            <a:off x="1028700" y="6202023"/>
            <a:ext cx="259162" cy="400015"/>
            <a:chOff x="0" y="0"/>
            <a:chExt cx="80174" cy="123748"/>
          </a:xfrm>
        </p:grpSpPr>
        <p:sp>
          <p:nvSpPr>
            <p:cNvPr id="177" name="Google Shape;177;g3c699b4b52c_0_11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8" name="Google Shape;178;g3c699b4b52c_0_11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g3c699b4b52c_0_115"/>
          <p:cNvGrpSpPr/>
          <p:nvPr/>
        </p:nvGrpSpPr>
        <p:grpSpPr>
          <a:xfrm>
            <a:off x="1028628" y="8129476"/>
            <a:ext cx="259146" cy="400028"/>
            <a:chOff x="0" y="0"/>
            <a:chExt cx="80174" cy="123748"/>
          </a:xfrm>
        </p:grpSpPr>
        <p:sp>
          <p:nvSpPr>
            <p:cNvPr id="180" name="Google Shape;180;g3c699b4b52c_0_11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1" name="Google Shape;181;g3c699b4b52c_0_11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g3c699b4b52c_0_115"/>
          <p:cNvSpPr txBox="1"/>
          <p:nvPr/>
        </p:nvSpPr>
        <p:spPr>
          <a:xfrm>
            <a:off x="1044800" y="48623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" name="Google Shape;183;g3c699b4b52c_0_115"/>
          <p:cNvGrpSpPr/>
          <p:nvPr/>
        </p:nvGrpSpPr>
        <p:grpSpPr>
          <a:xfrm>
            <a:off x="1028625" y="6873773"/>
            <a:ext cx="259162" cy="400015"/>
            <a:chOff x="0" y="0"/>
            <a:chExt cx="80174" cy="123748"/>
          </a:xfrm>
        </p:grpSpPr>
        <p:sp>
          <p:nvSpPr>
            <p:cNvPr id="184" name="Google Shape;184;g3c699b4b52c_0_11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5" name="Google Shape;185;g3c699b4b52c_0_11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g3c699b4b52c_0_115"/>
          <p:cNvGrpSpPr/>
          <p:nvPr/>
        </p:nvGrpSpPr>
        <p:grpSpPr>
          <a:xfrm>
            <a:off x="1028700" y="7501623"/>
            <a:ext cx="259162" cy="400015"/>
            <a:chOff x="0" y="0"/>
            <a:chExt cx="80174" cy="123748"/>
          </a:xfrm>
        </p:grpSpPr>
        <p:sp>
          <p:nvSpPr>
            <p:cNvPr id="187" name="Google Shape;187;g3c699b4b52c_0_11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8" name="Google Shape;188;g3c699b4b52c_0_11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9" name="Google Shape;189;g3c699b4b52c_0_115" title="ChatGPT Image 5 feb 2026, 14_27_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49275" y="3164726"/>
            <a:ext cx="7010024" cy="46733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699b4b52c_0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95" name="Google Shape;195;g3c699b4b52c_0_151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8.1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g3c699b4b52c_0_151"/>
          <p:cNvSpPr txBox="1"/>
          <p:nvPr/>
        </p:nvSpPr>
        <p:spPr>
          <a:xfrm>
            <a:off x="1028700" y="3040600"/>
            <a:ext cx="84816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Prompting as a Probabilistic Control Mechanism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7" name="Google Shape;197;g3c699b4b52c_0_151"/>
          <p:cNvSpPr txBox="1"/>
          <p:nvPr/>
        </p:nvSpPr>
        <p:spPr>
          <a:xfrm>
            <a:off x="1463225" y="6510500"/>
            <a:ext cx="78654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LLMs predict the next token probabilistically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Prompts act as soft constraints on attention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Specificity reduces generic or vague responses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Role, audience, and intent strongly influence outputs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98" name="Google Shape;198;g3c699b4b52c_0_15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99" name="Google Shape;199;g3c699b4b52c_0_15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0" name="Google Shape;200;g3c699b4b52c_0_15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g3c699b4b52c_0_15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g3c699b4b52c_0_151"/>
          <p:cNvSpPr txBox="1"/>
          <p:nvPr/>
        </p:nvSpPr>
        <p:spPr>
          <a:xfrm>
            <a:off x="1028700" y="4685200"/>
            <a:ext cx="80943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Every prompt reconfigures the model’s internal state by emphasizing specific meanings, roles, and objectives. Effective prompts reduce randomness and increase task precision.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03" name="Google Shape;203;g3c699b4b52c_0_151"/>
          <p:cNvGrpSpPr/>
          <p:nvPr/>
        </p:nvGrpSpPr>
        <p:grpSpPr>
          <a:xfrm>
            <a:off x="1028700" y="6510522"/>
            <a:ext cx="259162" cy="400015"/>
            <a:chOff x="0" y="0"/>
            <a:chExt cx="80174" cy="123748"/>
          </a:xfrm>
        </p:grpSpPr>
        <p:sp>
          <p:nvSpPr>
            <p:cNvPr id="204" name="Google Shape;204;g3c699b4b52c_0_1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5" name="Google Shape;205;g3c699b4b52c_0_1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g3c699b4b52c_0_151"/>
          <p:cNvGrpSpPr/>
          <p:nvPr/>
        </p:nvGrpSpPr>
        <p:grpSpPr>
          <a:xfrm>
            <a:off x="1028628" y="8437975"/>
            <a:ext cx="259146" cy="400028"/>
            <a:chOff x="0" y="0"/>
            <a:chExt cx="80174" cy="123748"/>
          </a:xfrm>
        </p:grpSpPr>
        <p:sp>
          <p:nvSpPr>
            <p:cNvPr id="207" name="Google Shape;207;g3c699b4b52c_0_1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8" name="Google Shape;208;g3c699b4b52c_0_1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g3c699b4b52c_0_151"/>
          <p:cNvSpPr txBox="1"/>
          <p:nvPr/>
        </p:nvSpPr>
        <p:spPr>
          <a:xfrm>
            <a:off x="1044800" y="48623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g3c699b4b52c_0_151"/>
          <p:cNvGrpSpPr/>
          <p:nvPr/>
        </p:nvGrpSpPr>
        <p:grpSpPr>
          <a:xfrm>
            <a:off x="1028625" y="7182272"/>
            <a:ext cx="259162" cy="400015"/>
            <a:chOff x="0" y="0"/>
            <a:chExt cx="80174" cy="123748"/>
          </a:xfrm>
        </p:grpSpPr>
        <p:sp>
          <p:nvSpPr>
            <p:cNvPr id="211" name="Google Shape;211;g3c699b4b52c_0_1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2" name="Google Shape;212;g3c699b4b52c_0_1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g3c699b4b52c_0_151"/>
          <p:cNvGrpSpPr/>
          <p:nvPr/>
        </p:nvGrpSpPr>
        <p:grpSpPr>
          <a:xfrm>
            <a:off x="1028700" y="7810122"/>
            <a:ext cx="259162" cy="400015"/>
            <a:chOff x="0" y="0"/>
            <a:chExt cx="80174" cy="123748"/>
          </a:xfrm>
        </p:grpSpPr>
        <p:sp>
          <p:nvSpPr>
            <p:cNvPr id="214" name="Google Shape;214;g3c699b4b52c_0_1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5" name="Google Shape;215;g3c699b4b52c_0_1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6" name="Google Shape;216;g3c699b4b52c_0_151" title="ChatGPT Image 5 feb 2026, 14_27_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5589" y="3040601"/>
            <a:ext cx="7303711" cy="486915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699b4b52c_0_17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22" name="Google Shape;222;g3c699b4b52c_0_178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8.1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g3c699b4b52c_0_178"/>
          <p:cNvSpPr txBox="1"/>
          <p:nvPr/>
        </p:nvSpPr>
        <p:spPr>
          <a:xfrm>
            <a:off x="1028700" y="3040600"/>
            <a:ext cx="8481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Prompt Engineering Matters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4" name="Google Shape;224;g3c699b4b52c_0_178"/>
          <p:cNvSpPr txBox="1"/>
          <p:nvPr/>
        </p:nvSpPr>
        <p:spPr>
          <a:xfrm>
            <a:off x="1463225" y="5728526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Instruction: the explicit task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Context: background knowledge or documents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Input data: variable user content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Output constraints: format, tone, structure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25" name="Google Shape;225;g3c699b4b52c_0_17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26" name="Google Shape;226;g3c699b4b52c_0_17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7" name="Google Shape;227;g3c699b4b52c_0_17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c699b4b52c_0_17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g3c699b4b52c_0_178"/>
          <p:cNvSpPr txBox="1"/>
          <p:nvPr/>
        </p:nvSpPr>
        <p:spPr>
          <a:xfrm>
            <a:off x="1028700" y="4151800"/>
            <a:ext cx="80943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Reliable AI systems require structured prompts, not ad-hoc instructions. Professional prompts are designed as modular data objects.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30" name="Google Shape;230;g3c699b4b52c_0_178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231" name="Google Shape;231;g3c699b4b52c_0_17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2" name="Google Shape;232;g3c699b4b52c_0_17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g3c699b4b52c_0_178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234" name="Google Shape;234;g3c699b4b52c_0_17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5" name="Google Shape;235;g3c699b4b52c_0_17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g3c699b4b52c_0_178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g3c699b4b52c_0_178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238" name="Google Shape;238;g3c699b4b52c_0_17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9" name="Google Shape;239;g3c699b4b52c_0_17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g3c699b4b52c_0_178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241" name="Google Shape;241;g3c699b4b52c_0_17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2" name="Google Shape;242;g3c699b4b52c_0_17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3" name="Google Shape;243;g3c699b4b52c_0_178" title="ChatGPT Image 5 feb 2026, 14_29_59.png"/>
          <p:cNvPicPr preferRelativeResize="0"/>
          <p:nvPr/>
        </p:nvPicPr>
        <p:blipFill rotWithShape="1">
          <a:blip r:embed="rId5">
            <a:alphaModFix/>
          </a:blip>
          <a:srcRect b="10817" l="3370" r="3005" t="0"/>
          <a:stretch/>
        </p:blipFill>
        <p:spPr>
          <a:xfrm>
            <a:off x="10129425" y="3254725"/>
            <a:ext cx="6931227" cy="440127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699b4b52c_0_20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249" name="Google Shape;249;g3c699b4b52c_0_205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250" name="Google Shape;250;g3c699b4b52c_0_205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1" name="Google Shape;251;g3c699b4b52c_0_205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g3c699b4b52c_0_205"/>
          <p:cNvGrpSpPr/>
          <p:nvPr/>
        </p:nvGrpSpPr>
        <p:grpSpPr>
          <a:xfrm>
            <a:off x="1160375" y="2721425"/>
            <a:ext cx="12224838" cy="721031"/>
            <a:chOff x="0" y="-9525"/>
            <a:chExt cx="2404287" cy="189900"/>
          </a:xfrm>
        </p:grpSpPr>
        <p:sp>
          <p:nvSpPr>
            <p:cNvPr id="253" name="Google Shape;253;g3c699b4b52c_0_205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4" name="Google Shape;254;g3c699b4b52c_0_205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g3c699b4b52c_0_205"/>
          <p:cNvSpPr txBox="1"/>
          <p:nvPr/>
        </p:nvSpPr>
        <p:spPr>
          <a:xfrm>
            <a:off x="1259550" y="20478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8.2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In-Context Learning: Zero-Shot and Few-Shot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Chain-of-Thought: Eliciting Reasoning and Planning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Structured Prompting: RISEN and CARE Frameworks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Advanced Prompt Strategies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6" name="Google Shape;256;g3c699b4b52c_0_20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g3c699b4b52c_0_205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699b4b52c_0_2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63" name="Google Shape;263;g3c699b4b52c_0_218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Learning: Zero-Shot and Few-Shot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4" name="Google Shape;264;g3c699b4b52c_0_218"/>
          <p:cNvSpPr txBox="1"/>
          <p:nvPr/>
        </p:nvSpPr>
        <p:spPr>
          <a:xfrm>
            <a:off x="1028700" y="3040600"/>
            <a:ext cx="8880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In-Context Learning (ICL)?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5" name="Google Shape;265;g3c699b4b52c_0_218"/>
          <p:cNvSpPr txBox="1"/>
          <p:nvPr/>
        </p:nvSpPr>
        <p:spPr>
          <a:xfrm>
            <a:off x="1463225" y="5728526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Learning happens inside the context window.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gradient updates or retraining involved.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Behavior is guided by prompt structure.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Knowledge is temporary and session-bound.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66" name="Google Shape;266;g3c699b4b52c_0_21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67" name="Google Shape;267;g3c699b4b52c_0_21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8" name="Google Shape;268;g3c699b4b52c_0_21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" name="Google Shape;269;g3c699b4b52c_0_21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g3c699b4b52c_0_218"/>
          <p:cNvSpPr txBox="1"/>
          <p:nvPr/>
        </p:nvSpPr>
        <p:spPr>
          <a:xfrm>
            <a:off x="1028700" y="4151800"/>
            <a:ext cx="8094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 allows an LLM to perform new tasks purely from information provided inside the prompt, without updating its weights.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71" name="Google Shape;271;g3c699b4b52c_0_218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272" name="Google Shape;272;g3c699b4b52c_0_2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3" name="Google Shape;273;g3c699b4b52c_0_2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g3c699b4b52c_0_218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275" name="Google Shape;275;g3c699b4b52c_0_2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6" name="Google Shape;276;g3c699b4b52c_0_2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g3c699b4b52c_0_218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" name="Google Shape;278;g3c699b4b52c_0_218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279" name="Google Shape;279;g3c699b4b52c_0_2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0" name="Google Shape;280;g3c699b4b52c_0_2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g3c699b4b52c_0_218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282" name="Google Shape;282;g3c699b4b52c_0_2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3" name="Google Shape;283;g3c699b4b52c_0_2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4" name="Google Shape;284;g3c699b4b52c_0_218" title="ChatGPT Image 5 feb 2026, 14_32_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89350" y="3124776"/>
            <a:ext cx="7069951" cy="47133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699b4b52c_0_2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90" name="Google Shape;290;g3c699b4b52c_0_245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Learning: Zero-Shot and Few-Shot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91" name="Google Shape;291;g3c699b4b52c_0_245"/>
          <p:cNvSpPr txBox="1"/>
          <p:nvPr/>
        </p:nvSpPr>
        <p:spPr>
          <a:xfrm>
            <a:off x="1028700" y="3040600"/>
            <a:ext cx="8880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Zero-Shot Learning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92" name="Google Shape;292;g3c699b4b52c_0_245"/>
          <p:cNvSpPr txBox="1"/>
          <p:nvPr/>
        </p:nvSpPr>
        <p:spPr>
          <a:xfrm>
            <a:off x="1463225" y="5728526"/>
            <a:ext cx="78654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demonstrations provided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Fast and low token cost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 flexibility but lower reliability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Often inconsistent formatting in complex tasks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93" name="Google Shape;293;g3c699b4b52c_0_24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94" name="Google Shape;294;g3c699b4b52c_0_24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5" name="Google Shape;295;g3c699b4b52c_0_24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g3c699b4b52c_0_24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g3c699b4b52c_0_245"/>
          <p:cNvSpPr txBox="1"/>
          <p:nvPr/>
        </p:nvSpPr>
        <p:spPr>
          <a:xfrm>
            <a:off x="1028700" y="4151800"/>
            <a:ext cx="8094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Zero-shot prompting asks the model to solve a task without seeing any examples, relying entirely on pre-training knowledge.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98" name="Google Shape;298;g3c699b4b52c_0_245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299" name="Google Shape;299;g3c699b4b52c_0_2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0" name="Google Shape;300;g3c699b4b52c_0_2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g3c699b4b52c_0_245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302" name="Google Shape;302;g3c699b4b52c_0_2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3" name="Google Shape;303;g3c699b4b52c_0_2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c699b4b52c_0_245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g3c699b4b52c_0_245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306" name="Google Shape;306;g3c699b4b52c_0_2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7" name="Google Shape;307;g3c699b4b52c_0_2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g3c699b4b52c_0_245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309" name="Google Shape;309;g3c699b4b52c_0_2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0" name="Google Shape;310;g3c699b4b52c_0_2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1" name="Google Shape;311;g3c699b4b52c_0_245" title="ChatGPT Image 5 feb 2026, 14_31_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9325" y="3138076"/>
            <a:ext cx="7049975" cy="47000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699b4b52c_0_27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17" name="Google Shape;317;g3c699b4b52c_0_272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Learning: Zero-Shot and Few-Shot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8" name="Google Shape;318;g3c699b4b52c_0_272"/>
          <p:cNvSpPr txBox="1"/>
          <p:nvPr/>
        </p:nvSpPr>
        <p:spPr>
          <a:xfrm>
            <a:off x="1028700" y="3040600"/>
            <a:ext cx="8880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Few-Shot Learning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9" name="Google Shape;319;g3c699b4b52c_0_272"/>
          <p:cNvSpPr txBox="1"/>
          <p:nvPr/>
        </p:nvSpPr>
        <p:spPr>
          <a:xfrm>
            <a:off x="1463225" y="5728526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Uses 3–10 example pairs.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Examples act as behavioral blueprints.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Strongly improves format and accuracy.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Increases token usage and latency.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20" name="Google Shape;320;g3c699b4b52c_0_27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21" name="Google Shape;321;g3c699b4b52c_0_27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2" name="Google Shape;322;g3c699b4b52c_0_27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g3c699b4b52c_0_27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g3c699b4b52c_0_272"/>
          <p:cNvSpPr txBox="1"/>
          <p:nvPr/>
        </p:nvSpPr>
        <p:spPr>
          <a:xfrm>
            <a:off x="1028700" y="4151800"/>
            <a:ext cx="8094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Few-shot learning improves reliability by providing examples that demonstrate the desired input-output behavior.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25" name="Google Shape;325;g3c699b4b52c_0_272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326" name="Google Shape;326;g3c699b4b52c_0_2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7" name="Google Shape;327;g3c699b4b52c_0_2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g3c699b4b52c_0_272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329" name="Google Shape;329;g3c699b4b52c_0_2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0" name="Google Shape;330;g3c699b4b52c_0_2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g3c699b4b52c_0_272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" name="Google Shape;332;g3c699b4b52c_0_272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333" name="Google Shape;333;g3c699b4b52c_0_2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4" name="Google Shape;334;g3c699b4b52c_0_2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g3c699b4b52c_0_272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336" name="Google Shape;336;g3c699b4b52c_0_27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7" name="Google Shape;337;g3c699b4b52c_0_27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8" name="Google Shape;338;g3c699b4b52c_0_272" title="ChatGPT Image 5 feb 2026, 14_34_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3101" y="3040601"/>
            <a:ext cx="7196198" cy="479747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699b4b52c_0_29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44" name="Google Shape;344;g3c699b4b52c_0_299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Learning: Zero-Shot and Few-Shot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5" name="Google Shape;345;g3c699b4b52c_0_299"/>
          <p:cNvSpPr txBox="1"/>
          <p:nvPr/>
        </p:nvSpPr>
        <p:spPr>
          <a:xfrm>
            <a:off x="1028700" y="3040600"/>
            <a:ext cx="8880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Few-Shot Works?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6" name="Google Shape;346;g3c699b4b52c_0_299"/>
          <p:cNvSpPr txBox="1"/>
          <p:nvPr/>
        </p:nvSpPr>
        <p:spPr>
          <a:xfrm>
            <a:off x="1463225" y="5728526"/>
            <a:ext cx="78654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Primes attention and latent representations.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Reduces ambiguity in task interpretation.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Anchors tone, structure, and labels.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Works best with high-quality examples.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47" name="Google Shape;347;g3c699b4b52c_0_29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48" name="Google Shape;348;g3c699b4b52c_0_29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9" name="Google Shape;349;g3c699b4b52c_0_29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g3c699b4b52c_0_29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g3c699b4b52c_0_299"/>
          <p:cNvSpPr txBox="1"/>
          <p:nvPr/>
        </p:nvSpPr>
        <p:spPr>
          <a:xfrm>
            <a:off x="1028700" y="4151800"/>
            <a:ext cx="8094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Few-shot examples shift the model’s internal attention toward a specific task distribution, increasing output probability for correct patterns.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52" name="Google Shape;352;g3c699b4b52c_0_299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353" name="Google Shape;353;g3c699b4b52c_0_29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4" name="Google Shape;354;g3c699b4b52c_0_29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g3c699b4b52c_0_299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356" name="Google Shape;356;g3c699b4b52c_0_29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7" name="Google Shape;357;g3c699b4b52c_0_29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Google Shape;358;g3c699b4b52c_0_299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g3c699b4b52c_0_299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360" name="Google Shape;360;g3c699b4b52c_0_29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1" name="Google Shape;361;g3c699b4b52c_0_29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g3c699b4b52c_0_299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363" name="Google Shape;363;g3c699b4b52c_0_29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4" name="Google Shape;364;g3c699b4b52c_0_29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5" name="Google Shape;365;g3c699b4b52c_0_299" title="ChatGPT Image 5 feb 2026, 14_37_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700" y="3169475"/>
            <a:ext cx="6613597" cy="440906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699b4b52c_0_3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71" name="Google Shape;371;g3c699b4b52c_0_326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Learning: Zero-Shot and Few-Shot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72" name="Google Shape;372;g3c699b4b52c_0_326"/>
          <p:cNvSpPr txBox="1"/>
          <p:nvPr/>
        </p:nvSpPr>
        <p:spPr>
          <a:xfrm>
            <a:off x="1028700" y="3040600"/>
            <a:ext cx="8880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Best Practices for In-Context Exam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73" name="Google Shape;373;g3c699b4b52c_0_326"/>
          <p:cNvSpPr txBox="1"/>
          <p:nvPr/>
        </p:nvSpPr>
        <p:spPr>
          <a:xfrm>
            <a:off x="1463225" y="5728526"/>
            <a:ext cx="78654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 diverse and representative examples.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Balance labels in classification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Avoid repetitive patterns.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Order matters due to recency bias.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74" name="Google Shape;374;g3c699b4b52c_0_32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75" name="Google Shape;375;g3c699b4b52c_0_32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6" name="Google Shape;376;g3c699b4b52c_0_32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g3c699b4b52c_0_32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g3c699b4b52c_0_326"/>
          <p:cNvSpPr txBox="1"/>
          <p:nvPr/>
        </p:nvSpPr>
        <p:spPr>
          <a:xfrm>
            <a:off x="1028700" y="4151800"/>
            <a:ext cx="8094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Poor example selection can bias or degrade performance. Example quality matters more than quantity.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79" name="Google Shape;379;g3c699b4b52c_0_326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380" name="Google Shape;380;g3c699b4b52c_0_3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1" name="Google Shape;381;g3c699b4b52c_0_3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g3c699b4b52c_0_326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383" name="Google Shape;383;g3c699b4b52c_0_3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4" name="Google Shape;384;g3c699b4b52c_0_3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g3c699b4b52c_0_326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" name="Google Shape;386;g3c699b4b52c_0_326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387" name="Google Shape;387;g3c699b4b52c_0_3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8" name="Google Shape;388;g3c699b4b52c_0_3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" name="Google Shape;389;g3c699b4b52c_0_326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390" name="Google Shape;390;g3c699b4b52c_0_3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1" name="Google Shape;391;g3c699b4b52c_0_32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2" name="Google Shape;392;g3c699b4b52c_0_326" title="ChatGPT Image 5 feb 2026, 14_35_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9325" y="3261401"/>
            <a:ext cx="7049975" cy="47000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99b4b52c_0_3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98" name="Google Shape;398;g3c699b4b52c_0_366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8.2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In-Context Learning: Zero-Shot and Few-Shot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9" name="Google Shape;399;g3c699b4b52c_0_366"/>
          <p:cNvSpPr txBox="1"/>
          <p:nvPr/>
        </p:nvSpPr>
        <p:spPr>
          <a:xfrm>
            <a:off x="1028700" y="3040600"/>
            <a:ext cx="8880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Best Practices for In-Context Exam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00" name="Google Shape;400;g3c699b4b52c_0_366"/>
          <p:cNvSpPr txBox="1"/>
          <p:nvPr/>
        </p:nvSpPr>
        <p:spPr>
          <a:xfrm>
            <a:off x="1463225" y="5728526"/>
            <a:ext cx="78654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 diverse and representative examples.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Balance labels in classification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Avoid repetitive patterns.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Order matters due to recency bias.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01" name="Google Shape;401;g3c699b4b52c_0_36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02" name="Google Shape;402;g3c699b4b52c_0_36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3" name="Google Shape;403;g3c699b4b52c_0_36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g3c699b4b52c_0_36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g3c699b4b52c_0_366"/>
          <p:cNvSpPr txBox="1"/>
          <p:nvPr/>
        </p:nvSpPr>
        <p:spPr>
          <a:xfrm>
            <a:off x="1028700" y="4151800"/>
            <a:ext cx="8094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Poor example selection can bias or degrade performance. Example quality matters more than quantity.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06" name="Google Shape;406;g3c699b4b52c_0_366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407" name="Google Shape;407;g3c699b4b52c_0_36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8" name="Google Shape;408;g3c699b4b52c_0_36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g3c699b4b52c_0_366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410" name="Google Shape;410;g3c699b4b52c_0_36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1" name="Google Shape;411;g3c699b4b52c_0_36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g3c699b4b52c_0_366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" name="Google Shape;413;g3c699b4b52c_0_366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414" name="Google Shape;414;g3c699b4b52c_0_36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5" name="Google Shape;415;g3c699b4b52c_0_36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g3c699b4b52c_0_366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417" name="Google Shape;417;g3c699b4b52c_0_36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8" name="Google Shape;418;g3c699b4b52c_0_36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9" name="Google Shape;419;g3c699b4b52c_0_366" title="ChatGPT Image 5 feb 2026, 14_35_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9325" y="3261401"/>
            <a:ext cx="7049975" cy="47000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99b4b52c_0_353"/>
          <p:cNvSpPr/>
          <p:nvPr/>
        </p:nvSpPr>
        <p:spPr>
          <a:xfrm>
            <a:off x="0" y="1397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425" name="Google Shape;425;g3c699b4b52c_0_353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426" name="Google Shape;426;g3c699b4b52c_0_35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7" name="Google Shape;427;g3c699b4b52c_0_353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g3c699b4b52c_0_353"/>
          <p:cNvGrpSpPr/>
          <p:nvPr/>
        </p:nvGrpSpPr>
        <p:grpSpPr>
          <a:xfrm>
            <a:off x="1160375" y="3407225"/>
            <a:ext cx="13803012" cy="721031"/>
            <a:chOff x="0" y="-9525"/>
            <a:chExt cx="2404287" cy="189900"/>
          </a:xfrm>
        </p:grpSpPr>
        <p:sp>
          <p:nvSpPr>
            <p:cNvPr id="429" name="Google Shape;429;g3c699b4b52c_0_35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0" name="Google Shape;430;g3c699b4b52c_0_353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g3c699b4b52c_0_353"/>
          <p:cNvSpPr txBox="1"/>
          <p:nvPr/>
        </p:nvSpPr>
        <p:spPr>
          <a:xfrm>
            <a:off x="1259550" y="20478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In-Context Learning: Zero-Shot and Few-Shot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8.3 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Chain-of-Thought: Eliciting Reasoning and Planning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Structured Prompting: RISEN and CARE Frameworks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Advanced Prompt Strategies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2" name="Google Shape;432;g3c699b4b52c_0_35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g3c699b4b52c_0_35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699b4b52c_0_3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39" name="Google Shape;439;g3c699b4b52c_0_392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Chain-of-Thought: Eliciting Reasoning and Planning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40" name="Google Shape;440;g3c699b4b52c_0_392"/>
          <p:cNvSpPr txBox="1"/>
          <p:nvPr/>
        </p:nvSpPr>
        <p:spPr>
          <a:xfrm>
            <a:off x="1028700" y="3040600"/>
            <a:ext cx="8880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Chain-of-Thought Works?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41" name="Google Shape;441;g3c699b4b52c_0_392"/>
          <p:cNvSpPr txBox="1"/>
          <p:nvPr/>
        </p:nvSpPr>
        <p:spPr>
          <a:xfrm>
            <a:off x="1463225" y="5728526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Encourages step-by-step reasoning.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Reduces logical and arithmetic errors.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Activates latent reasoning capabilities.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Especially effective for math and logic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42" name="Google Shape;442;g3c699b4b52c_0_39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43" name="Google Shape;443;g3c699b4b52c_0_39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4" name="Google Shape;444;g3c699b4b52c_0_39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g3c699b4b52c_0_39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g3c699b4b52c_0_392"/>
          <p:cNvSpPr txBox="1"/>
          <p:nvPr/>
        </p:nvSpPr>
        <p:spPr>
          <a:xfrm>
            <a:off x="1028700" y="4151800"/>
            <a:ext cx="148536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Standard prompting often fails on complex reasoning because models jump directly to answers. Chain-of-Thought prompting forces the model to externalize intermediate reasoning steps, improving accuracy.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47" name="Google Shape;447;g3c699b4b52c_0_392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448" name="Google Shape;448;g3c699b4b52c_0_3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9" name="Google Shape;449;g3c699b4b52c_0_3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g3c699b4b52c_0_392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451" name="Google Shape;451;g3c699b4b52c_0_3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2" name="Google Shape;452;g3c699b4b52c_0_3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3" name="Google Shape;453;g3c699b4b52c_0_392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4" name="Google Shape;454;g3c699b4b52c_0_392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455" name="Google Shape;455;g3c699b4b52c_0_3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6" name="Google Shape;456;g3c699b4b52c_0_3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g3c699b4b52c_0_392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458" name="Google Shape;458;g3c699b4b52c_0_3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9" name="Google Shape;459;g3c699b4b52c_0_3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699b4b52c_0_4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65" name="Google Shape;465;g3c699b4b52c_0_418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Chain-of-Thought: Eliciting Reasoning and Planning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6" name="Google Shape;466;g3c699b4b52c_0_418"/>
          <p:cNvSpPr txBox="1"/>
          <p:nvPr/>
        </p:nvSpPr>
        <p:spPr>
          <a:xfrm>
            <a:off x="1028700" y="3040600"/>
            <a:ext cx="7962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Types of Chain of Thought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7" name="Google Shape;467;g3c699b4b52c_0_418"/>
          <p:cNvSpPr txBox="1"/>
          <p:nvPr/>
        </p:nvSpPr>
        <p:spPr>
          <a:xfrm>
            <a:off x="1463225" y="5728525"/>
            <a:ext cx="70683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Manual CoT: examples with written reasoning.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Zero-shot CoT: ‘Let’s think step by step’.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Self-consistency: multiple reasoning paths.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Majority vote filters incorrect logic.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68" name="Google Shape;468;g3c699b4b52c_0_41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69" name="Google Shape;469;g3c699b4b52c_0_41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0" name="Google Shape;470;g3c699b4b52c_0_41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g3c699b4b52c_0_41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g3c699b4b52c_0_418"/>
          <p:cNvSpPr txBox="1"/>
          <p:nvPr/>
        </p:nvSpPr>
        <p:spPr>
          <a:xfrm>
            <a:off x="1028700" y="4151800"/>
            <a:ext cx="72432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Chain-of-Thought can be manually demonstrated, automatically triggered, or expanded into branching reasoning structures.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73" name="Google Shape;473;g3c699b4b52c_0_418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474" name="Google Shape;474;g3c699b4b52c_0_4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5" name="Google Shape;475;g3c699b4b52c_0_4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g3c699b4b52c_0_418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477" name="Google Shape;477;g3c699b4b52c_0_4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8" name="Google Shape;478;g3c699b4b52c_0_4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" name="Google Shape;479;g3c699b4b52c_0_418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0" name="Google Shape;480;g3c699b4b52c_0_418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481" name="Google Shape;481;g3c699b4b52c_0_4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2" name="Google Shape;482;g3c699b4b52c_0_4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g3c699b4b52c_0_418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484" name="Google Shape;484;g3c699b4b52c_0_41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5" name="Google Shape;485;g3c699b4b52c_0_41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6" name="Google Shape;486;g3c699b4b52c_0_418" title="Types of Chain-of-Thought - visual selection (1).png"/>
          <p:cNvPicPr preferRelativeResize="0"/>
          <p:nvPr/>
        </p:nvPicPr>
        <p:blipFill rotWithShape="1">
          <a:blip r:embed="rId5">
            <a:alphaModFix/>
          </a:blip>
          <a:srcRect b="17983" l="1440" r="1904" t="2125"/>
          <a:stretch/>
        </p:blipFill>
        <p:spPr>
          <a:xfrm>
            <a:off x="8831050" y="4145075"/>
            <a:ext cx="8428250" cy="33630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699b4b52c_0_4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92" name="Google Shape;492;g3c699b4b52c_0_444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Chain-of-Thought: Eliciting Reasoning and Planning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3" name="Google Shape;493;g3c699b4b52c_0_444"/>
          <p:cNvSpPr txBox="1"/>
          <p:nvPr/>
        </p:nvSpPr>
        <p:spPr>
          <a:xfrm>
            <a:off x="1028700" y="3040600"/>
            <a:ext cx="79620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Advanced Reasoning: Tree-of-Thought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4" name="Google Shape;494;g3c699b4b52c_0_444"/>
          <p:cNvSpPr txBox="1"/>
          <p:nvPr/>
        </p:nvSpPr>
        <p:spPr>
          <a:xfrm>
            <a:off x="1463225" y="6205700"/>
            <a:ext cx="70683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Branching instead of linear reasoning.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exploration and pruning.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Mimics human problem-solving.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Used for planning and strategy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95" name="Google Shape;495;g3c699b4b52c_0_44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96" name="Google Shape;496;g3c699b4b52c_0_44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7" name="Google Shape;497;g3c699b4b52c_0_44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g3c699b4b52c_0_44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g3c699b4b52c_0_444"/>
          <p:cNvSpPr txBox="1"/>
          <p:nvPr/>
        </p:nvSpPr>
        <p:spPr>
          <a:xfrm>
            <a:off x="1028700" y="4628975"/>
            <a:ext cx="75027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Tree-of-Thought extends CoT by exploring multiple reasoning branches, enabling backtracking and deeper planning.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00" name="Google Shape;500;g3c699b4b52c_0_444"/>
          <p:cNvGrpSpPr/>
          <p:nvPr/>
        </p:nvGrpSpPr>
        <p:grpSpPr>
          <a:xfrm>
            <a:off x="1028700" y="6205722"/>
            <a:ext cx="259162" cy="400015"/>
            <a:chOff x="0" y="0"/>
            <a:chExt cx="80174" cy="123748"/>
          </a:xfrm>
        </p:grpSpPr>
        <p:sp>
          <p:nvSpPr>
            <p:cNvPr id="501" name="Google Shape;501;g3c699b4b52c_0_4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2" name="Google Shape;502;g3c699b4b52c_0_4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g3c699b4b52c_0_444"/>
          <p:cNvGrpSpPr/>
          <p:nvPr/>
        </p:nvGrpSpPr>
        <p:grpSpPr>
          <a:xfrm>
            <a:off x="1028628" y="8133175"/>
            <a:ext cx="259146" cy="400028"/>
            <a:chOff x="0" y="0"/>
            <a:chExt cx="80174" cy="123748"/>
          </a:xfrm>
        </p:grpSpPr>
        <p:sp>
          <p:nvSpPr>
            <p:cNvPr id="504" name="Google Shape;504;g3c699b4b52c_0_4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5" name="Google Shape;505;g3c699b4b52c_0_4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g3c699b4b52c_0_444"/>
          <p:cNvSpPr txBox="1"/>
          <p:nvPr/>
        </p:nvSpPr>
        <p:spPr>
          <a:xfrm>
            <a:off x="1044800" y="4806119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7" name="Google Shape;507;g3c699b4b52c_0_444"/>
          <p:cNvGrpSpPr/>
          <p:nvPr/>
        </p:nvGrpSpPr>
        <p:grpSpPr>
          <a:xfrm>
            <a:off x="1028625" y="6877472"/>
            <a:ext cx="259162" cy="400015"/>
            <a:chOff x="0" y="0"/>
            <a:chExt cx="80174" cy="123748"/>
          </a:xfrm>
        </p:grpSpPr>
        <p:sp>
          <p:nvSpPr>
            <p:cNvPr id="508" name="Google Shape;508;g3c699b4b52c_0_4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9" name="Google Shape;509;g3c699b4b52c_0_4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g3c699b4b52c_0_444"/>
          <p:cNvGrpSpPr/>
          <p:nvPr/>
        </p:nvGrpSpPr>
        <p:grpSpPr>
          <a:xfrm>
            <a:off x="1028700" y="7505322"/>
            <a:ext cx="259162" cy="400015"/>
            <a:chOff x="0" y="0"/>
            <a:chExt cx="80174" cy="123748"/>
          </a:xfrm>
        </p:grpSpPr>
        <p:sp>
          <p:nvSpPr>
            <p:cNvPr id="511" name="Google Shape;511;g3c699b4b52c_0_44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2" name="Google Shape;512;g3c699b4b52c_0_44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3" name="Google Shape;513;g3c699b4b52c_0_444" title="ChatGPT Image 5 feb 2026, 14_44_09.png"/>
          <p:cNvPicPr preferRelativeResize="0"/>
          <p:nvPr/>
        </p:nvPicPr>
        <p:blipFill rotWithShape="1">
          <a:blip r:embed="rId5">
            <a:alphaModFix/>
          </a:blip>
          <a:srcRect b="7063" l="0" r="0" t="0"/>
          <a:stretch/>
        </p:blipFill>
        <p:spPr>
          <a:xfrm>
            <a:off x="10191000" y="3125800"/>
            <a:ext cx="7068300" cy="43795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699b4b52c_0_471"/>
          <p:cNvSpPr/>
          <p:nvPr/>
        </p:nvSpPr>
        <p:spPr>
          <a:xfrm>
            <a:off x="0" y="1397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519" name="Google Shape;519;g3c699b4b52c_0_471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520" name="Google Shape;520;g3c699b4b52c_0_47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1" name="Google Shape;521;g3c699b4b52c_0_471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g3c699b4b52c_0_471"/>
          <p:cNvGrpSpPr/>
          <p:nvPr/>
        </p:nvGrpSpPr>
        <p:grpSpPr>
          <a:xfrm>
            <a:off x="1160375" y="4113000"/>
            <a:ext cx="14322338" cy="721031"/>
            <a:chOff x="0" y="-9525"/>
            <a:chExt cx="2404287" cy="189900"/>
          </a:xfrm>
        </p:grpSpPr>
        <p:sp>
          <p:nvSpPr>
            <p:cNvPr id="523" name="Google Shape;523;g3c699b4b52c_0_471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4" name="Google Shape;524;g3c699b4b52c_0_471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5" name="Google Shape;525;g3c699b4b52c_0_471"/>
          <p:cNvSpPr txBox="1"/>
          <p:nvPr/>
        </p:nvSpPr>
        <p:spPr>
          <a:xfrm>
            <a:off x="1259550" y="20478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In-Context Learning: Zero-Shot and Few-Shot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Chain-of-Thought: Eliciting Reasoning and Planning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8.4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Structured Prompting: RISEN and CARE Frameworks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Advanced Prompt Strategies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26" name="Google Shape;526;g3c699b4b52c_0_47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7" name="Google Shape;527;g3c699b4b52c_0_471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699b4b52c_0_48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33" name="Google Shape;533;g3c699b4b52c_0_484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Structured Prompting: RISEN and CARE Frameworks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34" name="Google Shape;534;g3c699b4b52c_0_484"/>
          <p:cNvSpPr txBox="1"/>
          <p:nvPr/>
        </p:nvSpPr>
        <p:spPr>
          <a:xfrm>
            <a:off x="1028700" y="3040600"/>
            <a:ext cx="8321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Structured Prompting Matters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35" name="Google Shape;535;g3c699b4b52c_0_484"/>
          <p:cNvSpPr txBox="1"/>
          <p:nvPr/>
        </p:nvSpPr>
        <p:spPr>
          <a:xfrm>
            <a:off x="1463225" y="6358100"/>
            <a:ext cx="7587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Reduces ambiguity and off-topic responses.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Improves output consistency and format adherence.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scalable, production-grade prompting.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Treats prompts as reusable system components.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36" name="Google Shape;536;g3c699b4b52c_0_48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37" name="Google Shape;537;g3c699b4b52c_0_48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8" name="Google Shape;538;g3c699b4b52c_0_48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g3c699b4b52c_0_48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g3c699b4b52c_0_484"/>
          <p:cNvSpPr txBox="1"/>
          <p:nvPr/>
        </p:nvSpPr>
        <p:spPr>
          <a:xfrm>
            <a:off x="1028700" y="4628975"/>
            <a:ext cx="79023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Unstructured prompts lead to unstable, inconsistent outputs. Structured prompting frameworks introduce discipline, reproducibility, and reliability into LLM interactions.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41" name="Google Shape;541;g3c699b4b52c_0_484"/>
          <p:cNvGrpSpPr/>
          <p:nvPr/>
        </p:nvGrpSpPr>
        <p:grpSpPr>
          <a:xfrm>
            <a:off x="1028700" y="6358122"/>
            <a:ext cx="259162" cy="400015"/>
            <a:chOff x="0" y="0"/>
            <a:chExt cx="80174" cy="123748"/>
          </a:xfrm>
        </p:grpSpPr>
        <p:sp>
          <p:nvSpPr>
            <p:cNvPr id="542" name="Google Shape;542;g3c699b4b52c_0_4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3" name="Google Shape;543;g3c699b4b52c_0_4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" name="Google Shape;544;g3c699b4b52c_0_484"/>
          <p:cNvGrpSpPr/>
          <p:nvPr/>
        </p:nvGrpSpPr>
        <p:grpSpPr>
          <a:xfrm>
            <a:off x="1028628" y="8285575"/>
            <a:ext cx="259146" cy="400028"/>
            <a:chOff x="0" y="0"/>
            <a:chExt cx="80174" cy="123748"/>
          </a:xfrm>
        </p:grpSpPr>
        <p:sp>
          <p:nvSpPr>
            <p:cNvPr id="545" name="Google Shape;545;g3c699b4b52c_0_4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6" name="Google Shape;546;g3c699b4b52c_0_4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7" name="Google Shape;547;g3c699b4b52c_0_484"/>
          <p:cNvSpPr txBox="1"/>
          <p:nvPr/>
        </p:nvSpPr>
        <p:spPr>
          <a:xfrm>
            <a:off x="1044800" y="4806119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8" name="Google Shape;548;g3c699b4b52c_0_484"/>
          <p:cNvGrpSpPr/>
          <p:nvPr/>
        </p:nvGrpSpPr>
        <p:grpSpPr>
          <a:xfrm>
            <a:off x="1028625" y="7029872"/>
            <a:ext cx="259162" cy="400015"/>
            <a:chOff x="0" y="0"/>
            <a:chExt cx="80174" cy="123748"/>
          </a:xfrm>
        </p:grpSpPr>
        <p:sp>
          <p:nvSpPr>
            <p:cNvPr id="549" name="Google Shape;549;g3c699b4b52c_0_4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0" name="Google Shape;550;g3c699b4b52c_0_4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g3c699b4b52c_0_484"/>
          <p:cNvGrpSpPr/>
          <p:nvPr/>
        </p:nvGrpSpPr>
        <p:grpSpPr>
          <a:xfrm>
            <a:off x="1028700" y="7657722"/>
            <a:ext cx="259162" cy="400015"/>
            <a:chOff x="0" y="0"/>
            <a:chExt cx="80174" cy="123748"/>
          </a:xfrm>
        </p:grpSpPr>
        <p:sp>
          <p:nvSpPr>
            <p:cNvPr id="552" name="Google Shape;552;g3c699b4b52c_0_48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3" name="Google Shape;553;g3c699b4b52c_0_48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4" name="Google Shape;554;g3c699b4b52c_0_484" title="ChatGPT Image 5 feb 2026, 14_45_3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08948" y="3157475"/>
            <a:ext cx="6750351" cy="45002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c699b4b52c_0_5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60" name="Google Shape;560;g3c699b4b52c_0_511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Structured Prompting: RISEN and CARE Frameworks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61" name="Google Shape;561;g3c699b4b52c_0_511"/>
          <p:cNvSpPr txBox="1"/>
          <p:nvPr/>
        </p:nvSpPr>
        <p:spPr>
          <a:xfrm>
            <a:off x="1028700" y="3040600"/>
            <a:ext cx="8321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RISEN Framework Explained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62" name="Google Shape;562;g3c699b4b52c_0_511"/>
          <p:cNvSpPr txBox="1"/>
          <p:nvPr/>
        </p:nvSpPr>
        <p:spPr>
          <a:xfrm>
            <a:off x="1463225" y="5423725"/>
            <a:ext cx="7587600" cy="4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Role: defines model persona.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Instruction: clear primary task.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Steps: explicit reasoning process.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Examples: quality and format guidance.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Negative constraints: forbidden behaviors.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63" name="Google Shape;563;g3c699b4b52c_0_51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64" name="Google Shape;564;g3c699b4b52c_0_51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5" name="Google Shape;565;g3c699b4b52c_0_51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g3c699b4b52c_0_51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7" name="Google Shape;567;g3c699b4b52c_0_511"/>
          <p:cNvSpPr txBox="1"/>
          <p:nvPr/>
        </p:nvSpPr>
        <p:spPr>
          <a:xfrm>
            <a:off x="1028700" y="4151800"/>
            <a:ext cx="150732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RISEN provides a comprehensive checklist to control model behavior, reasoning steps, and safety boundaries in professional prompts.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68" name="Google Shape;568;g3c699b4b52c_0_511"/>
          <p:cNvGrpSpPr/>
          <p:nvPr/>
        </p:nvGrpSpPr>
        <p:grpSpPr>
          <a:xfrm>
            <a:off x="1028700" y="5423748"/>
            <a:ext cx="259162" cy="400015"/>
            <a:chOff x="0" y="0"/>
            <a:chExt cx="80174" cy="123748"/>
          </a:xfrm>
        </p:grpSpPr>
        <p:sp>
          <p:nvSpPr>
            <p:cNvPr id="569" name="Google Shape;569;g3c699b4b52c_0_5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0" name="Google Shape;570;g3c699b4b52c_0_5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g3c699b4b52c_0_511"/>
          <p:cNvGrpSpPr/>
          <p:nvPr/>
        </p:nvGrpSpPr>
        <p:grpSpPr>
          <a:xfrm>
            <a:off x="1028628" y="7351200"/>
            <a:ext cx="259146" cy="400028"/>
            <a:chOff x="0" y="0"/>
            <a:chExt cx="80174" cy="123748"/>
          </a:xfrm>
        </p:grpSpPr>
        <p:sp>
          <p:nvSpPr>
            <p:cNvPr id="572" name="Google Shape;572;g3c699b4b52c_0_5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3" name="Google Shape;573;g3c699b4b52c_0_5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g3c699b4b52c_0_511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g3c699b4b52c_0_511"/>
          <p:cNvGrpSpPr/>
          <p:nvPr/>
        </p:nvGrpSpPr>
        <p:grpSpPr>
          <a:xfrm>
            <a:off x="1028625" y="6095498"/>
            <a:ext cx="259162" cy="400015"/>
            <a:chOff x="0" y="0"/>
            <a:chExt cx="80174" cy="123748"/>
          </a:xfrm>
        </p:grpSpPr>
        <p:sp>
          <p:nvSpPr>
            <p:cNvPr id="576" name="Google Shape;576;g3c699b4b52c_0_5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7" name="Google Shape;577;g3c699b4b52c_0_5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g3c699b4b52c_0_511"/>
          <p:cNvGrpSpPr/>
          <p:nvPr/>
        </p:nvGrpSpPr>
        <p:grpSpPr>
          <a:xfrm>
            <a:off x="1028700" y="6723348"/>
            <a:ext cx="259162" cy="400015"/>
            <a:chOff x="0" y="0"/>
            <a:chExt cx="80174" cy="123748"/>
          </a:xfrm>
        </p:grpSpPr>
        <p:sp>
          <p:nvSpPr>
            <p:cNvPr id="579" name="Google Shape;579;g3c699b4b52c_0_5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0" name="Google Shape;580;g3c699b4b52c_0_5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g3c699b4b52c_0_511"/>
          <p:cNvGrpSpPr/>
          <p:nvPr/>
        </p:nvGrpSpPr>
        <p:grpSpPr>
          <a:xfrm>
            <a:off x="1028628" y="8019000"/>
            <a:ext cx="259146" cy="400028"/>
            <a:chOff x="0" y="0"/>
            <a:chExt cx="80174" cy="123748"/>
          </a:xfrm>
        </p:grpSpPr>
        <p:sp>
          <p:nvSpPr>
            <p:cNvPr id="582" name="Google Shape;582;g3c699b4b52c_0_5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3" name="Google Shape;583;g3c699b4b52c_0_5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699b4b52c_0_5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89" name="Google Shape;589;g3c699b4b52c_0_540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Structured Prompting: RISEN and CARE Frameworks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0" name="Google Shape;590;g3c699b4b52c_0_540"/>
          <p:cNvSpPr txBox="1"/>
          <p:nvPr/>
        </p:nvSpPr>
        <p:spPr>
          <a:xfrm>
            <a:off x="1028700" y="3040600"/>
            <a:ext cx="8321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CARE Framework and Use Cases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1" name="Google Shape;591;g3c699b4b52c_0_540"/>
          <p:cNvSpPr txBox="1"/>
          <p:nvPr/>
        </p:nvSpPr>
        <p:spPr>
          <a:xfrm>
            <a:off x="1463225" y="5728525"/>
            <a:ext cx="7587600" cy="5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Context: background or source material.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Action: what the model must do.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Response: output format and tone.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Examples: style anchoring.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Preferred for writing and analysis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92" name="Google Shape;592;g3c699b4b52c_0_54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93" name="Google Shape;593;g3c699b4b52c_0_54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4" name="Google Shape;594;g3c699b4b52c_0_54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" name="Google Shape;595;g3c699b4b52c_0_54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6" name="Google Shape;596;g3c699b4b52c_0_540"/>
          <p:cNvSpPr txBox="1"/>
          <p:nvPr/>
        </p:nvSpPr>
        <p:spPr>
          <a:xfrm>
            <a:off x="1028700" y="4151800"/>
            <a:ext cx="8221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CARE is optimized for creative, summarization, and synthesis tasks where tone, context, and output structure are critical.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97" name="Google Shape;597;g3c699b4b52c_0_540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598" name="Google Shape;598;g3c699b4b52c_0_54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9" name="Google Shape;599;g3c699b4b52c_0_54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g3c699b4b52c_0_540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601" name="Google Shape;601;g3c699b4b52c_0_54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02" name="Google Shape;602;g3c699b4b52c_0_54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3" name="Google Shape;603;g3c699b4b52c_0_540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4" name="Google Shape;604;g3c699b4b52c_0_540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605" name="Google Shape;605;g3c699b4b52c_0_54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06" name="Google Shape;606;g3c699b4b52c_0_54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7" name="Google Shape;607;g3c699b4b52c_0_540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608" name="Google Shape;608;g3c699b4b52c_0_54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09" name="Google Shape;609;g3c699b4b52c_0_54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" name="Google Shape;610;g3c699b4b52c_0_540"/>
          <p:cNvGrpSpPr/>
          <p:nvPr/>
        </p:nvGrpSpPr>
        <p:grpSpPr>
          <a:xfrm>
            <a:off x="1028628" y="8323800"/>
            <a:ext cx="259146" cy="400028"/>
            <a:chOff x="0" y="0"/>
            <a:chExt cx="80174" cy="123748"/>
          </a:xfrm>
        </p:grpSpPr>
        <p:sp>
          <p:nvSpPr>
            <p:cNvPr id="611" name="Google Shape;611;g3c699b4b52c_0_54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2" name="Google Shape;612;g3c699b4b52c_0_54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13" name="Google Shape;613;g3c699b4b52c_0_540" title="CARE Framework and Use Cases - visual selection.png"/>
          <p:cNvPicPr preferRelativeResize="0"/>
          <p:nvPr/>
        </p:nvPicPr>
        <p:blipFill rotWithShape="1">
          <a:blip r:embed="rId5">
            <a:alphaModFix/>
          </a:blip>
          <a:srcRect b="12424" l="4448" r="4202" t="22078"/>
          <a:stretch/>
        </p:blipFill>
        <p:spPr>
          <a:xfrm>
            <a:off x="10009575" y="4222850"/>
            <a:ext cx="6931249" cy="34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699b4b52c_0_56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619" name="Google Shape;619;g3c699b4b52c_0_569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Structured Prompting: RISEN and CARE Frameworks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20" name="Google Shape;620;g3c699b4b52c_0_569"/>
          <p:cNvSpPr txBox="1"/>
          <p:nvPr/>
        </p:nvSpPr>
        <p:spPr>
          <a:xfrm>
            <a:off x="1028700" y="3040600"/>
            <a:ext cx="8321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Production Prompt Architecture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21" name="Google Shape;621;g3c699b4b52c_0_569"/>
          <p:cNvSpPr txBox="1"/>
          <p:nvPr/>
        </p:nvSpPr>
        <p:spPr>
          <a:xfrm>
            <a:off x="1463225" y="5728525"/>
            <a:ext cx="75876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System prompt remains constant.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User data injected dynamically.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millions of safe interactions.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Facilitates testing and versioning.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22" name="Google Shape;622;g3c699b4b52c_0_56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23" name="Google Shape;623;g3c699b4b52c_0_56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4" name="Google Shape;624;g3c699b4b52c_0_56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5" name="Google Shape;625;g3c699b4b52c_0_56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6" name="Google Shape;626;g3c699b4b52c_0_569"/>
          <p:cNvSpPr txBox="1"/>
          <p:nvPr/>
        </p:nvSpPr>
        <p:spPr>
          <a:xfrm>
            <a:off x="1028700" y="4151800"/>
            <a:ext cx="8221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 real systems, prompts are dynamic templates combining fixed system logic with runtime data injection.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27" name="Google Shape;627;g3c699b4b52c_0_569"/>
          <p:cNvGrpSpPr/>
          <p:nvPr/>
        </p:nvGrpSpPr>
        <p:grpSpPr>
          <a:xfrm>
            <a:off x="1028700" y="5728548"/>
            <a:ext cx="259162" cy="400015"/>
            <a:chOff x="0" y="0"/>
            <a:chExt cx="80174" cy="123748"/>
          </a:xfrm>
        </p:grpSpPr>
        <p:sp>
          <p:nvSpPr>
            <p:cNvPr id="628" name="Google Shape;628;g3c699b4b52c_0_56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9" name="Google Shape;629;g3c699b4b52c_0_56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0" name="Google Shape;630;g3c699b4b52c_0_569"/>
          <p:cNvGrpSpPr/>
          <p:nvPr/>
        </p:nvGrpSpPr>
        <p:grpSpPr>
          <a:xfrm>
            <a:off x="1028628" y="7656000"/>
            <a:ext cx="259146" cy="400028"/>
            <a:chOff x="0" y="0"/>
            <a:chExt cx="80174" cy="123748"/>
          </a:xfrm>
        </p:grpSpPr>
        <p:sp>
          <p:nvSpPr>
            <p:cNvPr id="631" name="Google Shape;631;g3c699b4b52c_0_56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2" name="Google Shape;632;g3c699b4b52c_0_56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3" name="Google Shape;633;g3c699b4b52c_0_569"/>
          <p:cNvSpPr txBox="1"/>
          <p:nvPr/>
        </p:nvSpPr>
        <p:spPr>
          <a:xfrm>
            <a:off x="1044800" y="43289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4" name="Google Shape;634;g3c699b4b52c_0_569"/>
          <p:cNvGrpSpPr/>
          <p:nvPr/>
        </p:nvGrpSpPr>
        <p:grpSpPr>
          <a:xfrm>
            <a:off x="1028625" y="6400298"/>
            <a:ext cx="259162" cy="400015"/>
            <a:chOff x="0" y="0"/>
            <a:chExt cx="80174" cy="123748"/>
          </a:xfrm>
        </p:grpSpPr>
        <p:sp>
          <p:nvSpPr>
            <p:cNvPr id="635" name="Google Shape;635;g3c699b4b52c_0_56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6" name="Google Shape;636;g3c699b4b52c_0_56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g3c699b4b52c_0_569"/>
          <p:cNvGrpSpPr/>
          <p:nvPr/>
        </p:nvGrpSpPr>
        <p:grpSpPr>
          <a:xfrm>
            <a:off x="1028700" y="7028148"/>
            <a:ext cx="259162" cy="400015"/>
            <a:chOff x="0" y="0"/>
            <a:chExt cx="80174" cy="123748"/>
          </a:xfrm>
        </p:grpSpPr>
        <p:sp>
          <p:nvSpPr>
            <p:cNvPr id="638" name="Google Shape;638;g3c699b4b52c_0_56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9" name="Google Shape;639;g3c699b4b52c_0_56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40" name="Google Shape;640;g3c699b4b52c_0_569" title="ChatGPT Image 5 feb 2026, 14_48_00.png"/>
          <p:cNvPicPr preferRelativeResize="0"/>
          <p:nvPr/>
        </p:nvPicPr>
        <p:blipFill rotWithShape="1">
          <a:blip r:embed="rId5">
            <a:alphaModFix/>
          </a:blip>
          <a:srcRect b="10305" l="0" r="0" t="0"/>
          <a:stretch/>
        </p:blipFill>
        <p:spPr>
          <a:xfrm>
            <a:off x="9786600" y="3187800"/>
            <a:ext cx="7472698" cy="44682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699b4b52c_0_608"/>
          <p:cNvSpPr/>
          <p:nvPr/>
        </p:nvSpPr>
        <p:spPr>
          <a:xfrm>
            <a:off x="0" y="1397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646" name="Google Shape;646;g3c699b4b52c_0_608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647" name="Google Shape;647;g3c699b4b52c_0_608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8" name="Google Shape;648;g3c699b4b52c_0_608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g3c699b4b52c_0_608"/>
          <p:cNvGrpSpPr/>
          <p:nvPr/>
        </p:nvGrpSpPr>
        <p:grpSpPr>
          <a:xfrm>
            <a:off x="1160375" y="4798800"/>
            <a:ext cx="11885352" cy="721031"/>
            <a:chOff x="0" y="-9525"/>
            <a:chExt cx="2404287" cy="189900"/>
          </a:xfrm>
        </p:grpSpPr>
        <p:sp>
          <p:nvSpPr>
            <p:cNvPr id="650" name="Google Shape;650;g3c699b4b52c_0_608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51" name="Google Shape;651;g3c699b4b52c_0_608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2" name="Google Shape;652;g3c699b4b52c_0_608"/>
          <p:cNvSpPr txBox="1"/>
          <p:nvPr/>
        </p:nvSpPr>
        <p:spPr>
          <a:xfrm>
            <a:off x="1259550" y="2047825"/>
            <a:ext cx="14902200" cy="6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Prompt Engineering: Why It Matters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In-Context Learning: Zero-Shot and Few-Shot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Chain-of-Thought: Eliciting Reasoning and Planning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8.4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Structured Prompting: RISEN and CARE Frameworks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8.5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Summary and Advanced Prompt Strategies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53" name="Google Shape;653;g3c699b4b52c_0_60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4" name="Google Shape;654;g3c699b4b52c_0_608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c699b4b52c_0_6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660" name="Google Shape;660;g3c699b4b52c_0_621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Advanced Prompt Strategies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61" name="Google Shape;661;g3c699b4b52c_0_621"/>
          <p:cNvSpPr txBox="1"/>
          <p:nvPr/>
        </p:nvSpPr>
        <p:spPr>
          <a:xfrm>
            <a:off x="1028700" y="3040600"/>
            <a:ext cx="8321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Prompt Engineering Best Practices &amp; Security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62" name="Google Shape;662;g3c699b4b52c_0_621"/>
          <p:cNvSpPr txBox="1"/>
          <p:nvPr/>
        </p:nvSpPr>
        <p:spPr>
          <a:xfrm>
            <a:off x="1463225" y="6381775"/>
            <a:ext cx="85065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 explicit and unambiguous in instructions.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Separate instruction, data, and constraints with delimiters.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Always enforce output formats (JSON, tables, schemas).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Treat prompts as executable system logic.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Defend against prompt injection attacks.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63" name="Google Shape;663;g3c699b4b52c_0_62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64" name="Google Shape;664;g3c699b4b52c_0_62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5" name="Google Shape;665;g3c699b4b52c_0_62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6" name="Google Shape;666;g3c699b4b52c_0_62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7" name="Google Shape;667;g3c699b4b52c_0_621"/>
          <p:cNvSpPr txBox="1"/>
          <p:nvPr/>
        </p:nvSpPr>
        <p:spPr>
          <a:xfrm>
            <a:off x="1028700" y="4685200"/>
            <a:ext cx="8221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As LLMs move into production environments, prompt design must prioritize clarity, robustness, and security. Poorly designed prompts increase error rates, cost, and exposure to adversarial manipulation.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68" name="Google Shape;668;g3c699b4b52c_0_621"/>
          <p:cNvGrpSpPr/>
          <p:nvPr/>
        </p:nvGrpSpPr>
        <p:grpSpPr>
          <a:xfrm>
            <a:off x="1028700" y="6381796"/>
            <a:ext cx="259162" cy="400015"/>
            <a:chOff x="0" y="0"/>
            <a:chExt cx="80174" cy="123748"/>
          </a:xfrm>
        </p:grpSpPr>
        <p:sp>
          <p:nvSpPr>
            <p:cNvPr id="669" name="Google Shape;669;g3c699b4b52c_0_6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0" name="Google Shape;670;g3c699b4b52c_0_6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1" name="Google Shape;671;g3c699b4b52c_0_621"/>
          <p:cNvGrpSpPr/>
          <p:nvPr/>
        </p:nvGrpSpPr>
        <p:grpSpPr>
          <a:xfrm>
            <a:off x="1028628" y="8309249"/>
            <a:ext cx="259146" cy="400028"/>
            <a:chOff x="0" y="0"/>
            <a:chExt cx="80174" cy="123748"/>
          </a:xfrm>
        </p:grpSpPr>
        <p:sp>
          <p:nvSpPr>
            <p:cNvPr id="672" name="Google Shape;672;g3c699b4b52c_0_6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3" name="Google Shape;673;g3c699b4b52c_0_6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4" name="Google Shape;674;g3c699b4b52c_0_621"/>
          <p:cNvSpPr txBox="1"/>
          <p:nvPr/>
        </p:nvSpPr>
        <p:spPr>
          <a:xfrm>
            <a:off x="1044800" y="48623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5" name="Google Shape;675;g3c699b4b52c_0_621"/>
          <p:cNvGrpSpPr/>
          <p:nvPr/>
        </p:nvGrpSpPr>
        <p:grpSpPr>
          <a:xfrm>
            <a:off x="1028625" y="7053546"/>
            <a:ext cx="259162" cy="400015"/>
            <a:chOff x="0" y="0"/>
            <a:chExt cx="80174" cy="123748"/>
          </a:xfrm>
        </p:grpSpPr>
        <p:sp>
          <p:nvSpPr>
            <p:cNvPr id="676" name="Google Shape;676;g3c699b4b52c_0_6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7" name="Google Shape;677;g3c699b4b52c_0_6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8" name="Google Shape;678;g3c699b4b52c_0_621"/>
          <p:cNvGrpSpPr/>
          <p:nvPr/>
        </p:nvGrpSpPr>
        <p:grpSpPr>
          <a:xfrm>
            <a:off x="1028700" y="7681396"/>
            <a:ext cx="259162" cy="400015"/>
            <a:chOff x="0" y="0"/>
            <a:chExt cx="80174" cy="123748"/>
          </a:xfrm>
        </p:grpSpPr>
        <p:sp>
          <p:nvSpPr>
            <p:cNvPr id="679" name="Google Shape;679;g3c699b4b52c_0_6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0" name="Google Shape;680;g3c699b4b52c_0_6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1" name="Google Shape;681;g3c699b4b52c_0_621"/>
          <p:cNvGrpSpPr/>
          <p:nvPr/>
        </p:nvGrpSpPr>
        <p:grpSpPr>
          <a:xfrm>
            <a:off x="1044803" y="8937124"/>
            <a:ext cx="259146" cy="400028"/>
            <a:chOff x="0" y="0"/>
            <a:chExt cx="80174" cy="123748"/>
          </a:xfrm>
        </p:grpSpPr>
        <p:sp>
          <p:nvSpPr>
            <p:cNvPr id="682" name="Google Shape;682;g3c699b4b52c_0_6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3" name="Google Shape;683;g3c699b4b52c_0_6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84" name="Google Shape;684;g3c699b4b52c_0_621" title="ChatGPT Image 5 feb 2026, 14_49_27.png"/>
          <p:cNvPicPr preferRelativeResize="0"/>
          <p:nvPr/>
        </p:nvPicPr>
        <p:blipFill rotWithShape="1">
          <a:blip r:embed="rId5">
            <a:alphaModFix/>
          </a:blip>
          <a:srcRect b="9066" l="0" r="0" t="0"/>
          <a:stretch/>
        </p:blipFill>
        <p:spPr>
          <a:xfrm>
            <a:off x="10639900" y="3367538"/>
            <a:ext cx="6619400" cy="401295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699b4b52c_0_6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690" name="Google Shape;690;g3c699b4b52c_0_651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8.5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Advanced Prompt Strategies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91" name="Google Shape;691;g3c699b4b52c_0_651"/>
          <p:cNvSpPr txBox="1"/>
          <p:nvPr/>
        </p:nvSpPr>
        <p:spPr>
          <a:xfrm>
            <a:off x="1028700" y="3040600"/>
            <a:ext cx="8321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Automation and the Future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of Prompting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92" name="Google Shape;692;g3c699b4b52c_0_651"/>
          <p:cNvSpPr txBox="1"/>
          <p:nvPr/>
        </p:nvSpPr>
        <p:spPr>
          <a:xfrm>
            <a:off x="1463225" y="6182027"/>
            <a:ext cx="85065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Automatic Prompt Optimization (APO) loops.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Optimizer LLMs rewriting prompts dynamically.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Shift from prompt engineering to problem engineering.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Emergence of agentic workflows and planning systems.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Reduced need for manual prompt “tricks”.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93" name="Google Shape;693;g3c699b4b52c_0_65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94" name="Google Shape;694;g3c699b4b52c_0_65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5" name="Google Shape;695;g3c699b4b52c_0_65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g3c699b4b52c_0_65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7" name="Google Shape;697;g3c699b4b52c_0_651"/>
          <p:cNvSpPr txBox="1"/>
          <p:nvPr/>
        </p:nvSpPr>
        <p:spPr>
          <a:xfrm>
            <a:off x="1028700" y="4685200"/>
            <a:ext cx="82218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field is evolving from handcrafted prompts toward automated optimization and agentic systems where prompts become high-level intent specifications.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98" name="Google Shape;698;g3c699b4b52c_0_651"/>
          <p:cNvGrpSpPr/>
          <p:nvPr/>
        </p:nvGrpSpPr>
        <p:grpSpPr>
          <a:xfrm>
            <a:off x="1028700" y="6182049"/>
            <a:ext cx="259162" cy="400015"/>
            <a:chOff x="0" y="0"/>
            <a:chExt cx="80174" cy="123748"/>
          </a:xfrm>
        </p:grpSpPr>
        <p:sp>
          <p:nvSpPr>
            <p:cNvPr id="699" name="Google Shape;699;g3c699b4b52c_0_6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0" name="Google Shape;700;g3c699b4b52c_0_6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1" name="Google Shape;701;g3c699b4b52c_0_651"/>
          <p:cNvGrpSpPr/>
          <p:nvPr/>
        </p:nvGrpSpPr>
        <p:grpSpPr>
          <a:xfrm>
            <a:off x="1028628" y="8109501"/>
            <a:ext cx="259146" cy="400028"/>
            <a:chOff x="0" y="0"/>
            <a:chExt cx="80174" cy="123748"/>
          </a:xfrm>
        </p:grpSpPr>
        <p:sp>
          <p:nvSpPr>
            <p:cNvPr id="702" name="Google Shape;702;g3c699b4b52c_0_6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3" name="Google Shape;703;g3c699b4b52c_0_6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4" name="Google Shape;704;g3c699b4b52c_0_651"/>
          <p:cNvSpPr txBox="1"/>
          <p:nvPr/>
        </p:nvSpPr>
        <p:spPr>
          <a:xfrm>
            <a:off x="1044800" y="4862344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5" name="Google Shape;705;g3c699b4b52c_0_651"/>
          <p:cNvGrpSpPr/>
          <p:nvPr/>
        </p:nvGrpSpPr>
        <p:grpSpPr>
          <a:xfrm>
            <a:off x="1028625" y="6853799"/>
            <a:ext cx="259162" cy="400015"/>
            <a:chOff x="0" y="0"/>
            <a:chExt cx="80174" cy="123748"/>
          </a:xfrm>
        </p:grpSpPr>
        <p:sp>
          <p:nvSpPr>
            <p:cNvPr id="706" name="Google Shape;706;g3c699b4b52c_0_6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7" name="Google Shape;707;g3c699b4b52c_0_6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g3c699b4b52c_0_651"/>
          <p:cNvGrpSpPr/>
          <p:nvPr/>
        </p:nvGrpSpPr>
        <p:grpSpPr>
          <a:xfrm>
            <a:off x="1028700" y="7481649"/>
            <a:ext cx="259162" cy="400015"/>
            <a:chOff x="0" y="0"/>
            <a:chExt cx="80174" cy="123748"/>
          </a:xfrm>
        </p:grpSpPr>
        <p:sp>
          <p:nvSpPr>
            <p:cNvPr id="709" name="Google Shape;709;g3c699b4b52c_0_6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10" name="Google Shape;710;g3c699b4b52c_0_6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1" name="Google Shape;711;g3c699b4b52c_0_651"/>
          <p:cNvGrpSpPr/>
          <p:nvPr/>
        </p:nvGrpSpPr>
        <p:grpSpPr>
          <a:xfrm>
            <a:off x="1044803" y="8737376"/>
            <a:ext cx="259146" cy="400028"/>
            <a:chOff x="0" y="0"/>
            <a:chExt cx="80174" cy="123748"/>
          </a:xfrm>
        </p:grpSpPr>
        <p:sp>
          <p:nvSpPr>
            <p:cNvPr id="712" name="Google Shape;712;g3c699b4b52c_0_65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13" name="Google Shape;713;g3c699b4b52c_0_65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14" name="Google Shape;714;g3c699b4b52c_0_651" title="Automation and the Future of Prompting - visual sel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258" y="3429000"/>
            <a:ext cx="6951042" cy="42523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691fa32ac_0_4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4" t="-52934"/>
            </a:stretch>
          </a:blipFill>
          <a:ln>
            <a:noFill/>
          </a:ln>
        </p:spPr>
      </p:sp>
      <p:grpSp>
        <p:nvGrpSpPr>
          <p:cNvPr id="720" name="Google Shape;720;g3c691fa32ac_0_42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721" name="Google Shape;721;g3c691fa32ac_0_42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22" name="Google Shape;722;g3c691fa32ac_0_42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3" name="Google Shape;723;g3c691fa32ac_0_42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4" name="Google Shape;724;g3c691fa32ac_0_429"/>
          <p:cNvSpPr txBox="1"/>
          <p:nvPr/>
        </p:nvSpPr>
        <p:spPr>
          <a:xfrm>
            <a:off x="1463225" y="3149275"/>
            <a:ext cx="15717000" cy="6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Brown et al. (2020) — Language Models are Few-Shot Learners.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Reynolds &amp; McDonell (2021) — Prompt Programming for Large Language Models.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Liu et al. (2021) — Pre-train, Prompt, and Predict: A Survey of Prompting Methods in NLP.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Wei et al. (2022) — Chain-of-Thought Prompting Elicits Reasoning in Large Language Models.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Wang et al. (2022) — Self-Consistency Improves Chain of Thought Reasoning.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Yao et al. (2023) — Tree of Thoughts: Deliberate Problem Solving with Large Language Models.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Zhou et al. (2023) — Large Language Models Are Human-Level Prompt Engineers.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Greshake et al. (2023) — Compromising Real-World LLM Applications via Indirect Prompt Injection.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Yao et al. (2023) — A Survey on Prompt Engineering for Foundation Models.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25" name="Google Shape;725;g3c691fa32ac_0_429"/>
          <p:cNvGrpSpPr/>
          <p:nvPr/>
        </p:nvGrpSpPr>
        <p:grpSpPr>
          <a:xfrm>
            <a:off x="1028700" y="3073059"/>
            <a:ext cx="259162" cy="400015"/>
            <a:chOff x="0" y="0"/>
            <a:chExt cx="80174" cy="123748"/>
          </a:xfrm>
        </p:grpSpPr>
        <p:sp>
          <p:nvSpPr>
            <p:cNvPr id="726" name="Google Shape;726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27" name="Google Shape;727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8" name="Google Shape;728;g3c691fa32ac_0_429"/>
          <p:cNvGrpSpPr/>
          <p:nvPr/>
        </p:nvGrpSpPr>
        <p:grpSpPr>
          <a:xfrm>
            <a:off x="1028700" y="3701669"/>
            <a:ext cx="259162" cy="400015"/>
            <a:chOff x="0" y="0"/>
            <a:chExt cx="80174" cy="123748"/>
          </a:xfrm>
        </p:grpSpPr>
        <p:sp>
          <p:nvSpPr>
            <p:cNvPr id="729" name="Google Shape;729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30" name="Google Shape;730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1" name="Google Shape;731;g3c691fa32ac_0_429"/>
          <p:cNvGrpSpPr/>
          <p:nvPr/>
        </p:nvGrpSpPr>
        <p:grpSpPr>
          <a:xfrm>
            <a:off x="1028700" y="4350347"/>
            <a:ext cx="259162" cy="400015"/>
            <a:chOff x="0" y="0"/>
            <a:chExt cx="80174" cy="123748"/>
          </a:xfrm>
        </p:grpSpPr>
        <p:sp>
          <p:nvSpPr>
            <p:cNvPr id="732" name="Google Shape;732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33" name="Google Shape;733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g3c691fa32ac_0_429"/>
          <p:cNvGrpSpPr/>
          <p:nvPr/>
        </p:nvGrpSpPr>
        <p:grpSpPr>
          <a:xfrm>
            <a:off x="1028700" y="5585629"/>
            <a:ext cx="259162" cy="400015"/>
            <a:chOff x="0" y="0"/>
            <a:chExt cx="80174" cy="123748"/>
          </a:xfrm>
        </p:grpSpPr>
        <p:sp>
          <p:nvSpPr>
            <p:cNvPr id="735" name="Google Shape;735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36" name="Google Shape;736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" name="Google Shape;737;g3c691fa32ac_0_429"/>
          <p:cNvGrpSpPr/>
          <p:nvPr/>
        </p:nvGrpSpPr>
        <p:grpSpPr>
          <a:xfrm>
            <a:off x="1028700" y="6214244"/>
            <a:ext cx="259162" cy="400015"/>
            <a:chOff x="0" y="0"/>
            <a:chExt cx="80174" cy="123748"/>
          </a:xfrm>
        </p:grpSpPr>
        <p:sp>
          <p:nvSpPr>
            <p:cNvPr id="738" name="Google Shape;738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39" name="Google Shape;739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0" name="Google Shape;740;g3c691fa32ac_0_429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Key References &amp; Further Reading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41" name="Google Shape;741;g3c691fa32ac_0_429"/>
          <p:cNvGrpSpPr/>
          <p:nvPr/>
        </p:nvGrpSpPr>
        <p:grpSpPr>
          <a:xfrm>
            <a:off x="1028700" y="6842844"/>
            <a:ext cx="259162" cy="400015"/>
            <a:chOff x="0" y="0"/>
            <a:chExt cx="80174" cy="123748"/>
          </a:xfrm>
        </p:grpSpPr>
        <p:sp>
          <p:nvSpPr>
            <p:cNvPr id="742" name="Google Shape;742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43" name="Google Shape;743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4" name="Google Shape;744;g3c691fa32ac_0_429"/>
          <p:cNvGrpSpPr/>
          <p:nvPr/>
        </p:nvGrpSpPr>
        <p:grpSpPr>
          <a:xfrm>
            <a:off x="1028700" y="7471444"/>
            <a:ext cx="259162" cy="400015"/>
            <a:chOff x="0" y="0"/>
            <a:chExt cx="80174" cy="123748"/>
          </a:xfrm>
        </p:grpSpPr>
        <p:sp>
          <p:nvSpPr>
            <p:cNvPr id="745" name="Google Shape;745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46" name="Google Shape;746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7" name="Google Shape;747;g3c691fa32ac_0_429"/>
          <p:cNvGrpSpPr/>
          <p:nvPr/>
        </p:nvGrpSpPr>
        <p:grpSpPr>
          <a:xfrm>
            <a:off x="1028700" y="4999019"/>
            <a:ext cx="259162" cy="400015"/>
            <a:chOff x="0" y="0"/>
            <a:chExt cx="80174" cy="123748"/>
          </a:xfrm>
        </p:grpSpPr>
        <p:sp>
          <p:nvSpPr>
            <p:cNvPr id="748" name="Google Shape;748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49" name="Google Shape;749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0" name="Google Shape;750;g3c691fa32ac_0_429"/>
          <p:cNvGrpSpPr/>
          <p:nvPr/>
        </p:nvGrpSpPr>
        <p:grpSpPr>
          <a:xfrm>
            <a:off x="1028700" y="8100044"/>
            <a:ext cx="259162" cy="400015"/>
            <a:chOff x="0" y="0"/>
            <a:chExt cx="80174" cy="123748"/>
          </a:xfrm>
        </p:grpSpPr>
        <p:sp>
          <p:nvSpPr>
            <p:cNvPr id="751" name="Google Shape;751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52" name="Google Shape;752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758" name="Google Shape;758;p30"/>
          <p:cNvSpPr/>
          <p:nvPr/>
        </p:nvSpPr>
        <p:spPr>
          <a:xfrm>
            <a:off x="5915603" y="4111509"/>
            <a:ext cx="6456794" cy="2063982"/>
          </a:xfrm>
          <a:custGeom>
            <a:rect b="b" l="l" r="r" t="t"/>
            <a:pathLst>
              <a:path extrusionOk="0" h="2063982" w="6456794">
                <a:moveTo>
                  <a:pt x="0" y="0"/>
                </a:moveTo>
                <a:lnTo>
                  <a:pt x="6456794" y="0"/>
                </a:lnTo>
                <a:lnTo>
                  <a:pt x="6456794" y="2063982"/>
                </a:lnTo>
                <a:lnTo>
                  <a:pt x="0" y="206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