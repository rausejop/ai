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6858000" cy="9144000"/>
  <p:embeddedFontLst>
    <p:embeddedFont>
      <p:font typeface="Jos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gfM9O3IuNcy7l/MYrEzG7kobE2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Jost-bold.fntdata"/><Relationship Id="rId12" Type="http://schemas.openxmlformats.org/officeDocument/2006/relationships/slide" Target="slides/slide7.xml"/><Relationship Id="rId34" Type="http://schemas.openxmlformats.org/officeDocument/2006/relationships/font" Target="fonts/Jost-regular.fntdata"/><Relationship Id="rId15" Type="http://schemas.openxmlformats.org/officeDocument/2006/relationships/slide" Target="slides/slide10.xml"/><Relationship Id="rId37" Type="http://schemas.openxmlformats.org/officeDocument/2006/relationships/font" Target="fonts/Jost-boldItalic.fntdata"/><Relationship Id="rId14" Type="http://schemas.openxmlformats.org/officeDocument/2006/relationships/slide" Target="slides/slide9.xml"/><Relationship Id="rId36" Type="http://schemas.openxmlformats.org/officeDocument/2006/relationships/font" Target="fonts/Jos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69b18186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c69b18186a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69b18186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c69b18186a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69b18186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c69b18186a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69b18186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c69b18186a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69b18186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c69b18186a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69b18186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c69b18186a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69b18186a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c69b18186a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69b18186a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g3c69b18186a_0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c69b18186a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g3c69b18186a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69b18186a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g3c69b18186a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69b18186a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g3c69b18186a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69b18186a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g3c69b18186a_0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c69b18186a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g3c69b18186a_0_3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69b18186a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6" name="Google Shape;456;g3c69b18186a_0_3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69b18186a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g3c69b18186a_0_3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c69b18186a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g3c69b18186a_0_3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c69b18186a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g3c69b18186a_0_4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c69b18186a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g3c69b18186a_0_4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c69b18186a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8" name="Google Shape;578;g3c69b18186a_0_4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c69b18186a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5" name="Google Shape;605;g3c69b18186a_0_4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c69b18186a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9" name="Google Shape;619;g3c69b18186a_0_4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c69b18186a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9" name="Google Shape;649;g3c69b18186a_0_5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c69b18186a_0_5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g3c69b18186a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1" name="Google Shape;71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0" l="0" r="-56467" t="-5293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1259550" y="4477258"/>
            <a:ext cx="133134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92"/>
              <a:buFont typeface="Arial"/>
              <a:buNone/>
            </a:pPr>
            <a:r>
              <a:rPr b="1" i="0" lang="en-US" sz="1459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descr="Bandera de España - Wikipedia, la enciclopedia libre" id="87" name="Google Shape;87;p1"/>
          <p:cNvSpPr/>
          <p:nvPr/>
        </p:nvSpPr>
        <p:spPr>
          <a:xfrm>
            <a:off x="457426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575332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613" l="0" r="0" t="0"/>
            </a:stretch>
          </a:blipFill>
          <a:ln>
            <a:noFill/>
          </a:ln>
        </p:spPr>
      </p:sp>
      <p:sp>
        <p:nvSpPr>
          <p:cNvPr descr="Bandera de Jordania - Wikipedia, la enciclopedia libre" id="89" name="Google Shape;89;p1"/>
          <p:cNvSpPr/>
          <p:nvPr/>
        </p:nvSpPr>
        <p:spPr>
          <a:xfrm>
            <a:off x="6935692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17920" t="0"/>
            </a:stretch>
          </a:blipFill>
          <a:ln>
            <a:noFill/>
          </a:ln>
        </p:spPr>
      </p:sp>
      <p:grpSp>
        <p:nvGrpSpPr>
          <p:cNvPr id="90" name="Google Shape;90;p1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1259550" y="7954400"/>
            <a:ext cx="8989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Advanced NLP &amp; Large Language Models (LLMs)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0" l="0" r="-56467" t="-52930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140400" y="8195250"/>
            <a:ext cx="8509596" cy="720872"/>
            <a:chOff x="0" y="-9525"/>
            <a:chExt cx="1443136" cy="18986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443136" cy="180338"/>
            </a:xfrm>
            <a:custGeom>
              <a:rect b="b" l="l" r="r" t="t"/>
              <a:pathLst>
                <a:path extrusionOk="0" h="180338" w="1443136">
                  <a:moveTo>
                    <a:pt x="0" y="0"/>
                  </a:moveTo>
                  <a:lnTo>
                    <a:pt x="1443136" y="0"/>
                  </a:lnTo>
                  <a:lnTo>
                    <a:pt x="1443136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-9525"/>
              <a:ext cx="1443136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1259561" y="2047829"/>
            <a:ext cx="10060500" cy="6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M01: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Text Preprocessing</a:t>
            </a:r>
            <a:endParaRPr b="0" i="0" sz="1400" u="none" cap="none" strike="noStrike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M02: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Word and Sentence Embeddings</a:t>
            </a:r>
            <a:endParaRPr b="0" i="0" sz="1400" u="none" cap="none" strike="noStrike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M03: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Transformer Architectures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M04: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Entity-Centric NLP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M05: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Applied NLP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M06: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Multimodal NLP</a:t>
            </a:r>
            <a:endParaRPr b="0" i="0" sz="1400" u="none" cap="none" strike="noStrike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M07: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LLM Fundamentals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M08:</a:t>
            </a:r>
            <a:r>
              <a:rPr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Prompt Engineering</a:t>
            </a:r>
            <a:endParaRPr i="0" sz="1400" u="none" cap="none" strike="noStrike">
              <a:solidFill>
                <a:srgbClr val="AEAEAE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M09: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Fine-Tuning &amp; 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M10: </a:t>
            </a:r>
            <a:r>
              <a:rPr b="1" i="0" lang="en-US" sz="4123" u="none" cap="none" strike="noStrik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RAG &amp; Real-World Projects</a:t>
            </a:r>
            <a:endParaRPr b="1" i="0" sz="1400" u="none" cap="none" strike="noStrike">
              <a:solidFill>
                <a:schemeClr val="lt1"/>
              </a:solidFill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4" l="0" r="-56470" t="-52922"/>
            </a:stretch>
          </a:blipFill>
          <a:ln>
            <a:noFill/>
          </a:ln>
        </p:spPr>
      </p:sp>
      <p:sp>
        <p:nvSpPr>
          <p:cNvPr id="113" name="Google Shape;113;p4"/>
          <p:cNvSpPr txBox="1"/>
          <p:nvPr/>
        </p:nvSpPr>
        <p:spPr>
          <a:xfrm>
            <a:off x="1028700" y="2425176"/>
            <a:ext cx="140943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44"/>
              <a:buFont typeface="Arial"/>
              <a:buNone/>
            </a:pPr>
            <a:r>
              <a:rPr b="1" i="0" lang="en-US" sz="894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TEXT PREPROCESSING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028700" y="5172775"/>
            <a:ext cx="139545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1"/>
              <a:buFont typeface="Arial"/>
              <a:buNone/>
            </a:pPr>
            <a:r>
              <a:rPr lang="en-US" sz="621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&amp; Real-World Projects</a:t>
            </a:r>
            <a:endParaRPr sz="621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1028700" y="1028700"/>
            <a:ext cx="5383245" cy="1023295"/>
            <a:chOff x="0" y="0"/>
            <a:chExt cx="1417800" cy="269508"/>
          </a:xfrm>
        </p:grpSpPr>
        <p:sp>
          <p:nvSpPr>
            <p:cNvPr id="116" name="Google Shape;116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7" name="Google Shape;117;p4"/>
            <p:cNvSpPr txBox="1"/>
            <p:nvPr/>
          </p:nvSpPr>
          <p:spPr>
            <a:xfrm>
              <a:off x="0" y="0"/>
              <a:ext cx="1417800" cy="2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MODULE M01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4"/>
          <p:cNvGrpSpPr/>
          <p:nvPr/>
        </p:nvGrpSpPr>
        <p:grpSpPr>
          <a:xfrm>
            <a:off x="1028700" y="3796780"/>
            <a:ext cx="5383245" cy="1023295"/>
            <a:chOff x="0" y="0"/>
            <a:chExt cx="1417800" cy="269508"/>
          </a:xfrm>
        </p:grpSpPr>
        <p:sp>
          <p:nvSpPr>
            <p:cNvPr id="119" name="Google Shape;119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0" name="Google Shape;120;p4"/>
            <p:cNvSpPr txBox="1"/>
            <p:nvPr/>
          </p:nvSpPr>
          <p:spPr>
            <a:xfrm>
              <a:off x="0" y="0"/>
              <a:ext cx="1417800" cy="2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CHAPTER M</a:t>
              </a:r>
              <a:r>
                <a:rPr b="1" lang="en-US" sz="44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0" l="0" r="-56467" t="-52930"/>
            </a:stretch>
          </a:blipFill>
          <a:ln>
            <a:noFill/>
          </a:ln>
        </p:spPr>
      </p:sp>
      <p:grpSp>
        <p:nvGrpSpPr>
          <p:cNvPr id="127" name="Google Shape;127;p3"/>
          <p:cNvGrpSpPr/>
          <p:nvPr/>
        </p:nvGrpSpPr>
        <p:grpSpPr>
          <a:xfrm>
            <a:off x="1160375" y="2660326"/>
            <a:ext cx="4794389" cy="720993"/>
            <a:chOff x="0" y="-9525"/>
            <a:chExt cx="2404287" cy="189900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9" name="Google Shape;129;p3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3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2" name="Google Shape;132;p3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3"/>
          <p:cNvGrpSpPr/>
          <p:nvPr/>
        </p:nvGrpSpPr>
        <p:grpSpPr>
          <a:xfrm>
            <a:off x="1160375" y="1999375"/>
            <a:ext cx="13842923" cy="720872"/>
            <a:chOff x="0" y="-9525"/>
            <a:chExt cx="2404287" cy="189863"/>
          </a:xfrm>
        </p:grpSpPr>
        <p:sp>
          <p:nvSpPr>
            <p:cNvPr id="134" name="Google Shape;134;p3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5" name="Google Shape;135;p3"/>
            <p:cNvSpPr txBox="1"/>
            <p:nvPr/>
          </p:nvSpPr>
          <p:spPr>
            <a:xfrm>
              <a:off x="0" y="-9525"/>
              <a:ext cx="2404287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 txBox="1"/>
          <p:nvPr/>
        </p:nvSpPr>
        <p:spPr>
          <a:xfrm>
            <a:off x="1259550" y="2047825"/>
            <a:ext cx="15900900" cy="83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10.1 Review and Introduction to Retrieval-Augmented Generation (RAG)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10.2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RAG Architectures: Retrieval-Augmented Generation Systems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Real-World Applications of LLMs and RAG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Presentation Guidelines and Final Review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Student Capstone Project Presentations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10.6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Course Wrap-up and Next Steps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3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69b18186a_0_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144" name="Google Shape;144;g3c69b18186a_0_6"/>
          <p:cNvSpPr txBox="1"/>
          <p:nvPr/>
        </p:nvSpPr>
        <p:spPr>
          <a:xfrm>
            <a:off x="1028700" y="2025600"/>
            <a:ext cx="15572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Review and Introduction to Retrieval-Augmented Generation (RAG)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5" name="Google Shape;145;g3c69b18186a_0_6"/>
          <p:cNvSpPr txBox="1"/>
          <p:nvPr/>
        </p:nvSpPr>
        <p:spPr>
          <a:xfrm>
            <a:off x="1028700" y="3670175"/>
            <a:ext cx="80943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Why RAG Exists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6" name="Google Shape;146;g3c69b18186a_0_6"/>
          <p:cNvSpPr txBox="1"/>
          <p:nvPr/>
        </p:nvSpPr>
        <p:spPr>
          <a:xfrm>
            <a:off x="1463225" y="6695452"/>
            <a:ext cx="78654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LLMs suffer from a knowledge cut-off.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They cannot access private or proprietary data.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Fine-tuning is not designed to inject new facts.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enables real-time knowledge access without retraining.</a:t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47" name="Google Shape;147;g3c69b18186a_0_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8" name="Google Shape;148;g3c69b18186a_0_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9" name="Google Shape;149;g3c69b18186a_0_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" name="Google Shape;150;g3c69b18186a_0_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g3c69b18186a_0_6"/>
          <p:cNvSpPr txBox="1"/>
          <p:nvPr/>
        </p:nvSpPr>
        <p:spPr>
          <a:xfrm>
            <a:off x="1028700" y="4641550"/>
            <a:ext cx="7642500" cy="1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Large Language Models are powerful reasoning engines, but their knowledge is frozen in time. Retrieval-Augmented Generation (RAG) solves this limitation by connecting models to real, up-to-date, and private information sources.</a:t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52" name="Google Shape;152;g3c69b18186a_0_6"/>
          <p:cNvGrpSpPr/>
          <p:nvPr/>
        </p:nvGrpSpPr>
        <p:grpSpPr>
          <a:xfrm>
            <a:off x="1028700" y="6695474"/>
            <a:ext cx="259162" cy="400015"/>
            <a:chOff x="0" y="0"/>
            <a:chExt cx="80174" cy="123748"/>
          </a:xfrm>
        </p:grpSpPr>
        <p:sp>
          <p:nvSpPr>
            <p:cNvPr id="153" name="Google Shape;153;g3c69b18186a_0_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4" name="Google Shape;154;g3c69b18186a_0_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g3c69b18186a_0_6"/>
          <p:cNvGrpSpPr/>
          <p:nvPr/>
        </p:nvGrpSpPr>
        <p:grpSpPr>
          <a:xfrm>
            <a:off x="1028703" y="7357126"/>
            <a:ext cx="259146" cy="400028"/>
            <a:chOff x="0" y="0"/>
            <a:chExt cx="80174" cy="123748"/>
          </a:xfrm>
        </p:grpSpPr>
        <p:sp>
          <p:nvSpPr>
            <p:cNvPr id="156" name="Google Shape;156;g3c69b18186a_0_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7" name="Google Shape;157;g3c69b18186a_0_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g3c69b18186a_0_6"/>
          <p:cNvSpPr txBox="1"/>
          <p:nvPr/>
        </p:nvSpPr>
        <p:spPr>
          <a:xfrm>
            <a:off x="1044800" y="4818695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g3c69b18186a_0_6"/>
          <p:cNvGrpSpPr/>
          <p:nvPr/>
        </p:nvGrpSpPr>
        <p:grpSpPr>
          <a:xfrm>
            <a:off x="1044800" y="8680419"/>
            <a:ext cx="226949" cy="588026"/>
            <a:chOff x="0" y="0"/>
            <a:chExt cx="80174" cy="123748"/>
          </a:xfrm>
        </p:grpSpPr>
        <p:sp>
          <p:nvSpPr>
            <p:cNvPr id="160" name="Google Shape;160;g3c69b18186a_0_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61" name="Google Shape;161;g3c69b18186a_0_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g3c69b18186a_0_6"/>
          <p:cNvGrpSpPr/>
          <p:nvPr/>
        </p:nvGrpSpPr>
        <p:grpSpPr>
          <a:xfrm>
            <a:off x="1028703" y="8018776"/>
            <a:ext cx="259146" cy="400028"/>
            <a:chOff x="0" y="0"/>
            <a:chExt cx="80174" cy="123748"/>
          </a:xfrm>
        </p:grpSpPr>
        <p:sp>
          <p:nvSpPr>
            <p:cNvPr id="163" name="Google Shape;163;g3c69b18186a_0_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64" name="Google Shape;164;g3c69b18186a_0_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5" name="Google Shape;165;g3c69b18186a_0_6" title="_- visual selection (7).png"/>
          <p:cNvPicPr preferRelativeResize="0"/>
          <p:nvPr/>
        </p:nvPicPr>
        <p:blipFill rotWithShape="1">
          <a:blip r:embed="rId5">
            <a:alphaModFix/>
          </a:blip>
          <a:srcRect b="10329" l="0" r="0" t="0"/>
          <a:stretch/>
        </p:blipFill>
        <p:spPr>
          <a:xfrm>
            <a:off x="9165000" y="4577502"/>
            <a:ext cx="8094299" cy="2878323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69b18186a_0_3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171" name="Google Shape;171;g3c69b18186a_0_38"/>
          <p:cNvSpPr txBox="1"/>
          <p:nvPr/>
        </p:nvSpPr>
        <p:spPr>
          <a:xfrm>
            <a:off x="1028700" y="2025600"/>
            <a:ext cx="15572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Review and Introduction to Retrieval-Augmented Generation (RAG)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72" name="Google Shape;172;g3c69b18186a_0_38"/>
          <p:cNvSpPr txBox="1"/>
          <p:nvPr/>
        </p:nvSpPr>
        <p:spPr>
          <a:xfrm>
            <a:off x="1028700" y="3670175"/>
            <a:ext cx="99396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Parametric vs Non-Parametric 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Memory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73" name="Google Shape;173;g3c69b18186a_0_38"/>
          <p:cNvSpPr txBox="1"/>
          <p:nvPr/>
        </p:nvSpPr>
        <p:spPr>
          <a:xfrm>
            <a:off x="1463225" y="6964000"/>
            <a:ext cx="87462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Parametric memory: knowledge encoded in model weights.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Static and expensive to update.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Non-parametric memory: external documents + retrieval.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Instantly updateable and auditable.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74" name="Google Shape;174;g3c69b18186a_0_3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75" name="Google Shape;175;g3c69b18186a_0_3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76" name="Google Shape;176;g3c69b18186a_0_3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g3c69b18186a_0_3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g3c69b18186a_0_38"/>
          <p:cNvSpPr txBox="1"/>
          <p:nvPr/>
        </p:nvSpPr>
        <p:spPr>
          <a:xfrm>
            <a:off x="1028700" y="5274824"/>
            <a:ext cx="76425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LLMs store knowledge implicitly in weights, while RAG introduces explicit, searchable memory. This distinction is critical for reliability, updates, and compliance.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79" name="Google Shape;179;g3c69b18186a_0_38"/>
          <p:cNvGrpSpPr/>
          <p:nvPr/>
        </p:nvGrpSpPr>
        <p:grpSpPr>
          <a:xfrm>
            <a:off x="1028700" y="6964024"/>
            <a:ext cx="259162" cy="400015"/>
            <a:chOff x="0" y="0"/>
            <a:chExt cx="80174" cy="123748"/>
          </a:xfrm>
        </p:grpSpPr>
        <p:sp>
          <p:nvSpPr>
            <p:cNvPr id="180" name="Google Shape;180;g3c69b18186a_0_3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1" name="Google Shape;181;g3c69b18186a_0_3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g3c69b18186a_0_38"/>
          <p:cNvGrpSpPr/>
          <p:nvPr/>
        </p:nvGrpSpPr>
        <p:grpSpPr>
          <a:xfrm>
            <a:off x="1028703" y="7625676"/>
            <a:ext cx="259146" cy="400028"/>
            <a:chOff x="0" y="0"/>
            <a:chExt cx="80174" cy="123748"/>
          </a:xfrm>
        </p:grpSpPr>
        <p:sp>
          <p:nvSpPr>
            <p:cNvPr id="183" name="Google Shape;183;g3c69b18186a_0_3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4" name="Google Shape;184;g3c69b18186a_0_3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g3c69b18186a_0_38"/>
          <p:cNvSpPr txBox="1"/>
          <p:nvPr/>
        </p:nvSpPr>
        <p:spPr>
          <a:xfrm>
            <a:off x="1044800" y="4818695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g3c69b18186a_0_38"/>
          <p:cNvGrpSpPr/>
          <p:nvPr/>
        </p:nvGrpSpPr>
        <p:grpSpPr>
          <a:xfrm>
            <a:off x="1028703" y="8287326"/>
            <a:ext cx="259146" cy="400028"/>
            <a:chOff x="0" y="0"/>
            <a:chExt cx="80174" cy="123748"/>
          </a:xfrm>
        </p:grpSpPr>
        <p:sp>
          <p:nvSpPr>
            <p:cNvPr id="187" name="Google Shape;187;g3c69b18186a_0_3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8" name="Google Shape;188;g3c69b18186a_0_3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9" name="Google Shape;189;g3c69b18186a_0_38" title="Memoria paramétrica vs no paramétrica.png"/>
          <p:cNvPicPr preferRelativeResize="0"/>
          <p:nvPr/>
        </p:nvPicPr>
        <p:blipFill rotWithShape="1">
          <a:blip r:embed="rId5">
            <a:alphaModFix/>
          </a:blip>
          <a:srcRect b="10402" l="0" r="0" t="0"/>
          <a:stretch/>
        </p:blipFill>
        <p:spPr>
          <a:xfrm>
            <a:off x="10788600" y="3589775"/>
            <a:ext cx="6470700" cy="386524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90" name="Google Shape;190;g3c69b18186a_0_38"/>
          <p:cNvGrpSpPr/>
          <p:nvPr/>
        </p:nvGrpSpPr>
        <p:grpSpPr>
          <a:xfrm>
            <a:off x="1028703" y="8921976"/>
            <a:ext cx="259146" cy="400028"/>
            <a:chOff x="0" y="0"/>
            <a:chExt cx="80174" cy="123748"/>
          </a:xfrm>
        </p:grpSpPr>
        <p:sp>
          <p:nvSpPr>
            <p:cNvPr id="191" name="Google Shape;191;g3c69b18186a_0_3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92" name="Google Shape;192;g3c69b18186a_0_3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69b18186a_0_6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198" name="Google Shape;198;g3c69b18186a_0_68"/>
          <p:cNvSpPr txBox="1"/>
          <p:nvPr/>
        </p:nvSpPr>
        <p:spPr>
          <a:xfrm>
            <a:off x="1028700" y="2025600"/>
            <a:ext cx="15572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Review and Introduction to Retrieval-Augmented Generation (RAG)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9" name="Google Shape;199;g3c69b18186a_0_68"/>
          <p:cNvSpPr txBox="1"/>
          <p:nvPr/>
        </p:nvSpPr>
        <p:spPr>
          <a:xfrm>
            <a:off x="1028700" y="3670175"/>
            <a:ext cx="81021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What Retrieval-Augmented Generation Is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00" name="Google Shape;200;g3c69b18186a_0_68"/>
          <p:cNvSpPr txBox="1"/>
          <p:nvPr/>
        </p:nvSpPr>
        <p:spPr>
          <a:xfrm>
            <a:off x="1463225" y="6964000"/>
            <a:ext cx="87462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Model answers using retrieved documents.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Reduces hallucinations.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Enables citations and traceability.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Improves trust and explainabilit.</a:t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01" name="Google Shape;201;g3c69b18186a_0_6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02" name="Google Shape;202;g3c69b18186a_0_6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3" name="Google Shape;203;g3c69b18186a_0_6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g3c69b18186a_0_6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g3c69b18186a_0_68"/>
          <p:cNvSpPr txBox="1"/>
          <p:nvPr/>
        </p:nvSpPr>
        <p:spPr>
          <a:xfrm>
            <a:off x="1028700" y="5274824"/>
            <a:ext cx="76425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transforms the model from a “knower” into a “reader”, forcing answers to be grounded in retrieved documents visible in the context window.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06" name="Google Shape;206;g3c69b18186a_0_68"/>
          <p:cNvGrpSpPr/>
          <p:nvPr/>
        </p:nvGrpSpPr>
        <p:grpSpPr>
          <a:xfrm>
            <a:off x="1028700" y="6964024"/>
            <a:ext cx="259162" cy="400015"/>
            <a:chOff x="0" y="0"/>
            <a:chExt cx="80174" cy="123748"/>
          </a:xfrm>
        </p:grpSpPr>
        <p:sp>
          <p:nvSpPr>
            <p:cNvPr id="207" name="Google Shape;207;g3c69b18186a_0_6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8" name="Google Shape;208;g3c69b18186a_0_6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g3c69b18186a_0_68"/>
          <p:cNvGrpSpPr/>
          <p:nvPr/>
        </p:nvGrpSpPr>
        <p:grpSpPr>
          <a:xfrm>
            <a:off x="1028703" y="7625676"/>
            <a:ext cx="259146" cy="400028"/>
            <a:chOff x="0" y="0"/>
            <a:chExt cx="80174" cy="123748"/>
          </a:xfrm>
        </p:grpSpPr>
        <p:sp>
          <p:nvSpPr>
            <p:cNvPr id="210" name="Google Shape;210;g3c69b18186a_0_6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1" name="Google Shape;211;g3c69b18186a_0_6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g3c69b18186a_0_68"/>
          <p:cNvSpPr txBox="1"/>
          <p:nvPr/>
        </p:nvSpPr>
        <p:spPr>
          <a:xfrm>
            <a:off x="1044800" y="4818695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g3c69b18186a_0_68"/>
          <p:cNvGrpSpPr/>
          <p:nvPr/>
        </p:nvGrpSpPr>
        <p:grpSpPr>
          <a:xfrm>
            <a:off x="1028703" y="8287326"/>
            <a:ext cx="259146" cy="400028"/>
            <a:chOff x="0" y="0"/>
            <a:chExt cx="80174" cy="123748"/>
          </a:xfrm>
        </p:grpSpPr>
        <p:sp>
          <p:nvSpPr>
            <p:cNvPr id="214" name="Google Shape;214;g3c69b18186a_0_6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5" name="Google Shape;215;g3c69b18186a_0_6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g3c69b18186a_0_68"/>
          <p:cNvGrpSpPr/>
          <p:nvPr/>
        </p:nvGrpSpPr>
        <p:grpSpPr>
          <a:xfrm>
            <a:off x="1028703" y="8921976"/>
            <a:ext cx="259146" cy="400028"/>
            <a:chOff x="0" y="0"/>
            <a:chExt cx="80174" cy="123748"/>
          </a:xfrm>
        </p:grpSpPr>
        <p:sp>
          <p:nvSpPr>
            <p:cNvPr id="217" name="Google Shape;217;g3c69b18186a_0_6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8" name="Google Shape;218;g3c69b18186a_0_6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9" name="Google Shape;219;g3c69b18186a_0_68" title="Slide 10.1.3 – What Retrieval-Augmented Generation Is - visual selec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88600" y="3580775"/>
            <a:ext cx="6470701" cy="401355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69b18186a_0_9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225" name="Google Shape;225;g3c69b18186a_0_95"/>
          <p:cNvSpPr txBox="1"/>
          <p:nvPr/>
        </p:nvSpPr>
        <p:spPr>
          <a:xfrm>
            <a:off x="1028700" y="2025600"/>
            <a:ext cx="15572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Review and Introduction to Retrieval-Augmented Generation (RAG)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6" name="Google Shape;226;g3c69b18186a_0_95"/>
          <p:cNvSpPr txBox="1"/>
          <p:nvPr/>
        </p:nvSpPr>
        <p:spPr>
          <a:xfrm>
            <a:off x="1028700" y="3670175"/>
            <a:ext cx="81021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RAG vs Fine-Tuning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g3c69b18186a_0_95"/>
          <p:cNvSpPr txBox="1"/>
          <p:nvPr/>
        </p:nvSpPr>
        <p:spPr>
          <a:xfrm>
            <a:off x="1463225" y="6483126"/>
            <a:ext cx="87462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Fine-tuning: style, tone, domain behavior.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RAG: factual knowledge and updates.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avoids catastrophic forgetting.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Enterprise systems often combine PEFT + RAG.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28" name="Google Shape;228;g3c69b18186a_0_9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29" name="Google Shape;229;g3c69b18186a_0_9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0" name="Google Shape;230;g3c69b18186a_0_9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1" name="Google Shape;231;g3c69b18186a_0_9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g3c69b18186a_0_95"/>
          <p:cNvSpPr txBox="1"/>
          <p:nvPr/>
        </p:nvSpPr>
        <p:spPr>
          <a:xfrm>
            <a:off x="1028700" y="4793950"/>
            <a:ext cx="76425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and fine-tuning solve different problems. Confusing them leads to brittle systems. The strongest architectures use both strategically.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33" name="Google Shape;233;g3c69b18186a_0_95"/>
          <p:cNvGrpSpPr/>
          <p:nvPr/>
        </p:nvGrpSpPr>
        <p:grpSpPr>
          <a:xfrm>
            <a:off x="1028700" y="6483150"/>
            <a:ext cx="259162" cy="400015"/>
            <a:chOff x="0" y="0"/>
            <a:chExt cx="80174" cy="123748"/>
          </a:xfrm>
        </p:grpSpPr>
        <p:sp>
          <p:nvSpPr>
            <p:cNvPr id="234" name="Google Shape;234;g3c69b18186a_0_9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5" name="Google Shape;235;g3c69b18186a_0_9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g3c69b18186a_0_95"/>
          <p:cNvGrpSpPr/>
          <p:nvPr/>
        </p:nvGrpSpPr>
        <p:grpSpPr>
          <a:xfrm>
            <a:off x="1028703" y="7144802"/>
            <a:ext cx="259146" cy="400028"/>
            <a:chOff x="0" y="0"/>
            <a:chExt cx="80174" cy="123748"/>
          </a:xfrm>
        </p:grpSpPr>
        <p:sp>
          <p:nvSpPr>
            <p:cNvPr id="237" name="Google Shape;237;g3c69b18186a_0_9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8" name="Google Shape;238;g3c69b18186a_0_9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g3c69b18186a_0_95"/>
          <p:cNvSpPr txBox="1"/>
          <p:nvPr/>
        </p:nvSpPr>
        <p:spPr>
          <a:xfrm>
            <a:off x="1044800" y="43378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g3c69b18186a_0_95"/>
          <p:cNvGrpSpPr/>
          <p:nvPr/>
        </p:nvGrpSpPr>
        <p:grpSpPr>
          <a:xfrm>
            <a:off x="1028703" y="7806452"/>
            <a:ext cx="259146" cy="400028"/>
            <a:chOff x="0" y="0"/>
            <a:chExt cx="80174" cy="123748"/>
          </a:xfrm>
        </p:grpSpPr>
        <p:sp>
          <p:nvSpPr>
            <p:cNvPr id="241" name="Google Shape;241;g3c69b18186a_0_9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2" name="Google Shape;242;g3c69b18186a_0_9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g3c69b18186a_0_95"/>
          <p:cNvGrpSpPr/>
          <p:nvPr/>
        </p:nvGrpSpPr>
        <p:grpSpPr>
          <a:xfrm>
            <a:off x="1028703" y="8441102"/>
            <a:ext cx="259146" cy="400028"/>
            <a:chOff x="0" y="0"/>
            <a:chExt cx="80174" cy="123748"/>
          </a:xfrm>
        </p:grpSpPr>
        <p:sp>
          <p:nvSpPr>
            <p:cNvPr id="244" name="Google Shape;244;g3c69b18186a_0_9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5" name="Google Shape;245;g3c69b18186a_0_9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6" name="Google Shape;246;g3c69b18186a_0_95" title="ChatGPT Image 5 feb 2026, 15_36_11.png"/>
          <p:cNvPicPr preferRelativeResize="0"/>
          <p:nvPr/>
        </p:nvPicPr>
        <p:blipFill rotWithShape="1">
          <a:blip r:embed="rId5">
            <a:alphaModFix/>
          </a:blip>
          <a:srcRect b="8983" l="0" r="0" t="0"/>
          <a:stretch/>
        </p:blipFill>
        <p:spPr>
          <a:xfrm>
            <a:off x="10044774" y="3429000"/>
            <a:ext cx="7214527" cy="437744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69b18186a_0_1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67" t="-52927"/>
            </a:stretch>
          </a:blipFill>
          <a:ln>
            <a:noFill/>
          </a:ln>
        </p:spPr>
      </p:sp>
      <p:grpSp>
        <p:nvGrpSpPr>
          <p:cNvPr id="252" name="Google Shape;252;g3c69b18186a_0_122"/>
          <p:cNvGrpSpPr/>
          <p:nvPr/>
        </p:nvGrpSpPr>
        <p:grpSpPr>
          <a:xfrm>
            <a:off x="1160375" y="3382376"/>
            <a:ext cx="2397315" cy="720993"/>
            <a:chOff x="0" y="-9525"/>
            <a:chExt cx="2404287" cy="189900"/>
          </a:xfrm>
        </p:grpSpPr>
        <p:sp>
          <p:nvSpPr>
            <p:cNvPr id="253" name="Google Shape;253;g3c69b18186a_0_122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54" name="Google Shape;254;g3c69b18186a_0_122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g3c69b18186a_0_122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256" name="Google Shape;256;g3c69b18186a_0_122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57" name="Google Shape;257;g3c69b18186a_0_122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g3c69b18186a_0_122"/>
          <p:cNvGrpSpPr/>
          <p:nvPr/>
        </p:nvGrpSpPr>
        <p:grpSpPr>
          <a:xfrm>
            <a:off x="1160375" y="2721426"/>
            <a:ext cx="14641867" cy="721012"/>
            <a:chOff x="0" y="-9525"/>
            <a:chExt cx="2404287" cy="189900"/>
          </a:xfrm>
        </p:grpSpPr>
        <p:sp>
          <p:nvSpPr>
            <p:cNvPr id="259" name="Google Shape;259;g3c69b18186a_0_122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0" name="Google Shape;260;g3c69b18186a_0_122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g3c69b18186a_0_122"/>
          <p:cNvSpPr txBox="1"/>
          <p:nvPr/>
        </p:nvSpPr>
        <p:spPr>
          <a:xfrm>
            <a:off x="1259550" y="2047825"/>
            <a:ext cx="16200600" cy="83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Review and Introduction to Retrieval-Augmented Generation (RAG)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10.2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RAG Architectures: Retrieval-Augmented Generation Systems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Real-World Applications of LLMs and RAG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Presentation Guidelines and Final Review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Student Capstone Project Presentations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10.6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Course Wrap-up and Next Steps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62" name="Google Shape;262;g3c69b18186a_0_12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g3c69b18186a_0_122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69b18186a_0_13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269" name="Google Shape;269;g3c69b18186a_0_138"/>
          <p:cNvSpPr txBox="1"/>
          <p:nvPr/>
        </p:nvSpPr>
        <p:spPr>
          <a:xfrm>
            <a:off x="1028700" y="2025600"/>
            <a:ext cx="155727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10.2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RAG Architectures: Retrieval-Augmented Generation Systems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70" name="Google Shape;270;g3c69b18186a_0_138"/>
          <p:cNvSpPr txBox="1"/>
          <p:nvPr/>
        </p:nvSpPr>
        <p:spPr>
          <a:xfrm>
            <a:off x="1028700" y="3670175"/>
            <a:ext cx="81021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Hallucination Problem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71" name="Google Shape;271;g3c69b18186a_0_138"/>
          <p:cNvSpPr txBox="1"/>
          <p:nvPr/>
        </p:nvSpPr>
        <p:spPr>
          <a:xfrm>
            <a:off x="1463225" y="6483126"/>
            <a:ext cx="87462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Fluent ≠ factual.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Hallucinations scale with confidence.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Dangerous in legal, medical, and financial domains.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Retrieval acts as a grounding constraint.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72" name="Google Shape;272;g3c69b18186a_0_13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73" name="Google Shape;273;g3c69b18186a_0_13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4" name="Google Shape;274;g3c69b18186a_0_13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g3c69b18186a_0_13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g3c69b18186a_0_138"/>
          <p:cNvSpPr txBox="1"/>
          <p:nvPr/>
        </p:nvSpPr>
        <p:spPr>
          <a:xfrm>
            <a:off x="1028700" y="4793950"/>
            <a:ext cx="85815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LLMs are optimized for fluency, not truth. Hallucinations occur when the model fills gaps probabilistically instead of relying on verified information.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77" name="Google Shape;277;g3c69b18186a_0_138"/>
          <p:cNvGrpSpPr/>
          <p:nvPr/>
        </p:nvGrpSpPr>
        <p:grpSpPr>
          <a:xfrm>
            <a:off x="1028700" y="6483150"/>
            <a:ext cx="259162" cy="400015"/>
            <a:chOff x="0" y="0"/>
            <a:chExt cx="80174" cy="123748"/>
          </a:xfrm>
        </p:grpSpPr>
        <p:sp>
          <p:nvSpPr>
            <p:cNvPr id="278" name="Google Shape;278;g3c69b18186a_0_13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9" name="Google Shape;279;g3c69b18186a_0_13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g3c69b18186a_0_138"/>
          <p:cNvGrpSpPr/>
          <p:nvPr/>
        </p:nvGrpSpPr>
        <p:grpSpPr>
          <a:xfrm>
            <a:off x="1028703" y="7144802"/>
            <a:ext cx="259146" cy="400028"/>
            <a:chOff x="0" y="0"/>
            <a:chExt cx="80174" cy="123748"/>
          </a:xfrm>
        </p:grpSpPr>
        <p:sp>
          <p:nvSpPr>
            <p:cNvPr id="281" name="Google Shape;281;g3c69b18186a_0_13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2" name="Google Shape;282;g3c69b18186a_0_13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g3c69b18186a_0_138"/>
          <p:cNvSpPr txBox="1"/>
          <p:nvPr/>
        </p:nvSpPr>
        <p:spPr>
          <a:xfrm>
            <a:off x="1044800" y="43378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g3c69b18186a_0_138"/>
          <p:cNvGrpSpPr/>
          <p:nvPr/>
        </p:nvGrpSpPr>
        <p:grpSpPr>
          <a:xfrm>
            <a:off x="1028703" y="7806452"/>
            <a:ext cx="259146" cy="400028"/>
            <a:chOff x="0" y="0"/>
            <a:chExt cx="80174" cy="123748"/>
          </a:xfrm>
        </p:grpSpPr>
        <p:sp>
          <p:nvSpPr>
            <p:cNvPr id="285" name="Google Shape;285;g3c69b18186a_0_13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6" name="Google Shape;286;g3c69b18186a_0_13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g3c69b18186a_0_138"/>
          <p:cNvGrpSpPr/>
          <p:nvPr/>
        </p:nvGrpSpPr>
        <p:grpSpPr>
          <a:xfrm>
            <a:off x="1028703" y="8441102"/>
            <a:ext cx="259146" cy="400028"/>
            <a:chOff x="0" y="0"/>
            <a:chExt cx="80174" cy="123748"/>
          </a:xfrm>
        </p:grpSpPr>
        <p:sp>
          <p:nvSpPr>
            <p:cNvPr id="288" name="Google Shape;288;g3c69b18186a_0_13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9" name="Google Shape;289;g3c69b18186a_0_138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0" name="Google Shape;290;g3c69b18186a_0_138" title="ChatGPT Image 5 feb 2026, 15_37_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48524" y="3589050"/>
            <a:ext cx="6293499" cy="4195676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69b18186a_0_16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296" name="Google Shape;296;g3c69b18186a_0_165"/>
          <p:cNvSpPr txBox="1"/>
          <p:nvPr/>
        </p:nvSpPr>
        <p:spPr>
          <a:xfrm>
            <a:off x="1028700" y="2025600"/>
            <a:ext cx="155727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10.2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RAG Architectures: Retrieval-Augmented Generation Systems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97" name="Google Shape;297;g3c69b18186a_0_165"/>
          <p:cNvSpPr txBox="1"/>
          <p:nvPr/>
        </p:nvSpPr>
        <p:spPr>
          <a:xfrm>
            <a:off x="1028700" y="3670175"/>
            <a:ext cx="81219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Dual-Pipeline RAG Architecture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98" name="Google Shape;298;g3c69b18186a_0_165"/>
          <p:cNvSpPr txBox="1"/>
          <p:nvPr/>
        </p:nvSpPr>
        <p:spPr>
          <a:xfrm>
            <a:off x="1463225" y="6760553"/>
            <a:ext cx="8746200" cy="3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Offline pipeline: ingestion and indexing.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Online pipeline: query-time retrieval.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Clear separation of responsibilities.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Enables continuous knowledge updates.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99" name="Google Shape;299;g3c69b18186a_0_16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00" name="Google Shape;300;g3c69b18186a_0_16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1" name="Google Shape;301;g3c69b18186a_0_16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g3c69b18186a_0_16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g3c69b18186a_0_165"/>
          <p:cNvSpPr txBox="1"/>
          <p:nvPr/>
        </p:nvSpPr>
        <p:spPr>
          <a:xfrm>
            <a:off x="1028700" y="5251150"/>
            <a:ext cx="82218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 production RAG system separates knowledge preparation from real-time reasoning to ensure scalability and performance.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04" name="Google Shape;304;g3c69b18186a_0_165"/>
          <p:cNvGrpSpPr/>
          <p:nvPr/>
        </p:nvGrpSpPr>
        <p:grpSpPr>
          <a:xfrm>
            <a:off x="1028700" y="6760577"/>
            <a:ext cx="259162" cy="400015"/>
            <a:chOff x="0" y="0"/>
            <a:chExt cx="80174" cy="123748"/>
          </a:xfrm>
        </p:grpSpPr>
        <p:sp>
          <p:nvSpPr>
            <p:cNvPr id="305" name="Google Shape;305;g3c69b18186a_0_16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6" name="Google Shape;306;g3c69b18186a_0_16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g3c69b18186a_0_165"/>
          <p:cNvGrpSpPr/>
          <p:nvPr/>
        </p:nvGrpSpPr>
        <p:grpSpPr>
          <a:xfrm>
            <a:off x="1028703" y="7422229"/>
            <a:ext cx="259146" cy="400028"/>
            <a:chOff x="0" y="0"/>
            <a:chExt cx="80174" cy="123748"/>
          </a:xfrm>
        </p:grpSpPr>
        <p:sp>
          <p:nvSpPr>
            <p:cNvPr id="308" name="Google Shape;308;g3c69b18186a_0_16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9" name="Google Shape;309;g3c69b18186a_0_16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g3c69b18186a_0_165"/>
          <p:cNvSpPr txBox="1"/>
          <p:nvPr/>
        </p:nvSpPr>
        <p:spPr>
          <a:xfrm>
            <a:off x="1044800" y="43378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g3c69b18186a_0_165"/>
          <p:cNvGrpSpPr/>
          <p:nvPr/>
        </p:nvGrpSpPr>
        <p:grpSpPr>
          <a:xfrm>
            <a:off x="1028703" y="8083879"/>
            <a:ext cx="259146" cy="400028"/>
            <a:chOff x="0" y="0"/>
            <a:chExt cx="80174" cy="123748"/>
          </a:xfrm>
        </p:grpSpPr>
        <p:sp>
          <p:nvSpPr>
            <p:cNvPr id="312" name="Google Shape;312;g3c69b18186a_0_16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13" name="Google Shape;313;g3c69b18186a_0_16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g3c69b18186a_0_165"/>
          <p:cNvGrpSpPr/>
          <p:nvPr/>
        </p:nvGrpSpPr>
        <p:grpSpPr>
          <a:xfrm>
            <a:off x="1028703" y="8718529"/>
            <a:ext cx="259146" cy="400028"/>
            <a:chOff x="0" y="0"/>
            <a:chExt cx="80174" cy="123748"/>
          </a:xfrm>
        </p:grpSpPr>
        <p:sp>
          <p:nvSpPr>
            <p:cNvPr id="315" name="Google Shape;315;g3c69b18186a_0_16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16" name="Google Shape;316;g3c69b18186a_0_16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7" name="Google Shape;317;g3c69b18186a_0_165" title="ChatGPT Image 5 feb 2026, 15_40_15.png"/>
          <p:cNvPicPr preferRelativeResize="0"/>
          <p:nvPr/>
        </p:nvPicPr>
        <p:blipFill rotWithShape="1">
          <a:blip r:embed="rId5">
            <a:alphaModFix/>
          </a:blip>
          <a:srcRect b="17287" l="0" r="0" t="0"/>
          <a:stretch/>
        </p:blipFill>
        <p:spPr>
          <a:xfrm>
            <a:off x="9961258" y="3670175"/>
            <a:ext cx="7298043" cy="402432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69b18186a_0_19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323" name="Google Shape;323;g3c69b18186a_0_192"/>
          <p:cNvSpPr txBox="1"/>
          <p:nvPr/>
        </p:nvSpPr>
        <p:spPr>
          <a:xfrm>
            <a:off x="1028700" y="2025600"/>
            <a:ext cx="155727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10.2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RAG Architectures: Retrieval-Augmented Generation Systems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4" name="Google Shape;324;g3c69b18186a_0_192"/>
          <p:cNvSpPr txBox="1"/>
          <p:nvPr/>
        </p:nvSpPr>
        <p:spPr>
          <a:xfrm>
            <a:off x="1028700" y="3670175"/>
            <a:ext cx="8121900" cy="26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Indexing Pipeline: Chunking 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&amp; Embeddings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5" name="Google Shape;325;g3c69b18186a_0_192"/>
          <p:cNvSpPr txBox="1"/>
          <p:nvPr/>
        </p:nvSpPr>
        <p:spPr>
          <a:xfrm>
            <a:off x="1463225" y="6359579"/>
            <a:ext cx="8746200" cy="3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Chunking documents into semantic units.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Overlapping chunks improve recall.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Embedding models convert text into vectors.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Stored in vector databases (FAISS, Pinecone, Milvus).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26" name="Google Shape;326;g3c69b18186a_0_19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27" name="Google Shape;327;g3c69b18186a_0_19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8" name="Google Shape;328;g3c69b18186a_0_19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" name="Google Shape;329;g3c69b18186a_0_19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0" name="Google Shape;330;g3c69b18186a_0_192"/>
          <p:cNvSpPr txBox="1"/>
          <p:nvPr/>
        </p:nvSpPr>
        <p:spPr>
          <a:xfrm>
            <a:off x="1028700" y="5271125"/>
            <a:ext cx="82218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Before retrieval is possible, documents must be transformed into searchable vector representations.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31" name="Google Shape;331;g3c69b18186a_0_192"/>
          <p:cNvGrpSpPr/>
          <p:nvPr/>
        </p:nvGrpSpPr>
        <p:grpSpPr>
          <a:xfrm>
            <a:off x="1028700" y="6359602"/>
            <a:ext cx="259162" cy="400015"/>
            <a:chOff x="0" y="0"/>
            <a:chExt cx="80174" cy="123748"/>
          </a:xfrm>
        </p:grpSpPr>
        <p:sp>
          <p:nvSpPr>
            <p:cNvPr id="332" name="Google Shape;332;g3c69b18186a_0_19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3" name="Google Shape;333;g3c69b18186a_0_19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g3c69b18186a_0_192"/>
          <p:cNvGrpSpPr/>
          <p:nvPr/>
        </p:nvGrpSpPr>
        <p:grpSpPr>
          <a:xfrm>
            <a:off x="1028703" y="7021254"/>
            <a:ext cx="259146" cy="400028"/>
            <a:chOff x="0" y="0"/>
            <a:chExt cx="80174" cy="123748"/>
          </a:xfrm>
        </p:grpSpPr>
        <p:sp>
          <p:nvSpPr>
            <p:cNvPr id="335" name="Google Shape;335;g3c69b18186a_0_19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6" name="Google Shape;336;g3c69b18186a_0_19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g3c69b18186a_0_192"/>
          <p:cNvSpPr txBox="1"/>
          <p:nvPr/>
        </p:nvSpPr>
        <p:spPr>
          <a:xfrm>
            <a:off x="1044800" y="43378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" name="Google Shape;338;g3c69b18186a_0_192"/>
          <p:cNvGrpSpPr/>
          <p:nvPr/>
        </p:nvGrpSpPr>
        <p:grpSpPr>
          <a:xfrm>
            <a:off x="1028703" y="7682904"/>
            <a:ext cx="259146" cy="400028"/>
            <a:chOff x="0" y="0"/>
            <a:chExt cx="80174" cy="123748"/>
          </a:xfrm>
        </p:grpSpPr>
        <p:sp>
          <p:nvSpPr>
            <p:cNvPr id="339" name="Google Shape;339;g3c69b18186a_0_19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40" name="Google Shape;340;g3c69b18186a_0_19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1" name="Google Shape;341;g3c69b18186a_0_192"/>
          <p:cNvGrpSpPr/>
          <p:nvPr/>
        </p:nvGrpSpPr>
        <p:grpSpPr>
          <a:xfrm>
            <a:off x="1028703" y="8317554"/>
            <a:ext cx="259146" cy="400028"/>
            <a:chOff x="0" y="0"/>
            <a:chExt cx="80174" cy="123748"/>
          </a:xfrm>
        </p:grpSpPr>
        <p:sp>
          <p:nvSpPr>
            <p:cNvPr id="342" name="Google Shape;342;g3c69b18186a_0_19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43" name="Google Shape;343;g3c69b18186a_0_19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4" name="Google Shape;344;g3c69b18186a_0_192" title="ChatGPT Image 5 feb 2026, 15_42_28.png"/>
          <p:cNvPicPr preferRelativeResize="0"/>
          <p:nvPr/>
        </p:nvPicPr>
        <p:blipFill rotWithShape="1">
          <a:blip r:embed="rId5">
            <a:alphaModFix/>
          </a:blip>
          <a:srcRect b="19584" l="5700" r="5505" t="15417"/>
          <a:stretch/>
        </p:blipFill>
        <p:spPr>
          <a:xfrm>
            <a:off x="9450275" y="3992425"/>
            <a:ext cx="7809024" cy="381062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69b18186a_0_2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350" name="Google Shape;350;g3c69b18186a_0_219"/>
          <p:cNvSpPr txBox="1"/>
          <p:nvPr/>
        </p:nvSpPr>
        <p:spPr>
          <a:xfrm>
            <a:off x="1028700" y="2025600"/>
            <a:ext cx="155727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10.2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RAG Architectures: Retrieval-Augmented Generation Systems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1" name="Google Shape;351;g3c69b18186a_0_219"/>
          <p:cNvSpPr txBox="1"/>
          <p:nvPr/>
        </p:nvSpPr>
        <p:spPr>
          <a:xfrm>
            <a:off x="1028700" y="3670175"/>
            <a:ext cx="9180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Retrieval and Prompt Augmentation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2" name="Google Shape;352;g3c69b18186a_0_219"/>
          <p:cNvSpPr txBox="1"/>
          <p:nvPr/>
        </p:nvSpPr>
        <p:spPr>
          <a:xfrm>
            <a:off x="1463225" y="6190903"/>
            <a:ext cx="8746200" cy="3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Chunking documents into semantic units.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Overlapping chunks improve recall.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Embedding models convert text into vectors.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Stored in vector databases (FAISS, Pinecone, Milvus).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53" name="Google Shape;353;g3c69b18186a_0_21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54" name="Google Shape;354;g3c69b18186a_0_21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5" name="Google Shape;355;g3c69b18186a_0_21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6" name="Google Shape;356;g3c69b18186a_0_21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g3c69b18186a_0_219"/>
          <p:cNvSpPr txBox="1"/>
          <p:nvPr/>
        </p:nvSpPr>
        <p:spPr>
          <a:xfrm>
            <a:off x="1028700" y="4737725"/>
            <a:ext cx="82218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At query time, the system retrieves the most relevant chunks and injects them into the prompt to guide generation.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58" name="Google Shape;358;g3c69b18186a_0_219"/>
          <p:cNvGrpSpPr/>
          <p:nvPr/>
        </p:nvGrpSpPr>
        <p:grpSpPr>
          <a:xfrm>
            <a:off x="1028700" y="6190927"/>
            <a:ext cx="259162" cy="400015"/>
            <a:chOff x="0" y="0"/>
            <a:chExt cx="80174" cy="123748"/>
          </a:xfrm>
        </p:grpSpPr>
        <p:sp>
          <p:nvSpPr>
            <p:cNvPr id="359" name="Google Shape;359;g3c69b18186a_0_2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60" name="Google Shape;360;g3c69b18186a_0_2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g3c69b18186a_0_219"/>
          <p:cNvGrpSpPr/>
          <p:nvPr/>
        </p:nvGrpSpPr>
        <p:grpSpPr>
          <a:xfrm>
            <a:off x="1028703" y="6852579"/>
            <a:ext cx="259146" cy="400028"/>
            <a:chOff x="0" y="0"/>
            <a:chExt cx="80174" cy="123748"/>
          </a:xfrm>
        </p:grpSpPr>
        <p:sp>
          <p:nvSpPr>
            <p:cNvPr id="362" name="Google Shape;362;g3c69b18186a_0_2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63" name="Google Shape;363;g3c69b18186a_0_2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g3c69b18186a_0_219"/>
          <p:cNvSpPr txBox="1"/>
          <p:nvPr/>
        </p:nvSpPr>
        <p:spPr>
          <a:xfrm>
            <a:off x="1044800" y="43378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" name="Google Shape;365;g3c69b18186a_0_219"/>
          <p:cNvGrpSpPr/>
          <p:nvPr/>
        </p:nvGrpSpPr>
        <p:grpSpPr>
          <a:xfrm>
            <a:off x="1028703" y="7514229"/>
            <a:ext cx="259146" cy="400028"/>
            <a:chOff x="0" y="0"/>
            <a:chExt cx="80174" cy="123748"/>
          </a:xfrm>
        </p:grpSpPr>
        <p:sp>
          <p:nvSpPr>
            <p:cNvPr id="366" name="Google Shape;366;g3c69b18186a_0_2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67" name="Google Shape;367;g3c69b18186a_0_2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g3c69b18186a_0_219"/>
          <p:cNvGrpSpPr/>
          <p:nvPr/>
        </p:nvGrpSpPr>
        <p:grpSpPr>
          <a:xfrm>
            <a:off x="1028703" y="8148879"/>
            <a:ext cx="259146" cy="400028"/>
            <a:chOff x="0" y="0"/>
            <a:chExt cx="80174" cy="123748"/>
          </a:xfrm>
        </p:grpSpPr>
        <p:sp>
          <p:nvSpPr>
            <p:cNvPr id="369" name="Google Shape;369;g3c69b18186a_0_2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70" name="Google Shape;370;g3c69b18186a_0_2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1" name="Google Shape;371;g3c69b18186a_0_219" title="Gemini_Generated_Image_j76561j76561j765.png"/>
          <p:cNvPicPr preferRelativeResize="0"/>
          <p:nvPr/>
        </p:nvPicPr>
        <p:blipFill rotWithShape="1">
          <a:blip r:embed="rId5">
            <a:alphaModFix/>
          </a:blip>
          <a:srcRect b="18932" l="0" r="0" t="24245"/>
          <a:stretch/>
        </p:blipFill>
        <p:spPr>
          <a:xfrm>
            <a:off x="10898825" y="4106375"/>
            <a:ext cx="6360476" cy="3614126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69b18186a_0_24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67" t="-52927"/>
            </a:stretch>
          </a:blipFill>
          <a:ln>
            <a:noFill/>
          </a:ln>
        </p:spPr>
      </p:sp>
      <p:grpSp>
        <p:nvGrpSpPr>
          <p:cNvPr id="377" name="Google Shape;377;g3c69b18186a_0_246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378" name="Google Shape;378;g3c69b18186a_0_246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79" name="Google Shape;379;g3c69b18186a_0_246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0" name="Google Shape;380;g3c69b18186a_0_246"/>
          <p:cNvGrpSpPr/>
          <p:nvPr/>
        </p:nvGrpSpPr>
        <p:grpSpPr>
          <a:xfrm>
            <a:off x="1160375" y="3407225"/>
            <a:ext cx="11985130" cy="721031"/>
            <a:chOff x="0" y="-9525"/>
            <a:chExt cx="2404287" cy="189900"/>
          </a:xfrm>
        </p:grpSpPr>
        <p:sp>
          <p:nvSpPr>
            <p:cNvPr id="381" name="Google Shape;381;g3c69b18186a_0_246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2" name="Google Shape;382;g3c69b18186a_0_246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" name="Google Shape;383;g3c69b18186a_0_246"/>
          <p:cNvSpPr txBox="1"/>
          <p:nvPr/>
        </p:nvSpPr>
        <p:spPr>
          <a:xfrm>
            <a:off x="1259550" y="2047825"/>
            <a:ext cx="16260600" cy="7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Review and Introduction to Retrieval-Augmented Generation (RAG)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10.2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RAG Architectures: Retrieval-Augmented Generation Systems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10.3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Real-World Applications of LLMs and RAG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Presentation Guidelines and Final Review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Student Capstone Project Presentations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10.6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Course Wrap-up and Next Steps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4" name="Google Shape;384;g3c69b18186a_0_24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g3c69b18186a_0_246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69b18186a_0_26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391" name="Google Shape;391;g3c69b18186a_0_262"/>
          <p:cNvSpPr txBox="1"/>
          <p:nvPr/>
        </p:nvSpPr>
        <p:spPr>
          <a:xfrm>
            <a:off x="1028700" y="2025600"/>
            <a:ext cx="15572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Real-World Applications of LLMs and RAG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2" name="Google Shape;392;g3c69b18186a_0_262"/>
          <p:cNvSpPr txBox="1"/>
          <p:nvPr/>
        </p:nvSpPr>
        <p:spPr>
          <a:xfrm>
            <a:off x="1028700" y="3136775"/>
            <a:ext cx="9180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Legal &amp; Healthcare Use Cases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3" name="Google Shape;393;g3c69b18186a_0_262"/>
          <p:cNvSpPr txBox="1"/>
          <p:nvPr/>
        </p:nvSpPr>
        <p:spPr>
          <a:xfrm>
            <a:off x="1463225" y="5352703"/>
            <a:ext cx="87462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Legal: contract review, regulation audits.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Healthcare: clinical decision support.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Answers backed by source documents.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Reduced manual review time.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94" name="Google Shape;394;g3c69b18186a_0_262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95" name="Google Shape;395;g3c69b18186a_0_26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96" name="Google Shape;396;g3c69b18186a_0_262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g3c69b18186a_0_26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g3c69b18186a_0_262"/>
          <p:cNvSpPr txBox="1"/>
          <p:nvPr/>
        </p:nvSpPr>
        <p:spPr>
          <a:xfrm>
            <a:off x="1028700" y="4204325"/>
            <a:ext cx="82218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enables high-stakes decision support where accuracy, traceability, and compliance are mandatory.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99" name="Google Shape;399;g3c69b18186a_0_262"/>
          <p:cNvGrpSpPr/>
          <p:nvPr/>
        </p:nvGrpSpPr>
        <p:grpSpPr>
          <a:xfrm>
            <a:off x="1028700" y="5352727"/>
            <a:ext cx="259162" cy="400015"/>
            <a:chOff x="0" y="0"/>
            <a:chExt cx="80174" cy="123748"/>
          </a:xfrm>
        </p:grpSpPr>
        <p:sp>
          <p:nvSpPr>
            <p:cNvPr id="400" name="Google Shape;400;g3c69b18186a_0_26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1" name="Google Shape;401;g3c69b18186a_0_26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g3c69b18186a_0_262"/>
          <p:cNvGrpSpPr/>
          <p:nvPr/>
        </p:nvGrpSpPr>
        <p:grpSpPr>
          <a:xfrm>
            <a:off x="1028703" y="6014379"/>
            <a:ext cx="259146" cy="400028"/>
            <a:chOff x="0" y="0"/>
            <a:chExt cx="80174" cy="123748"/>
          </a:xfrm>
        </p:grpSpPr>
        <p:sp>
          <p:nvSpPr>
            <p:cNvPr id="403" name="Google Shape;403;g3c69b18186a_0_26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4" name="Google Shape;404;g3c69b18186a_0_26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g3c69b18186a_0_262"/>
          <p:cNvSpPr txBox="1"/>
          <p:nvPr/>
        </p:nvSpPr>
        <p:spPr>
          <a:xfrm>
            <a:off x="1044800" y="38044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6" name="Google Shape;406;g3c69b18186a_0_262"/>
          <p:cNvGrpSpPr/>
          <p:nvPr/>
        </p:nvGrpSpPr>
        <p:grpSpPr>
          <a:xfrm>
            <a:off x="1028703" y="6676029"/>
            <a:ext cx="259146" cy="400028"/>
            <a:chOff x="0" y="0"/>
            <a:chExt cx="80174" cy="123748"/>
          </a:xfrm>
        </p:grpSpPr>
        <p:sp>
          <p:nvSpPr>
            <p:cNvPr id="407" name="Google Shape;407;g3c69b18186a_0_26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8" name="Google Shape;408;g3c69b18186a_0_26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g3c69b18186a_0_262"/>
          <p:cNvGrpSpPr/>
          <p:nvPr/>
        </p:nvGrpSpPr>
        <p:grpSpPr>
          <a:xfrm>
            <a:off x="1028703" y="7310679"/>
            <a:ext cx="259146" cy="400028"/>
            <a:chOff x="0" y="0"/>
            <a:chExt cx="80174" cy="123748"/>
          </a:xfrm>
        </p:grpSpPr>
        <p:sp>
          <p:nvSpPr>
            <p:cNvPr id="410" name="Google Shape;410;g3c69b18186a_0_26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11" name="Google Shape;411;g3c69b18186a_0_262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2" name="Google Shape;412;g3c69b18186a_0_262" title="ChatGPT Image 5 feb 2026, 15_45_35.png"/>
          <p:cNvPicPr preferRelativeResize="0"/>
          <p:nvPr/>
        </p:nvPicPr>
        <p:blipFill rotWithShape="1">
          <a:blip r:embed="rId5">
            <a:alphaModFix/>
          </a:blip>
          <a:srcRect b="18153" l="0" r="0" t="0"/>
          <a:stretch/>
        </p:blipFill>
        <p:spPr>
          <a:xfrm>
            <a:off x="9430300" y="3226400"/>
            <a:ext cx="7829000" cy="4271913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69b18186a_0_28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418" name="Google Shape;418;g3c69b18186a_0_289"/>
          <p:cNvSpPr txBox="1"/>
          <p:nvPr/>
        </p:nvSpPr>
        <p:spPr>
          <a:xfrm>
            <a:off x="1028700" y="2025600"/>
            <a:ext cx="15572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Real-World Applications of LLMs and RAG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19" name="Google Shape;419;g3c69b18186a_0_289"/>
          <p:cNvSpPr txBox="1"/>
          <p:nvPr/>
        </p:nvSpPr>
        <p:spPr>
          <a:xfrm>
            <a:off x="1028700" y="3136775"/>
            <a:ext cx="91806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Multilingual Enterprise Knowledge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20" name="Google Shape;420;g3c69b18186a_0_289"/>
          <p:cNvSpPr txBox="1"/>
          <p:nvPr/>
        </p:nvSpPr>
        <p:spPr>
          <a:xfrm>
            <a:off x="1463225" y="5352703"/>
            <a:ext cx="87462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Language-agnostic embeddings.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Query in one language, retrieve in another.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Centralized global knowledge.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Automatic translation at generation time.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21" name="Google Shape;421;g3c69b18186a_0_28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22" name="Google Shape;422;g3c69b18186a_0_28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3" name="Google Shape;423;g3c69b18186a_0_28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g3c69b18186a_0_28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g3c69b18186a_0_289"/>
          <p:cNvSpPr txBox="1"/>
          <p:nvPr/>
        </p:nvSpPr>
        <p:spPr>
          <a:xfrm>
            <a:off x="1028700" y="4204325"/>
            <a:ext cx="82218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Modern embeddings allow organizations to access global knowledge regardless of language barriers.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26" name="Google Shape;426;g3c69b18186a_0_289"/>
          <p:cNvGrpSpPr/>
          <p:nvPr/>
        </p:nvGrpSpPr>
        <p:grpSpPr>
          <a:xfrm>
            <a:off x="1028700" y="5352727"/>
            <a:ext cx="259162" cy="400015"/>
            <a:chOff x="0" y="0"/>
            <a:chExt cx="80174" cy="123748"/>
          </a:xfrm>
        </p:grpSpPr>
        <p:sp>
          <p:nvSpPr>
            <p:cNvPr id="427" name="Google Shape;427;g3c69b18186a_0_28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8" name="Google Shape;428;g3c69b18186a_0_28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g3c69b18186a_0_289"/>
          <p:cNvGrpSpPr/>
          <p:nvPr/>
        </p:nvGrpSpPr>
        <p:grpSpPr>
          <a:xfrm>
            <a:off x="1028703" y="6014379"/>
            <a:ext cx="259146" cy="400028"/>
            <a:chOff x="0" y="0"/>
            <a:chExt cx="80174" cy="123748"/>
          </a:xfrm>
        </p:grpSpPr>
        <p:sp>
          <p:nvSpPr>
            <p:cNvPr id="430" name="Google Shape;430;g3c69b18186a_0_28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31" name="Google Shape;431;g3c69b18186a_0_28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2" name="Google Shape;432;g3c69b18186a_0_289"/>
          <p:cNvSpPr txBox="1"/>
          <p:nvPr/>
        </p:nvSpPr>
        <p:spPr>
          <a:xfrm>
            <a:off x="1044800" y="38044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3" name="Google Shape;433;g3c69b18186a_0_289"/>
          <p:cNvGrpSpPr/>
          <p:nvPr/>
        </p:nvGrpSpPr>
        <p:grpSpPr>
          <a:xfrm>
            <a:off x="1028703" y="6676029"/>
            <a:ext cx="259146" cy="400028"/>
            <a:chOff x="0" y="0"/>
            <a:chExt cx="80174" cy="123748"/>
          </a:xfrm>
        </p:grpSpPr>
        <p:sp>
          <p:nvSpPr>
            <p:cNvPr id="434" name="Google Shape;434;g3c69b18186a_0_28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35" name="Google Shape;435;g3c69b18186a_0_28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6" name="Google Shape;436;g3c69b18186a_0_289"/>
          <p:cNvGrpSpPr/>
          <p:nvPr/>
        </p:nvGrpSpPr>
        <p:grpSpPr>
          <a:xfrm>
            <a:off x="1028703" y="7310679"/>
            <a:ext cx="259146" cy="400028"/>
            <a:chOff x="0" y="0"/>
            <a:chExt cx="80174" cy="123748"/>
          </a:xfrm>
        </p:grpSpPr>
        <p:sp>
          <p:nvSpPr>
            <p:cNvPr id="437" name="Google Shape;437;g3c69b18186a_0_28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38" name="Google Shape;438;g3c69b18186a_0_28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9" name="Google Shape;439;g3c69b18186a_0_289" title="Gemini_Generated_Image_mzjawqmzjawqmzja.png"/>
          <p:cNvPicPr preferRelativeResize="0"/>
          <p:nvPr/>
        </p:nvPicPr>
        <p:blipFill rotWithShape="1">
          <a:blip r:embed="rId5">
            <a:alphaModFix/>
          </a:blip>
          <a:srcRect b="7321" l="0" r="0" t="0"/>
          <a:stretch/>
        </p:blipFill>
        <p:spPr>
          <a:xfrm>
            <a:off x="12324027" y="3136775"/>
            <a:ext cx="4935273" cy="457392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c69b18186a_0_3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67" t="-52927"/>
            </a:stretch>
          </a:blipFill>
          <a:ln>
            <a:noFill/>
          </a:ln>
        </p:spPr>
      </p:sp>
      <p:grpSp>
        <p:nvGrpSpPr>
          <p:cNvPr id="445" name="Google Shape;445;g3c69b18186a_0_316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446" name="Google Shape;446;g3c69b18186a_0_316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47" name="Google Shape;447;g3c69b18186a_0_316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8" name="Google Shape;448;g3c69b18186a_0_316"/>
          <p:cNvGrpSpPr/>
          <p:nvPr/>
        </p:nvGrpSpPr>
        <p:grpSpPr>
          <a:xfrm>
            <a:off x="1160375" y="4093025"/>
            <a:ext cx="11985130" cy="721031"/>
            <a:chOff x="0" y="-9525"/>
            <a:chExt cx="2404287" cy="189900"/>
          </a:xfrm>
        </p:grpSpPr>
        <p:sp>
          <p:nvSpPr>
            <p:cNvPr id="449" name="Google Shape;449;g3c69b18186a_0_316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0" name="Google Shape;450;g3c69b18186a_0_316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1" name="Google Shape;451;g3c69b18186a_0_316"/>
          <p:cNvSpPr txBox="1"/>
          <p:nvPr/>
        </p:nvSpPr>
        <p:spPr>
          <a:xfrm>
            <a:off x="1259550" y="2047825"/>
            <a:ext cx="16260600" cy="7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Review and Introduction to Retrieval-Augmented Generation (RAG)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10.2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RAG Architectures: Retrieval-Augmented Generation Systems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Real-World Applications of LLMs and RAG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10.4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Presentation Guidelines and Final Review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Student Capstone Project Presentations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10.6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Course Wrap-up and Next Steps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52" name="Google Shape;452;g3c69b18186a_0_31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3" name="Google Shape;453;g3c69b18186a_0_316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69b18186a_0_3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459" name="Google Shape;459;g3c69b18186a_0_329"/>
          <p:cNvSpPr txBox="1"/>
          <p:nvPr/>
        </p:nvSpPr>
        <p:spPr>
          <a:xfrm>
            <a:off x="1028700" y="2025600"/>
            <a:ext cx="15572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10.4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Presentation Guidelines and Final Review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60" name="Google Shape;460;g3c69b18186a_0_329"/>
          <p:cNvSpPr txBox="1"/>
          <p:nvPr/>
        </p:nvSpPr>
        <p:spPr>
          <a:xfrm>
            <a:off x="1028700" y="3136775"/>
            <a:ext cx="9180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How to Present a RAG System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61" name="Google Shape;461;g3c69b18186a_0_329"/>
          <p:cNvSpPr txBox="1"/>
          <p:nvPr/>
        </p:nvSpPr>
        <p:spPr>
          <a:xfrm>
            <a:off x="1463225" y="5352703"/>
            <a:ext cx="87462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Clear problem statement.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Architecture justification.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Live demo or benchmarks.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Prepared technical Q&amp;A.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62" name="Google Shape;462;g3c69b18186a_0_32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63" name="Google Shape;463;g3c69b18186a_0_32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64" name="Google Shape;464;g3c69b18186a_0_32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g3c69b18186a_0_32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g3c69b18186a_0_329"/>
          <p:cNvSpPr txBox="1"/>
          <p:nvPr/>
        </p:nvSpPr>
        <p:spPr>
          <a:xfrm>
            <a:off x="1028700" y="4204325"/>
            <a:ext cx="82218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 professional AI presentation defends architectural decisions with evidence, not narratives.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67" name="Google Shape;467;g3c69b18186a_0_329"/>
          <p:cNvGrpSpPr/>
          <p:nvPr/>
        </p:nvGrpSpPr>
        <p:grpSpPr>
          <a:xfrm>
            <a:off x="1028700" y="5352727"/>
            <a:ext cx="259162" cy="400015"/>
            <a:chOff x="0" y="0"/>
            <a:chExt cx="80174" cy="123748"/>
          </a:xfrm>
        </p:grpSpPr>
        <p:sp>
          <p:nvSpPr>
            <p:cNvPr id="468" name="Google Shape;468;g3c69b18186a_0_3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69" name="Google Shape;469;g3c69b18186a_0_3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0" name="Google Shape;470;g3c69b18186a_0_329"/>
          <p:cNvGrpSpPr/>
          <p:nvPr/>
        </p:nvGrpSpPr>
        <p:grpSpPr>
          <a:xfrm>
            <a:off x="1028703" y="6014379"/>
            <a:ext cx="259146" cy="400028"/>
            <a:chOff x="0" y="0"/>
            <a:chExt cx="80174" cy="123748"/>
          </a:xfrm>
        </p:grpSpPr>
        <p:sp>
          <p:nvSpPr>
            <p:cNvPr id="471" name="Google Shape;471;g3c69b18186a_0_3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2" name="Google Shape;472;g3c69b18186a_0_3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3" name="Google Shape;473;g3c69b18186a_0_329"/>
          <p:cNvSpPr txBox="1"/>
          <p:nvPr/>
        </p:nvSpPr>
        <p:spPr>
          <a:xfrm>
            <a:off x="1044800" y="38044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4" name="Google Shape;474;g3c69b18186a_0_329"/>
          <p:cNvGrpSpPr/>
          <p:nvPr/>
        </p:nvGrpSpPr>
        <p:grpSpPr>
          <a:xfrm>
            <a:off x="1028703" y="6676029"/>
            <a:ext cx="259146" cy="400028"/>
            <a:chOff x="0" y="0"/>
            <a:chExt cx="80174" cy="123748"/>
          </a:xfrm>
        </p:grpSpPr>
        <p:sp>
          <p:nvSpPr>
            <p:cNvPr id="475" name="Google Shape;475;g3c69b18186a_0_3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6" name="Google Shape;476;g3c69b18186a_0_3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7" name="Google Shape;477;g3c69b18186a_0_329"/>
          <p:cNvGrpSpPr/>
          <p:nvPr/>
        </p:nvGrpSpPr>
        <p:grpSpPr>
          <a:xfrm>
            <a:off x="1028703" y="7310679"/>
            <a:ext cx="259146" cy="400028"/>
            <a:chOff x="0" y="0"/>
            <a:chExt cx="80174" cy="123748"/>
          </a:xfrm>
        </p:grpSpPr>
        <p:sp>
          <p:nvSpPr>
            <p:cNvPr id="478" name="Google Shape;478;g3c69b18186a_0_3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9" name="Google Shape;479;g3c69b18186a_0_3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80" name="Google Shape;480;g3c69b18186a_0_329" title="Gemini_Generated_Image_x098o5x098o5x098.png"/>
          <p:cNvPicPr preferRelativeResize="0"/>
          <p:nvPr/>
        </p:nvPicPr>
        <p:blipFill rotWithShape="1">
          <a:blip r:embed="rId5">
            <a:alphaModFix/>
          </a:blip>
          <a:srcRect b="17478" l="0" r="0" t="9815"/>
          <a:stretch/>
        </p:blipFill>
        <p:spPr>
          <a:xfrm>
            <a:off x="11061123" y="3136775"/>
            <a:ext cx="6198177" cy="4506575"/>
          </a:xfrm>
          <a:prstGeom prst="rect">
            <a:avLst/>
          </a:prstGeom>
          <a:noFill/>
          <a:ln cap="flat" cmpd="sng" w="7620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69b18186a_0_35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486" name="Google Shape;486;g3c69b18186a_0_356"/>
          <p:cNvSpPr txBox="1"/>
          <p:nvPr/>
        </p:nvSpPr>
        <p:spPr>
          <a:xfrm>
            <a:off x="1028700" y="2025600"/>
            <a:ext cx="15572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10.4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Presentation Guidelines and Final Review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87" name="Google Shape;487;g3c69b18186a_0_356"/>
          <p:cNvSpPr txBox="1"/>
          <p:nvPr/>
        </p:nvSpPr>
        <p:spPr>
          <a:xfrm>
            <a:off x="1028700" y="3136775"/>
            <a:ext cx="9180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Evaluation Criteria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88" name="Google Shape;488;g3c69b18186a_0_356"/>
          <p:cNvSpPr txBox="1"/>
          <p:nvPr/>
        </p:nvSpPr>
        <p:spPr>
          <a:xfrm>
            <a:off x="1463225" y="5352703"/>
            <a:ext cx="87462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Retrieval quality.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Latency and scalability.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Safety and privacy.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Cost efficiency.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89" name="Google Shape;489;g3c69b18186a_0_35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90" name="Google Shape;490;g3c69b18186a_0_35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1" name="Google Shape;491;g3c69b18186a_0_35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492;g3c69b18186a_0_35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3" name="Google Shape;493;g3c69b18186a_0_356"/>
          <p:cNvSpPr txBox="1"/>
          <p:nvPr/>
        </p:nvSpPr>
        <p:spPr>
          <a:xfrm>
            <a:off x="1028700" y="4204325"/>
            <a:ext cx="59049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Projects are judged on execution quality, innovation, and industrial realism.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94" name="Google Shape;494;g3c69b18186a_0_356"/>
          <p:cNvGrpSpPr/>
          <p:nvPr/>
        </p:nvGrpSpPr>
        <p:grpSpPr>
          <a:xfrm>
            <a:off x="1028700" y="5352727"/>
            <a:ext cx="259162" cy="400015"/>
            <a:chOff x="0" y="0"/>
            <a:chExt cx="80174" cy="123748"/>
          </a:xfrm>
        </p:grpSpPr>
        <p:sp>
          <p:nvSpPr>
            <p:cNvPr id="495" name="Google Shape;495;g3c69b18186a_0_35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6" name="Google Shape;496;g3c69b18186a_0_35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g3c69b18186a_0_356"/>
          <p:cNvGrpSpPr/>
          <p:nvPr/>
        </p:nvGrpSpPr>
        <p:grpSpPr>
          <a:xfrm>
            <a:off x="1028703" y="6014379"/>
            <a:ext cx="259146" cy="400028"/>
            <a:chOff x="0" y="0"/>
            <a:chExt cx="80174" cy="123748"/>
          </a:xfrm>
        </p:grpSpPr>
        <p:sp>
          <p:nvSpPr>
            <p:cNvPr id="498" name="Google Shape;498;g3c69b18186a_0_35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9" name="Google Shape;499;g3c69b18186a_0_35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0" name="Google Shape;500;g3c69b18186a_0_356"/>
          <p:cNvSpPr txBox="1"/>
          <p:nvPr/>
        </p:nvSpPr>
        <p:spPr>
          <a:xfrm>
            <a:off x="1044800" y="38044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1" name="Google Shape;501;g3c69b18186a_0_356"/>
          <p:cNvGrpSpPr/>
          <p:nvPr/>
        </p:nvGrpSpPr>
        <p:grpSpPr>
          <a:xfrm>
            <a:off x="1028703" y="6676029"/>
            <a:ext cx="259146" cy="400028"/>
            <a:chOff x="0" y="0"/>
            <a:chExt cx="80174" cy="123748"/>
          </a:xfrm>
        </p:grpSpPr>
        <p:sp>
          <p:nvSpPr>
            <p:cNvPr id="502" name="Google Shape;502;g3c69b18186a_0_35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3" name="Google Shape;503;g3c69b18186a_0_35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4" name="Google Shape;504;g3c69b18186a_0_356"/>
          <p:cNvGrpSpPr/>
          <p:nvPr/>
        </p:nvGrpSpPr>
        <p:grpSpPr>
          <a:xfrm>
            <a:off x="1028703" y="7310679"/>
            <a:ext cx="259146" cy="400028"/>
            <a:chOff x="0" y="0"/>
            <a:chExt cx="80174" cy="123748"/>
          </a:xfrm>
        </p:grpSpPr>
        <p:sp>
          <p:nvSpPr>
            <p:cNvPr id="505" name="Google Shape;505;g3c69b18186a_0_35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6" name="Google Shape;506;g3c69b18186a_0_35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7" name="Google Shape;507;g3c69b18186a_0_356" title="Gemini_Generated_Image_3w4a0i3w4a0i3w4a.png"/>
          <p:cNvPicPr preferRelativeResize="0"/>
          <p:nvPr/>
        </p:nvPicPr>
        <p:blipFill rotWithShape="1">
          <a:blip r:embed="rId5">
            <a:alphaModFix/>
          </a:blip>
          <a:srcRect b="2190" l="7227" r="7847" t="0"/>
          <a:stretch/>
        </p:blipFill>
        <p:spPr>
          <a:xfrm>
            <a:off x="6474050" y="3136775"/>
            <a:ext cx="5378066" cy="619347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69b18186a_0_38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513" name="Google Shape;513;g3c69b18186a_0_383"/>
          <p:cNvSpPr txBox="1"/>
          <p:nvPr/>
        </p:nvSpPr>
        <p:spPr>
          <a:xfrm>
            <a:off x="1028700" y="2025600"/>
            <a:ext cx="15572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10.4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Presentation Guidelines and Final Review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14" name="Google Shape;514;g3c69b18186a_0_383"/>
          <p:cNvSpPr txBox="1"/>
          <p:nvPr/>
        </p:nvSpPr>
        <p:spPr>
          <a:xfrm>
            <a:off x="1028700" y="3136775"/>
            <a:ext cx="9180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Evaluation Criteria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15" name="Google Shape;515;g3c69b18186a_0_383"/>
          <p:cNvSpPr txBox="1"/>
          <p:nvPr/>
        </p:nvSpPr>
        <p:spPr>
          <a:xfrm>
            <a:off x="1463225" y="5352703"/>
            <a:ext cx="87462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Retrieval quality.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Latency and scalability.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Safety and privacy.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Cost efficiency.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16" name="Google Shape;516;g3c69b18186a_0_38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17" name="Google Shape;517;g3c69b18186a_0_38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18" name="Google Shape;518;g3c69b18186a_0_38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9" name="Google Shape;519;g3c69b18186a_0_38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0" name="Google Shape;520;g3c69b18186a_0_383"/>
          <p:cNvSpPr txBox="1"/>
          <p:nvPr/>
        </p:nvSpPr>
        <p:spPr>
          <a:xfrm>
            <a:off x="1028700" y="4204325"/>
            <a:ext cx="59049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Projects are judged on execution quality, innovation, and industrial realism.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21" name="Google Shape;521;g3c69b18186a_0_383"/>
          <p:cNvGrpSpPr/>
          <p:nvPr/>
        </p:nvGrpSpPr>
        <p:grpSpPr>
          <a:xfrm>
            <a:off x="1028700" y="5352727"/>
            <a:ext cx="259162" cy="400015"/>
            <a:chOff x="0" y="0"/>
            <a:chExt cx="80174" cy="123748"/>
          </a:xfrm>
        </p:grpSpPr>
        <p:sp>
          <p:nvSpPr>
            <p:cNvPr id="522" name="Google Shape;522;g3c69b18186a_0_3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23" name="Google Shape;523;g3c69b18186a_0_3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g3c69b18186a_0_383"/>
          <p:cNvGrpSpPr/>
          <p:nvPr/>
        </p:nvGrpSpPr>
        <p:grpSpPr>
          <a:xfrm>
            <a:off x="1028703" y="6014379"/>
            <a:ext cx="259146" cy="400028"/>
            <a:chOff x="0" y="0"/>
            <a:chExt cx="80174" cy="123748"/>
          </a:xfrm>
        </p:grpSpPr>
        <p:sp>
          <p:nvSpPr>
            <p:cNvPr id="525" name="Google Shape;525;g3c69b18186a_0_3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26" name="Google Shape;526;g3c69b18186a_0_3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7" name="Google Shape;527;g3c69b18186a_0_383"/>
          <p:cNvSpPr txBox="1"/>
          <p:nvPr/>
        </p:nvSpPr>
        <p:spPr>
          <a:xfrm>
            <a:off x="1044800" y="38044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8" name="Google Shape;528;g3c69b18186a_0_383"/>
          <p:cNvGrpSpPr/>
          <p:nvPr/>
        </p:nvGrpSpPr>
        <p:grpSpPr>
          <a:xfrm>
            <a:off x="1028703" y="6676029"/>
            <a:ext cx="259146" cy="400028"/>
            <a:chOff x="0" y="0"/>
            <a:chExt cx="80174" cy="123748"/>
          </a:xfrm>
        </p:grpSpPr>
        <p:sp>
          <p:nvSpPr>
            <p:cNvPr id="529" name="Google Shape;529;g3c69b18186a_0_3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0" name="Google Shape;530;g3c69b18186a_0_3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g3c69b18186a_0_383"/>
          <p:cNvGrpSpPr/>
          <p:nvPr/>
        </p:nvGrpSpPr>
        <p:grpSpPr>
          <a:xfrm>
            <a:off x="1028703" y="7310679"/>
            <a:ext cx="259146" cy="400028"/>
            <a:chOff x="0" y="0"/>
            <a:chExt cx="80174" cy="123748"/>
          </a:xfrm>
        </p:grpSpPr>
        <p:sp>
          <p:nvSpPr>
            <p:cNvPr id="532" name="Google Shape;532;g3c69b18186a_0_38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3" name="Google Shape;533;g3c69b18186a_0_38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4" name="Google Shape;534;g3c69b18186a_0_383" title="Gemini_Generated_Image_4tm11a4tm11a4tm1.png"/>
          <p:cNvPicPr preferRelativeResize="0"/>
          <p:nvPr/>
        </p:nvPicPr>
        <p:blipFill rotWithShape="1">
          <a:blip r:embed="rId5">
            <a:alphaModFix/>
          </a:blip>
          <a:srcRect b="26746" l="0" r="1215" t="27703"/>
          <a:stretch/>
        </p:blipFill>
        <p:spPr>
          <a:xfrm>
            <a:off x="7022998" y="3136775"/>
            <a:ext cx="10082079" cy="464869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c69b18186a_0_4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67" t="-52927"/>
            </a:stretch>
          </a:blipFill>
          <a:ln>
            <a:noFill/>
          </a:ln>
        </p:spPr>
      </p:sp>
      <p:grpSp>
        <p:nvGrpSpPr>
          <p:cNvPr id="540" name="Google Shape;540;g3c69b18186a_0_410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541" name="Google Shape;541;g3c69b18186a_0_410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2" name="Google Shape;542;g3c69b18186a_0_410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3" name="Google Shape;543;g3c69b18186a_0_410"/>
          <p:cNvGrpSpPr/>
          <p:nvPr/>
        </p:nvGrpSpPr>
        <p:grpSpPr>
          <a:xfrm>
            <a:off x="1160375" y="4798800"/>
            <a:ext cx="11445849" cy="721031"/>
            <a:chOff x="0" y="-9525"/>
            <a:chExt cx="2404287" cy="189900"/>
          </a:xfrm>
        </p:grpSpPr>
        <p:sp>
          <p:nvSpPr>
            <p:cNvPr id="544" name="Google Shape;544;g3c69b18186a_0_410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5" name="Google Shape;545;g3c69b18186a_0_410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6" name="Google Shape;546;g3c69b18186a_0_410"/>
          <p:cNvSpPr txBox="1"/>
          <p:nvPr/>
        </p:nvSpPr>
        <p:spPr>
          <a:xfrm>
            <a:off x="1259550" y="2047825"/>
            <a:ext cx="16260600" cy="7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Review and Introduction to Retrieval-Augmented Generation (RAG)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10.2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RAG Architectures: Retrieval-Augmented Generation Systems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Real-World Applications of LLMs and RAG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Presentation Guidelines and Final Review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10.5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Student Capstone Project Presentations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10.6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Course Wrap-up and Next Steps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7" name="Google Shape;547;g3c69b18186a_0_41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8" name="Google Shape;548;g3c69b18186a_0_410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c69b18186a_0_4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554" name="Google Shape;554;g3c69b18186a_0_423"/>
          <p:cNvSpPr txBox="1"/>
          <p:nvPr/>
        </p:nvSpPr>
        <p:spPr>
          <a:xfrm>
            <a:off x="1028700" y="2025600"/>
            <a:ext cx="15572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Student Capstone Project Presentations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55" name="Google Shape;555;g3c69b18186a_0_423"/>
          <p:cNvSpPr txBox="1"/>
          <p:nvPr/>
        </p:nvSpPr>
        <p:spPr>
          <a:xfrm>
            <a:off x="1028700" y="3136775"/>
            <a:ext cx="91806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What Excellence 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Looks Like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56" name="Google Shape;556;g3c69b18186a_0_423"/>
          <p:cNvSpPr txBox="1"/>
          <p:nvPr/>
        </p:nvSpPr>
        <p:spPr>
          <a:xfrm>
            <a:off x="1463225" y="6210878"/>
            <a:ext cx="87462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Robust input handling.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Optimized retrieval.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Agentic reasoning.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Quantitative evaluation.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57" name="Google Shape;557;g3c69b18186a_0_42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58" name="Google Shape;558;g3c69b18186a_0_42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9" name="Google Shape;559;g3c69b18186a_0_42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0" name="Google Shape;560;g3c69b18186a_0_42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1" name="Google Shape;561;g3c69b18186a_0_423"/>
          <p:cNvSpPr txBox="1"/>
          <p:nvPr/>
        </p:nvSpPr>
        <p:spPr>
          <a:xfrm>
            <a:off x="1028700" y="4757700"/>
            <a:ext cx="58248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Capstone projects demonstrate full-stack AI system thinking, not isolated techniques.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62" name="Google Shape;562;g3c69b18186a_0_423"/>
          <p:cNvGrpSpPr/>
          <p:nvPr/>
        </p:nvGrpSpPr>
        <p:grpSpPr>
          <a:xfrm>
            <a:off x="1028700" y="6210901"/>
            <a:ext cx="259162" cy="400015"/>
            <a:chOff x="0" y="0"/>
            <a:chExt cx="80174" cy="123748"/>
          </a:xfrm>
        </p:grpSpPr>
        <p:sp>
          <p:nvSpPr>
            <p:cNvPr id="563" name="Google Shape;563;g3c69b18186a_0_42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64" name="Google Shape;564;g3c69b18186a_0_42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g3c69b18186a_0_423"/>
          <p:cNvGrpSpPr/>
          <p:nvPr/>
        </p:nvGrpSpPr>
        <p:grpSpPr>
          <a:xfrm>
            <a:off x="1028703" y="6872553"/>
            <a:ext cx="259146" cy="400028"/>
            <a:chOff x="0" y="0"/>
            <a:chExt cx="80174" cy="123748"/>
          </a:xfrm>
        </p:grpSpPr>
        <p:sp>
          <p:nvSpPr>
            <p:cNvPr id="566" name="Google Shape;566;g3c69b18186a_0_42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67" name="Google Shape;567;g3c69b18186a_0_42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8" name="Google Shape;568;g3c69b18186a_0_423"/>
          <p:cNvSpPr txBox="1"/>
          <p:nvPr/>
        </p:nvSpPr>
        <p:spPr>
          <a:xfrm>
            <a:off x="1044800" y="4357796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9" name="Google Shape;569;g3c69b18186a_0_423"/>
          <p:cNvGrpSpPr/>
          <p:nvPr/>
        </p:nvGrpSpPr>
        <p:grpSpPr>
          <a:xfrm>
            <a:off x="1028703" y="7534203"/>
            <a:ext cx="259146" cy="400028"/>
            <a:chOff x="0" y="0"/>
            <a:chExt cx="80174" cy="123748"/>
          </a:xfrm>
        </p:grpSpPr>
        <p:sp>
          <p:nvSpPr>
            <p:cNvPr id="570" name="Google Shape;570;g3c69b18186a_0_42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1" name="Google Shape;571;g3c69b18186a_0_42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2" name="Google Shape;572;g3c69b18186a_0_423"/>
          <p:cNvGrpSpPr/>
          <p:nvPr/>
        </p:nvGrpSpPr>
        <p:grpSpPr>
          <a:xfrm>
            <a:off x="1028703" y="8168853"/>
            <a:ext cx="259146" cy="400028"/>
            <a:chOff x="0" y="0"/>
            <a:chExt cx="80174" cy="123748"/>
          </a:xfrm>
        </p:grpSpPr>
        <p:sp>
          <p:nvSpPr>
            <p:cNvPr id="573" name="Google Shape;573;g3c69b18186a_0_42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4" name="Google Shape;574;g3c69b18186a_0_42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75" name="Google Shape;575;g3c69b18186a_0_423" title="Production-Ready Criteria - visual selection.png"/>
          <p:cNvPicPr preferRelativeResize="0"/>
          <p:nvPr/>
        </p:nvPicPr>
        <p:blipFill rotWithShape="1">
          <a:blip r:embed="rId5">
            <a:alphaModFix/>
          </a:blip>
          <a:srcRect b="11457" l="0" r="0" t="8085"/>
          <a:stretch/>
        </p:blipFill>
        <p:spPr>
          <a:xfrm>
            <a:off x="7344144" y="3429000"/>
            <a:ext cx="9826530" cy="410519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c69b18186a_0_45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581" name="Google Shape;581;g3c69b18186a_0_450"/>
          <p:cNvSpPr txBox="1"/>
          <p:nvPr/>
        </p:nvSpPr>
        <p:spPr>
          <a:xfrm>
            <a:off x="1028700" y="2025600"/>
            <a:ext cx="15572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Student Capstone Project Presentations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82" name="Google Shape;582;g3c69b18186a_0_450"/>
          <p:cNvSpPr txBox="1"/>
          <p:nvPr/>
        </p:nvSpPr>
        <p:spPr>
          <a:xfrm>
            <a:off x="1028700" y="3136775"/>
            <a:ext cx="91806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Production-Ready 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Criteria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83" name="Google Shape;583;g3c69b18186a_0_450"/>
          <p:cNvSpPr txBox="1"/>
          <p:nvPr/>
        </p:nvSpPr>
        <p:spPr>
          <a:xfrm>
            <a:off x="1463225" y="6210878"/>
            <a:ext cx="87462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Citation-based answers.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Graceful uncertainty handling.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Modular architecture.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Easy model upgrades.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84" name="Google Shape;584;g3c69b18186a_0_45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85" name="Google Shape;585;g3c69b18186a_0_45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86" name="Google Shape;586;g3c69b18186a_0_45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7" name="Google Shape;587;g3c69b18186a_0_45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8" name="Google Shape;588;g3c69b18186a_0_450"/>
          <p:cNvSpPr txBox="1"/>
          <p:nvPr/>
        </p:nvSpPr>
        <p:spPr>
          <a:xfrm>
            <a:off x="1028700" y="4757700"/>
            <a:ext cx="58248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Top projects balance factuality, usability, and maintainability.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89" name="Google Shape;589;g3c69b18186a_0_450"/>
          <p:cNvGrpSpPr/>
          <p:nvPr/>
        </p:nvGrpSpPr>
        <p:grpSpPr>
          <a:xfrm>
            <a:off x="1028700" y="6210901"/>
            <a:ext cx="259162" cy="400015"/>
            <a:chOff x="0" y="0"/>
            <a:chExt cx="80174" cy="123748"/>
          </a:xfrm>
        </p:grpSpPr>
        <p:sp>
          <p:nvSpPr>
            <p:cNvPr id="590" name="Google Shape;590;g3c69b18186a_0_4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1" name="Google Shape;591;g3c69b18186a_0_4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2" name="Google Shape;592;g3c69b18186a_0_450"/>
          <p:cNvGrpSpPr/>
          <p:nvPr/>
        </p:nvGrpSpPr>
        <p:grpSpPr>
          <a:xfrm>
            <a:off x="1028703" y="6872553"/>
            <a:ext cx="259146" cy="400028"/>
            <a:chOff x="0" y="0"/>
            <a:chExt cx="80174" cy="123748"/>
          </a:xfrm>
        </p:grpSpPr>
        <p:sp>
          <p:nvSpPr>
            <p:cNvPr id="593" name="Google Shape;593;g3c69b18186a_0_4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4" name="Google Shape;594;g3c69b18186a_0_4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5" name="Google Shape;595;g3c69b18186a_0_450"/>
          <p:cNvSpPr txBox="1"/>
          <p:nvPr/>
        </p:nvSpPr>
        <p:spPr>
          <a:xfrm>
            <a:off x="1044800" y="4357796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6" name="Google Shape;596;g3c69b18186a_0_450"/>
          <p:cNvGrpSpPr/>
          <p:nvPr/>
        </p:nvGrpSpPr>
        <p:grpSpPr>
          <a:xfrm>
            <a:off x="1028703" y="7534203"/>
            <a:ext cx="259146" cy="400028"/>
            <a:chOff x="0" y="0"/>
            <a:chExt cx="80174" cy="123748"/>
          </a:xfrm>
        </p:grpSpPr>
        <p:sp>
          <p:nvSpPr>
            <p:cNvPr id="597" name="Google Shape;597;g3c69b18186a_0_4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8" name="Google Shape;598;g3c69b18186a_0_4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" name="Google Shape;599;g3c69b18186a_0_450"/>
          <p:cNvGrpSpPr/>
          <p:nvPr/>
        </p:nvGrpSpPr>
        <p:grpSpPr>
          <a:xfrm>
            <a:off x="1028703" y="8168853"/>
            <a:ext cx="259146" cy="400028"/>
            <a:chOff x="0" y="0"/>
            <a:chExt cx="80174" cy="123748"/>
          </a:xfrm>
        </p:grpSpPr>
        <p:sp>
          <p:nvSpPr>
            <p:cNvPr id="600" name="Google Shape;600;g3c69b18186a_0_4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01" name="Google Shape;601;g3c69b18186a_0_4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2" name="Google Shape;602;g3c69b18186a_0_450" title="Top projects balance factuality, usability, and maintainability. - visual selection.png"/>
          <p:cNvPicPr preferRelativeResize="0"/>
          <p:nvPr/>
        </p:nvPicPr>
        <p:blipFill rotWithShape="1">
          <a:blip r:embed="rId5">
            <a:alphaModFix/>
          </a:blip>
          <a:srcRect b="11115" l="0" r="0" t="6423"/>
          <a:stretch/>
        </p:blipFill>
        <p:spPr>
          <a:xfrm>
            <a:off x="9323647" y="3136775"/>
            <a:ext cx="7935653" cy="44860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c69b18186a_0_47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67" t="-52927"/>
            </a:stretch>
          </a:blipFill>
          <a:ln>
            <a:noFill/>
          </a:ln>
        </p:spPr>
      </p:sp>
      <p:grpSp>
        <p:nvGrpSpPr>
          <p:cNvPr id="608" name="Google Shape;608;g3c69b18186a_0_477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609" name="Google Shape;609;g3c69b18186a_0_477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10" name="Google Shape;610;g3c69b18186a_0_477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1" name="Google Shape;611;g3c69b18186a_0_477"/>
          <p:cNvGrpSpPr/>
          <p:nvPr/>
        </p:nvGrpSpPr>
        <p:grpSpPr>
          <a:xfrm>
            <a:off x="1160375" y="5484600"/>
            <a:ext cx="9907826" cy="721031"/>
            <a:chOff x="0" y="-9525"/>
            <a:chExt cx="2404287" cy="189900"/>
          </a:xfrm>
        </p:grpSpPr>
        <p:sp>
          <p:nvSpPr>
            <p:cNvPr id="612" name="Google Shape;612;g3c69b18186a_0_477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13" name="Google Shape;613;g3c69b18186a_0_477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4" name="Google Shape;614;g3c69b18186a_0_477"/>
          <p:cNvSpPr txBox="1"/>
          <p:nvPr/>
        </p:nvSpPr>
        <p:spPr>
          <a:xfrm>
            <a:off x="1259550" y="2047825"/>
            <a:ext cx="16260600" cy="7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Review and Introduction to Retrieval-Augmented Generation (RAG)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10.2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RAG Architectures: Retrieval-Augmented Generation Systems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Real-World Applications of LLMs and RAG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Presentation Guidelines and Final Review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10.5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Student Capstone Project Presentations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10.6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Course Wrap-up and Next Steps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15" name="Google Shape;615;g3c69b18186a_0_47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6" name="Google Shape;616;g3c69b18186a_0_477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c69b18186a_0_49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622" name="Google Shape;622;g3c69b18186a_0_490"/>
          <p:cNvSpPr txBox="1"/>
          <p:nvPr/>
        </p:nvSpPr>
        <p:spPr>
          <a:xfrm>
            <a:off x="1028700" y="2025600"/>
            <a:ext cx="15572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10.6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Course Wrap-up and Next Steps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23" name="Google Shape;623;g3c69b18186a_0_490"/>
          <p:cNvSpPr txBox="1"/>
          <p:nvPr/>
        </p:nvSpPr>
        <p:spPr>
          <a:xfrm>
            <a:off x="1028700" y="3136775"/>
            <a:ext cx="9180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What You Have Mastered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24" name="Google Shape;624;g3c69b18186a_0_490"/>
          <p:cNvSpPr txBox="1"/>
          <p:nvPr/>
        </p:nvSpPr>
        <p:spPr>
          <a:xfrm>
            <a:off x="1463225" y="5657503"/>
            <a:ext cx="87462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Tokenization &amp; embeddings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Transformers &amp; scaling laws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Prompt engineering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PEFT &amp; LoRA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architectures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25" name="Google Shape;625;g3c69b18186a_0_49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26" name="Google Shape;626;g3c69b18186a_0_49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27" name="Google Shape;627;g3c69b18186a_0_49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8" name="Google Shape;628;g3c69b18186a_0_49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9" name="Google Shape;629;g3c69b18186a_0_490"/>
          <p:cNvSpPr txBox="1"/>
          <p:nvPr/>
        </p:nvSpPr>
        <p:spPr>
          <a:xfrm>
            <a:off x="1028700" y="4204325"/>
            <a:ext cx="58248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This course covered the complete modern NLP and LLM stack, from tokens to enterprise-grade systems.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30" name="Google Shape;630;g3c69b18186a_0_490"/>
          <p:cNvGrpSpPr/>
          <p:nvPr/>
        </p:nvGrpSpPr>
        <p:grpSpPr>
          <a:xfrm>
            <a:off x="1028700" y="5657527"/>
            <a:ext cx="259162" cy="400015"/>
            <a:chOff x="0" y="0"/>
            <a:chExt cx="80174" cy="123748"/>
          </a:xfrm>
        </p:grpSpPr>
        <p:sp>
          <p:nvSpPr>
            <p:cNvPr id="631" name="Google Shape;631;g3c69b18186a_0_49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2" name="Google Shape;632;g3c69b18186a_0_49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3" name="Google Shape;633;g3c69b18186a_0_490"/>
          <p:cNvGrpSpPr/>
          <p:nvPr/>
        </p:nvGrpSpPr>
        <p:grpSpPr>
          <a:xfrm>
            <a:off x="1028703" y="6319179"/>
            <a:ext cx="259146" cy="400028"/>
            <a:chOff x="0" y="0"/>
            <a:chExt cx="80174" cy="123748"/>
          </a:xfrm>
        </p:grpSpPr>
        <p:sp>
          <p:nvSpPr>
            <p:cNvPr id="634" name="Google Shape;634;g3c69b18186a_0_49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5" name="Google Shape;635;g3c69b18186a_0_49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6" name="Google Shape;636;g3c69b18186a_0_490"/>
          <p:cNvSpPr txBox="1"/>
          <p:nvPr/>
        </p:nvSpPr>
        <p:spPr>
          <a:xfrm>
            <a:off x="1044800" y="38044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7" name="Google Shape;637;g3c69b18186a_0_490"/>
          <p:cNvGrpSpPr/>
          <p:nvPr/>
        </p:nvGrpSpPr>
        <p:grpSpPr>
          <a:xfrm>
            <a:off x="1028703" y="6980829"/>
            <a:ext cx="259146" cy="400028"/>
            <a:chOff x="0" y="0"/>
            <a:chExt cx="80174" cy="123748"/>
          </a:xfrm>
        </p:grpSpPr>
        <p:sp>
          <p:nvSpPr>
            <p:cNvPr id="638" name="Google Shape;638;g3c69b18186a_0_49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9" name="Google Shape;639;g3c69b18186a_0_49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0" name="Google Shape;640;g3c69b18186a_0_490"/>
          <p:cNvGrpSpPr/>
          <p:nvPr/>
        </p:nvGrpSpPr>
        <p:grpSpPr>
          <a:xfrm>
            <a:off x="1028703" y="7615479"/>
            <a:ext cx="259146" cy="400028"/>
            <a:chOff x="0" y="0"/>
            <a:chExt cx="80174" cy="123748"/>
          </a:xfrm>
        </p:grpSpPr>
        <p:sp>
          <p:nvSpPr>
            <p:cNvPr id="641" name="Google Shape;641;g3c69b18186a_0_49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2" name="Google Shape;642;g3c69b18186a_0_49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43" name="Google Shape;643;g3c69b18186a_0_490" title="ChatGPT Image 5 feb 2026, 15_44_13.png"/>
          <p:cNvPicPr preferRelativeResize="0"/>
          <p:nvPr/>
        </p:nvPicPr>
        <p:blipFill rotWithShape="1">
          <a:blip r:embed="rId5">
            <a:alphaModFix/>
          </a:blip>
          <a:srcRect b="10863" l="0" r="0" t="3862"/>
          <a:stretch/>
        </p:blipFill>
        <p:spPr>
          <a:xfrm>
            <a:off x="9768460" y="3136775"/>
            <a:ext cx="7490838" cy="425832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644" name="Google Shape;644;g3c69b18186a_0_490"/>
          <p:cNvGrpSpPr/>
          <p:nvPr/>
        </p:nvGrpSpPr>
        <p:grpSpPr>
          <a:xfrm>
            <a:off x="1028703" y="8250129"/>
            <a:ext cx="259146" cy="400028"/>
            <a:chOff x="0" y="0"/>
            <a:chExt cx="80174" cy="123748"/>
          </a:xfrm>
        </p:grpSpPr>
        <p:sp>
          <p:nvSpPr>
            <p:cNvPr id="645" name="Google Shape;645;g3c69b18186a_0_49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6" name="Google Shape;646;g3c69b18186a_0_49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c69b18186a_0_5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79" t="-52927"/>
            </a:stretch>
          </a:blipFill>
          <a:ln>
            <a:noFill/>
          </a:ln>
        </p:spPr>
      </p:sp>
      <p:sp>
        <p:nvSpPr>
          <p:cNvPr id="652" name="Google Shape;652;g3c69b18186a_0_520"/>
          <p:cNvSpPr txBox="1"/>
          <p:nvPr/>
        </p:nvSpPr>
        <p:spPr>
          <a:xfrm>
            <a:off x="1028700" y="2025600"/>
            <a:ext cx="15572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10.6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Course Wrap-up and Next Steps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53" name="Google Shape;653;g3c69b18186a_0_520"/>
          <p:cNvSpPr txBox="1"/>
          <p:nvPr/>
        </p:nvSpPr>
        <p:spPr>
          <a:xfrm>
            <a:off x="1028700" y="3136775"/>
            <a:ext cx="9180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Road Ahead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54" name="Google Shape;654;g3c69b18186a_0_520"/>
          <p:cNvSpPr txBox="1"/>
          <p:nvPr/>
        </p:nvSpPr>
        <p:spPr>
          <a:xfrm>
            <a:off x="1463225" y="5657503"/>
            <a:ext cx="8746200" cy="3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Agentic workflows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Multimodal reasoning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Autonomous task execution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Continuous learning mindset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55" name="Google Shape;655;g3c69b18186a_0_52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56" name="Google Shape;656;g3c69b18186a_0_52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57" name="Google Shape;657;g3c69b18186a_0_52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8" name="Google Shape;658;g3c69b18186a_0_52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9" name="Google Shape;659;g3c69b18186a_0_520"/>
          <p:cNvSpPr txBox="1"/>
          <p:nvPr/>
        </p:nvSpPr>
        <p:spPr>
          <a:xfrm>
            <a:off x="1028700" y="4204325"/>
            <a:ext cx="58248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 future of AI lies in grounded, autonomous, and agentic systems that act, not just respond.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60" name="Google Shape;660;g3c69b18186a_0_520"/>
          <p:cNvGrpSpPr/>
          <p:nvPr/>
        </p:nvGrpSpPr>
        <p:grpSpPr>
          <a:xfrm>
            <a:off x="1028700" y="5657527"/>
            <a:ext cx="259162" cy="400015"/>
            <a:chOff x="0" y="0"/>
            <a:chExt cx="80174" cy="123748"/>
          </a:xfrm>
        </p:grpSpPr>
        <p:sp>
          <p:nvSpPr>
            <p:cNvPr id="661" name="Google Shape;661;g3c69b18186a_0_5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62" name="Google Shape;662;g3c69b18186a_0_52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3" name="Google Shape;663;g3c69b18186a_0_520"/>
          <p:cNvGrpSpPr/>
          <p:nvPr/>
        </p:nvGrpSpPr>
        <p:grpSpPr>
          <a:xfrm>
            <a:off x="1028703" y="6319179"/>
            <a:ext cx="259146" cy="400028"/>
            <a:chOff x="0" y="0"/>
            <a:chExt cx="80174" cy="123748"/>
          </a:xfrm>
        </p:grpSpPr>
        <p:sp>
          <p:nvSpPr>
            <p:cNvPr id="664" name="Google Shape;664;g3c69b18186a_0_5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65" name="Google Shape;665;g3c69b18186a_0_52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6" name="Google Shape;666;g3c69b18186a_0_520"/>
          <p:cNvSpPr txBox="1"/>
          <p:nvPr/>
        </p:nvSpPr>
        <p:spPr>
          <a:xfrm>
            <a:off x="1044800" y="3804421"/>
            <a:ext cx="226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1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7" name="Google Shape;667;g3c69b18186a_0_520"/>
          <p:cNvGrpSpPr/>
          <p:nvPr/>
        </p:nvGrpSpPr>
        <p:grpSpPr>
          <a:xfrm>
            <a:off x="1028703" y="6980829"/>
            <a:ext cx="259146" cy="400028"/>
            <a:chOff x="0" y="0"/>
            <a:chExt cx="80174" cy="123748"/>
          </a:xfrm>
        </p:grpSpPr>
        <p:sp>
          <p:nvSpPr>
            <p:cNvPr id="668" name="Google Shape;668;g3c69b18186a_0_5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69" name="Google Shape;669;g3c69b18186a_0_52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0" name="Google Shape;670;g3c69b18186a_0_520"/>
          <p:cNvGrpSpPr/>
          <p:nvPr/>
        </p:nvGrpSpPr>
        <p:grpSpPr>
          <a:xfrm>
            <a:off x="1028703" y="7615479"/>
            <a:ext cx="259146" cy="400028"/>
            <a:chOff x="0" y="0"/>
            <a:chExt cx="80174" cy="123748"/>
          </a:xfrm>
        </p:grpSpPr>
        <p:sp>
          <p:nvSpPr>
            <p:cNvPr id="671" name="Google Shape;671;g3c69b18186a_0_5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72" name="Google Shape;672;g3c69b18186a_0_52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73" name="Google Shape;673;g3c69b18186a_0_520" title="ChatGPT Image 5 feb 2026, 15_41_05.png"/>
          <p:cNvPicPr preferRelativeResize="0"/>
          <p:nvPr/>
        </p:nvPicPr>
        <p:blipFill rotWithShape="1">
          <a:blip r:embed="rId5">
            <a:alphaModFix/>
          </a:blip>
          <a:srcRect b="8609" l="0" r="0" t="0"/>
          <a:stretch/>
        </p:blipFill>
        <p:spPr>
          <a:xfrm>
            <a:off x="9999706" y="3192450"/>
            <a:ext cx="7259593" cy="442302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c69b18186a_0_55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8" l="0" r="-56467" t="-52927"/>
            </a:stretch>
          </a:blipFill>
          <a:ln>
            <a:noFill/>
          </a:ln>
        </p:spPr>
      </p:sp>
      <p:grpSp>
        <p:nvGrpSpPr>
          <p:cNvPr id="679" name="Google Shape;679;g3c69b18186a_0_55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680" name="Google Shape;680;g3c69b18186a_0_55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81" name="Google Shape;681;g3c69b18186a_0_55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2" name="Google Shape;682;g3c69b18186a_0_55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3" name="Google Shape;683;g3c69b18186a_0_550"/>
          <p:cNvSpPr txBox="1"/>
          <p:nvPr/>
        </p:nvSpPr>
        <p:spPr>
          <a:xfrm>
            <a:off x="1463225" y="3149275"/>
            <a:ext cx="15717000" cy="50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Lewis et al. (2020) — Retrieval-Augmented Generation for Knowledge-Intensive NLP Tasks.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Guu et al. (2020) — REALM: Retrieval-Augmented Language Model Pre-training.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Borgeaud et al. (2022) — Improving Language Models by Retrieving from Trillions of Tokens (RETRO).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Mialon et al. (2023) — Augmented Language Models: A Survey.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Es et al. (2023) — RAGAS: Automated Evaluation of Retrieval-Augmented Generation.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Barnett et al. (2024) — Seven Failure Points When Engineering a RAG System.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Zobel &amp; Moffat (2006) — Exploring the Boundaries of Low-Cost Retrieval Evaluation.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Bender et al. (2021) — On the Dangers of Stochastic Parrots.</a:t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84" name="Google Shape;684;g3c69b18186a_0_550"/>
          <p:cNvGrpSpPr/>
          <p:nvPr/>
        </p:nvGrpSpPr>
        <p:grpSpPr>
          <a:xfrm>
            <a:off x="1028700" y="3073059"/>
            <a:ext cx="259162" cy="400015"/>
            <a:chOff x="0" y="0"/>
            <a:chExt cx="80174" cy="123748"/>
          </a:xfrm>
        </p:grpSpPr>
        <p:sp>
          <p:nvSpPr>
            <p:cNvPr id="685" name="Google Shape;685;g3c69b18186a_0_5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86" name="Google Shape;686;g3c69b18186a_0_5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7" name="Google Shape;687;g3c69b18186a_0_550"/>
          <p:cNvGrpSpPr/>
          <p:nvPr/>
        </p:nvGrpSpPr>
        <p:grpSpPr>
          <a:xfrm>
            <a:off x="1028700" y="3701669"/>
            <a:ext cx="259162" cy="400015"/>
            <a:chOff x="0" y="0"/>
            <a:chExt cx="80174" cy="123748"/>
          </a:xfrm>
        </p:grpSpPr>
        <p:sp>
          <p:nvSpPr>
            <p:cNvPr id="688" name="Google Shape;688;g3c69b18186a_0_5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89" name="Google Shape;689;g3c69b18186a_0_5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g3c69b18186a_0_550"/>
          <p:cNvGrpSpPr/>
          <p:nvPr/>
        </p:nvGrpSpPr>
        <p:grpSpPr>
          <a:xfrm>
            <a:off x="1028700" y="4350347"/>
            <a:ext cx="259162" cy="400015"/>
            <a:chOff x="0" y="0"/>
            <a:chExt cx="80174" cy="123748"/>
          </a:xfrm>
        </p:grpSpPr>
        <p:sp>
          <p:nvSpPr>
            <p:cNvPr id="691" name="Google Shape;691;g3c69b18186a_0_5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92" name="Google Shape;692;g3c69b18186a_0_5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3" name="Google Shape;693;g3c69b18186a_0_550"/>
          <p:cNvGrpSpPr/>
          <p:nvPr/>
        </p:nvGrpSpPr>
        <p:grpSpPr>
          <a:xfrm>
            <a:off x="1028700" y="5585629"/>
            <a:ext cx="259162" cy="400015"/>
            <a:chOff x="0" y="0"/>
            <a:chExt cx="80174" cy="123748"/>
          </a:xfrm>
        </p:grpSpPr>
        <p:sp>
          <p:nvSpPr>
            <p:cNvPr id="694" name="Google Shape;694;g3c69b18186a_0_5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95" name="Google Shape;695;g3c69b18186a_0_5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6" name="Google Shape;696;g3c69b18186a_0_550"/>
          <p:cNvGrpSpPr/>
          <p:nvPr/>
        </p:nvGrpSpPr>
        <p:grpSpPr>
          <a:xfrm>
            <a:off x="1028700" y="6214244"/>
            <a:ext cx="259162" cy="400015"/>
            <a:chOff x="0" y="0"/>
            <a:chExt cx="80174" cy="123748"/>
          </a:xfrm>
        </p:grpSpPr>
        <p:sp>
          <p:nvSpPr>
            <p:cNvPr id="697" name="Google Shape;697;g3c69b18186a_0_5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98" name="Google Shape;698;g3c69b18186a_0_5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9" name="Google Shape;699;g3c69b18186a_0_550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References &amp; Further Reading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700" name="Google Shape;700;g3c69b18186a_0_550"/>
          <p:cNvGrpSpPr/>
          <p:nvPr/>
        </p:nvGrpSpPr>
        <p:grpSpPr>
          <a:xfrm>
            <a:off x="1028700" y="6842844"/>
            <a:ext cx="259162" cy="400015"/>
            <a:chOff x="0" y="0"/>
            <a:chExt cx="80174" cy="123748"/>
          </a:xfrm>
        </p:grpSpPr>
        <p:sp>
          <p:nvSpPr>
            <p:cNvPr id="701" name="Google Shape;701;g3c69b18186a_0_5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02" name="Google Shape;702;g3c69b18186a_0_5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3" name="Google Shape;703;g3c69b18186a_0_550"/>
          <p:cNvGrpSpPr/>
          <p:nvPr/>
        </p:nvGrpSpPr>
        <p:grpSpPr>
          <a:xfrm>
            <a:off x="1028700" y="7471444"/>
            <a:ext cx="259162" cy="400015"/>
            <a:chOff x="0" y="0"/>
            <a:chExt cx="80174" cy="123748"/>
          </a:xfrm>
        </p:grpSpPr>
        <p:sp>
          <p:nvSpPr>
            <p:cNvPr id="704" name="Google Shape;704;g3c69b18186a_0_5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05" name="Google Shape;705;g3c69b18186a_0_5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6" name="Google Shape;706;g3c69b18186a_0_550"/>
          <p:cNvGrpSpPr/>
          <p:nvPr/>
        </p:nvGrpSpPr>
        <p:grpSpPr>
          <a:xfrm>
            <a:off x="1028700" y="4999019"/>
            <a:ext cx="259162" cy="400015"/>
            <a:chOff x="0" y="0"/>
            <a:chExt cx="80174" cy="123748"/>
          </a:xfrm>
        </p:grpSpPr>
        <p:sp>
          <p:nvSpPr>
            <p:cNvPr id="707" name="Google Shape;707;g3c69b18186a_0_55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708" name="Google Shape;708;g3c69b18186a_0_55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0" l="0" r="-56467" t="-52930"/>
            </a:stretch>
          </a:blipFill>
          <a:ln>
            <a:noFill/>
          </a:ln>
        </p:spPr>
      </p:sp>
      <p:sp>
        <p:nvSpPr>
          <p:cNvPr id="714" name="Google Shape;714;p30"/>
          <p:cNvSpPr/>
          <p:nvPr/>
        </p:nvSpPr>
        <p:spPr>
          <a:xfrm>
            <a:off x="5915603" y="4111509"/>
            <a:ext cx="6456794" cy="2063982"/>
          </a:xfrm>
          <a:custGeom>
            <a:rect b="b" l="l" r="r" t="t"/>
            <a:pathLst>
              <a:path extrusionOk="0" h="2063982" w="6456794">
                <a:moveTo>
                  <a:pt x="0" y="0"/>
                </a:moveTo>
                <a:lnTo>
                  <a:pt x="6456794" y="0"/>
                </a:lnTo>
                <a:lnTo>
                  <a:pt x="6456794" y="2063982"/>
                </a:lnTo>
                <a:lnTo>
                  <a:pt x="0" y="206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