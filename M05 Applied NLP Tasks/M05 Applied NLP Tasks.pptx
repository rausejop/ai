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</p:sldIdLst>
  <p:sldSz cy="6858000" cx="12192000"/>
  <p:notesSz cx="6797675" cy="9925050"/>
  <p:embeddedFontLst>
    <p:embeddedFont>
      <p:font typeface="Montserrat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6.xml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Montserrat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7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7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7076"/>
            <a:ext cx="2945659" cy="497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40bed5d5c_0_12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c40bed5d5c_0_12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c40bed5d5c_0_129:notes"/>
          <p:cNvSpPr txBox="1"/>
          <p:nvPr>
            <p:ph idx="12" type="sldNum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42e732687_8_2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c42e732687_8_2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42e732687_8_13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c42e732687_8_13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42e732687_8_25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c42e732687_8_25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42e732687_8_3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42e732687_8_3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42e732687_8_4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c42e732687_8_4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42e732687_8_58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42e732687_8_58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42e732687_8_6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42e732687_8_6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42e732687_8_8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c42e732687_8_8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42e732687_8_89:notes"/>
          <p:cNvSpPr txBox="1"/>
          <p:nvPr>
            <p:ph idx="12" type="sldNum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42e732687_8_7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42e732687_8_7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42e732687_8_104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c42e732687_8_104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42e732687_8_115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c42e732687_8_115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42e732687_8_12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c42e732687_8_12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42e732687_8_13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c42e732687_8_13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42e732687_8_147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42e732687_8_147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42e732687_8_157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c42e732687_8_157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42e732687_8_16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c42e732687_8_16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42e732687_8_17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c42e732687_8_17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42e732687_8_200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c42e732687_8_200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42e732687_8_200:notes"/>
          <p:cNvSpPr txBox="1"/>
          <p:nvPr>
            <p:ph idx="12" type="sldNum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42e732687_8_190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42e732687_8_190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42e732687_8_212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c42e732687_8_212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42e732687_8_224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c42e732687_8_224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42e732687_8_235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c42e732687_8_235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42e732687_8_245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c42e732687_8_245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42e732687_8_25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c42e732687_8_25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42e732687_8_265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c42e732687_8_265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42e732687_8_27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c42e732687_8_27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42e732687_8_30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c42e732687_8_30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42e732687_8_297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c42e732687_8_297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c42e732687_8_297:notes"/>
          <p:cNvSpPr txBox="1"/>
          <p:nvPr>
            <p:ph idx="12" type="sldNum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42e732687_8_287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c42e732687_8_287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42e732687_8_320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c42e732687_8_320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42e732687_8_332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c42e732687_8_332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42e732687_8_353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c42e732687_8_353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42e732687_8_343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c42e732687_8_343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c42e732687_8_364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c42e732687_8_364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c42e732687_8_375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c42e732687_8_375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42e732687_8_38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c42e732687_8_38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42e732687_8_39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c42e732687_8_39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c42e732687_8_396:notes"/>
          <p:cNvSpPr txBox="1"/>
          <p:nvPr>
            <p:ph idx="12" type="sldNum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42e732687_8_408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c42e732687_8_408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42e732687_8_418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c42e732687_8_418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42e732687_8_42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c42e732687_8_42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42e732687_8_43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c42e732687_8_43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c42e732687_0_0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c42e732687_0_0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42e732687_0_11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c42e732687_0_11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42e732687_0_22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c42e732687_0_22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c42e732687_0_35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c42e732687_0_35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42e732687_0_4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c42e732687_0_4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42e732687_0_63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c42e732687_0_63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c42e732687_0_63:notes"/>
          <p:cNvSpPr txBox="1"/>
          <p:nvPr>
            <p:ph idx="12" type="sldNum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c42e732687_0_86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c42e732687_0_86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42e732687_0_99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c42e732687_0_99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c42e732687_0_111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c42e732687_0_111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42e732687_0_121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c42e732687_0_121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c42e732687_0_133:notes"/>
          <p:cNvSpPr txBox="1"/>
          <p:nvPr>
            <p:ph idx="1" type="body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c42e732687_0_133:notes"/>
          <p:cNvSpPr/>
          <p:nvPr>
            <p:ph idx="2" type="sldImg"/>
          </p:nvPr>
        </p:nvSpPr>
        <p:spPr>
          <a:xfrm>
            <a:off x="420688" y="1239838"/>
            <a:ext cx="5956200" cy="335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9861204" y="63956"/>
            <a:ext cx="2244444" cy="8333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2"/>
          <p:cNvSpPr txBox="1"/>
          <p:nvPr/>
        </p:nvSpPr>
        <p:spPr>
          <a:xfrm>
            <a:off x="9584871" y="6356350"/>
            <a:ext cx="19832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1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descr="Confianza23"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61463" y="114387"/>
            <a:ext cx="2244444" cy="717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1.png"/></Relationships>
</file>

<file path=ppt/slides/_rels/slide55.xml.rels><?xml version="1.0" encoding="UTF-8" standalone="yes"?><Relationships xmlns="http://schemas.openxmlformats.org/package/2006/relationships"><Relationship Id="rId11" Type="http://schemas.openxmlformats.org/officeDocument/2006/relationships/hyperlink" Target="https://arxiv.org/abs/1910.13461" TargetMode="External"/><Relationship Id="rId10" Type="http://schemas.openxmlformats.org/officeDocument/2006/relationships/hyperlink" Target="https://aclanthology.org/P97-1002.pdf" TargetMode="External"/><Relationship Id="rId13" Type="http://schemas.openxmlformats.org/officeDocument/2006/relationships/hyperlink" Target="https://arxiv.org/abs/2005.11401" TargetMode="External"/><Relationship Id="rId12" Type="http://schemas.openxmlformats.org/officeDocument/2006/relationships/hyperlink" Target="https://arxiv.org/abs/1910.10683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arxiv.org/abs/1804.07461" TargetMode="External"/><Relationship Id="rId4" Type="http://schemas.openxmlformats.org/officeDocument/2006/relationships/hyperlink" Target="https://arxiv.org/abs/1905.00537" TargetMode="External"/><Relationship Id="rId9" Type="http://schemas.openxmlformats.org/officeDocument/2006/relationships/hyperlink" Target="https://aclanthology.org/S14-2004.pdf" TargetMode="External"/><Relationship Id="rId15" Type="http://schemas.openxmlformats.org/officeDocument/2006/relationships/hyperlink" Target="https://arxiv.org/abs/2108.07258" TargetMode="External"/><Relationship Id="rId14" Type="http://schemas.openxmlformats.org/officeDocument/2006/relationships/hyperlink" Target="https://dl.acm.org/doi/pdf/10.1145/3442188.3445922" TargetMode="External"/><Relationship Id="rId5" Type="http://schemas.openxmlformats.org/officeDocument/2006/relationships/hyperlink" Target="https://arxiv.org/abs/1606.05250" TargetMode="External"/><Relationship Id="rId6" Type="http://schemas.openxmlformats.org/officeDocument/2006/relationships/hyperlink" Target="https://link.springer.com/article/10.1007/BF00994018" TargetMode="External"/><Relationship Id="rId7" Type="http://schemas.openxmlformats.org/officeDocument/2006/relationships/hyperlink" Target="https://arxiv.org/abs/1909.00161" TargetMode="External"/><Relationship Id="rId8" Type="http://schemas.openxmlformats.org/officeDocument/2006/relationships/hyperlink" Target="https://www.cs.cornell.edu/home/llee/omsa/oms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/>
        </p:nvSpPr>
        <p:spPr>
          <a:xfrm>
            <a:off x="1897440" y="2792454"/>
            <a:ext cx="80001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M01: Text Preprocessing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M02: Word and Sentence Embeddings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M03: Transformer Architectures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M04: Entity-Centric NLP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M06: Multimodal NLP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M07: LLM Fundamentals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M08: Prompt Engineering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M09: Fine-Tuning &amp; PEFT</a:t>
            </a:r>
            <a:endParaRPr/>
          </a:p>
          <a:p>
            <a:pPr indent="-457200" lvl="0" marL="2150745" marR="0" rtl="0" algn="just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M10: RAG &amp; Real-World Projects</a:t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2288904" y="1100520"/>
            <a:ext cx="76137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ndera de España - Wikipedia, la enciclopedia libre"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>
            <a:off x="215570" y="235900"/>
            <a:ext cx="2401717" cy="494938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654041" y="252536"/>
            <a:ext cx="15247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32" name="Google Shape;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de Jordania - Wikipedia, la enciclopedia libre" id="33" name="Google Shape;3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4037975" y="3887650"/>
            <a:ext cx="5064900" cy="334800"/>
          </a:xfrm>
          <a:prstGeom prst="rect">
            <a:avLst/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/>
        </p:nvSpPr>
        <p:spPr>
          <a:xfrm>
            <a:off x="1897440" y="2792454"/>
            <a:ext cx="8000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5.1 Introduction to Applied NLP Tasks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5.2 Core Task: Text Classification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5.3 Understanding User Intent: Sentiment Analysis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5.4 Reducing Information Overload: Text Summarization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5.5 Information Retrieval: Question Answering Systems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Task Comparison and the Future of Applied NLP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2289154" y="1441945"/>
            <a:ext cx="7613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ndera de España - Wikipedia, la enciclopedia libre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de Jordania - Wikipedia, la enciclopedia libre" id="46" name="Google Shape;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1897450" y="2792450"/>
            <a:ext cx="7613700" cy="334800"/>
          </a:xfrm>
          <a:prstGeom prst="rect">
            <a:avLst/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443706" y="565943"/>
            <a:ext cx="160337" cy="411163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5.1 Introduction to Applied NLP Tasks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604044" y="2512000"/>
            <a:ext cx="5327400" cy="314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NLP moves from mathematical modeling to real-world problem solving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Applied NLP focuses on business, industrial, and societal value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Models are evaluated by usefulness, not only benchmark scores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module connects Transformers to production systems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Theory to Applied NLP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5" title="ChatGPT Image 5 feb 2026, 08_49_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3500" y="2348000"/>
            <a:ext cx="4851149" cy="323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5.1 Introduction to Applied NLP Tasks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604043" y="525302"/>
            <a:ext cx="624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604044" y="2512000"/>
            <a:ext cx="5327400" cy="1477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Applied NLP tasks fall into two paradigms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Tasks are defined by what the model produces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Choice impacts architecture, evaluation, and cost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Applied NLP Task Families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" name="Google Shape;69;p6" title="ChatGPT Image 5 feb 2026, 08_55_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324" y="2145000"/>
            <a:ext cx="5394851" cy="35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5.1 Introduction to Applied NLP Tasks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604043" y="525302"/>
            <a:ext cx="624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604044" y="2512000"/>
            <a:ext cx="5327400" cy="2586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Output: predefined labels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Goal: decision, filtering, categorization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Typical architectures: Encoder-only (BERT-style)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Metrics: Accuracy, Precision, Recall, F1-score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Examples: classification, sentiment, NER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Discriminative Tasks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" name="Google Shape;80;p7" title="ChatGPT Image 5 feb 2026, 08_56_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850" y="2145000"/>
            <a:ext cx="5525349" cy="368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5.1 Introduction to Applied NLP Tasks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604043" y="525302"/>
            <a:ext cx="624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604044" y="2512000"/>
            <a:ext cx="5327400" cy="2862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Output: newly generated 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Goal: synthesis, explanation, abstraction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Typical architectures: Decoder or Encoder–Decoder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Evaluation is probabilistic and semantic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Examples: summarization, QA, text generation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Generative Tasks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" name="Google Shape;91;p8" title="ChatGPT Image 5 feb 2026, 08_57_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000" y="2211250"/>
            <a:ext cx="5025151" cy="33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5.1 Introduction to Applied NLP Tasks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604043" y="525302"/>
            <a:ext cx="624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604044" y="2512000"/>
            <a:ext cx="53274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Benchmarks standardize model comparison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GLUE and SuperGLUE measure reasoning ability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benchmark scores ≠ production readiness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Fine-tuning adapts models to domain-specific tasks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Benchmarks and Model Readiness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9" title="ChatGPT Image 5 feb 2026, 08_58_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349" y="2145000"/>
            <a:ext cx="5220899" cy="348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0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5.1 Introduction to Applied NLP Tasks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604043" y="525302"/>
            <a:ext cx="624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"/>
          <p:cNvSpPr txBox="1"/>
          <p:nvPr/>
        </p:nvSpPr>
        <p:spPr>
          <a:xfrm>
            <a:off x="604044" y="2512000"/>
            <a:ext cx="53274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Benchmarks standardize model comparison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GLUE and SuperGLUE measure reasoning ability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benchmark scores ≠ production readiness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Fine-tuning adapts models to domain-specific tasks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Production Challenges in Applied NLP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" name="Google Shape;113;p10" title="Diagram type_ Enterprise risk analysis schematic, minimalist, technical. - visual selection.png"/>
          <p:cNvPicPr preferRelativeResize="0"/>
          <p:nvPr/>
        </p:nvPicPr>
        <p:blipFill rotWithShape="1">
          <a:blip r:embed="rId3">
            <a:alphaModFix/>
          </a:blip>
          <a:srcRect b="5437" l="0" r="0" t="0"/>
          <a:stretch/>
        </p:blipFill>
        <p:spPr>
          <a:xfrm>
            <a:off x="6083850" y="2145000"/>
            <a:ext cx="5637500" cy="33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5.1 Introduction to Applied NLP Tasks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604043" y="525302"/>
            <a:ext cx="624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 txBox="1"/>
          <p:nvPr/>
        </p:nvSpPr>
        <p:spPr>
          <a:xfrm>
            <a:off x="604044" y="2512000"/>
            <a:ext cx="53274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End-to-End: simpler, faster to prototype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Modular pipelines: more explainable and controllable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Enterprises often combine both approaches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choice depends on scale and regulation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Modular Pipelines vs End-to-End Models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11" title="Diagram type_ System architecture comparison diagram, technical and schematic. - visual selection.png"/>
          <p:cNvPicPr preferRelativeResize="0"/>
          <p:nvPr/>
        </p:nvPicPr>
        <p:blipFill rotWithShape="1">
          <a:blip r:embed="rId3">
            <a:alphaModFix/>
          </a:blip>
          <a:srcRect b="6478" l="0" r="0" t="6330"/>
          <a:stretch/>
        </p:blipFill>
        <p:spPr>
          <a:xfrm>
            <a:off x="7040775" y="1032325"/>
            <a:ext cx="3412975" cy="50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5.1 Introduction to Applied NLP Tasks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604043" y="525302"/>
            <a:ext cx="6244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Applied NLP turns language into action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Tasks define how AI creates value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Understanding task structure prevents misuse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Next chapters deep-dive into each task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This Module Matters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p12" title="Diagram type_ Conceptual summary diagram, academic and technical. - visual selection.png"/>
          <p:cNvPicPr preferRelativeResize="0"/>
          <p:nvPr/>
        </p:nvPicPr>
        <p:blipFill rotWithShape="1">
          <a:blip r:embed="rId3">
            <a:alphaModFix/>
          </a:blip>
          <a:srcRect b="6690" l="0" r="1797" t="0"/>
          <a:stretch/>
        </p:blipFill>
        <p:spPr>
          <a:xfrm>
            <a:off x="6083850" y="2145000"/>
            <a:ext cx="5848774" cy="29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/>
        </p:nvSpPr>
        <p:spPr>
          <a:xfrm>
            <a:off x="1897440" y="2792454"/>
            <a:ext cx="8000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5.1 Introduction to Applied NLP Tasks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5.2 Core Task: Text Classification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5.3 Understanding User Intent: Sentiment Analysis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5.4 Reducing Information Overload: Text Summarization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5.5 Information Retrieval: Question Answering Systems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Task Comparison and the Future of Applied NLP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2289154" y="1441945"/>
            <a:ext cx="7613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ndera de España - Wikipedia, la enciclopedia libre"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de Jordania - Wikipedia, la enciclopedia libre" id="147" name="Google Shape;1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/>
          <p:nvPr/>
        </p:nvSpPr>
        <p:spPr>
          <a:xfrm>
            <a:off x="1897450" y="3097575"/>
            <a:ext cx="7613700" cy="334800"/>
          </a:xfrm>
          <a:prstGeom prst="rect">
            <a:avLst/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604044" y="2512000"/>
            <a:ext cx="53274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Task: assign predefined labels to 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of the oldest and most deployed NLP tasks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Foundation for moderation, routing, filtering, analytics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Used in almost every production NLP system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Text Classification?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" name="Google Shape;159;p14" title="Diagram type_ Enterprise AI schematic, text classification pipeline. - visual selection.png"/>
          <p:cNvPicPr preferRelativeResize="0"/>
          <p:nvPr/>
        </p:nvPicPr>
        <p:blipFill rotWithShape="1">
          <a:blip r:embed="rId3">
            <a:alphaModFix/>
          </a:blip>
          <a:srcRect b="7918" l="0" r="0" t="0"/>
          <a:stretch/>
        </p:blipFill>
        <p:spPr>
          <a:xfrm>
            <a:off x="6011375" y="2145000"/>
            <a:ext cx="5955751" cy="34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Binary: two exclusive classes (Yes / No)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Multi-class: one label from many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Multi-label: multiple labels per document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Correct framing defines model architecture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Problem Types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15" title="Diagram type_ Technical comparison diagram of classification paradigms. - visual selection.png"/>
          <p:cNvPicPr preferRelativeResize="0"/>
          <p:nvPr/>
        </p:nvPicPr>
        <p:blipFill rotWithShape="1">
          <a:blip r:embed="rId3">
            <a:alphaModFix/>
          </a:blip>
          <a:srcRect b="8825" l="0" r="0" t="0"/>
          <a:stretch/>
        </p:blipFill>
        <p:spPr>
          <a:xfrm>
            <a:off x="6083850" y="2145000"/>
            <a:ext cx="5955749" cy="27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Based on word frequency statistics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Require manual feature engineering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Still useful for small or structured datasets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 as strong baselines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Traditional Classification Methods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1" name="Google Shape;181;p16" title="ChatGPT Image 5 feb 2026, 09_22_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1324" y="2145000"/>
            <a:ext cx="4993352" cy="332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Models learn features automatically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Capture semantic meaning, not just keywords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Transformers are the modern standard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Context-aware classification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Deep Learning Classification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2" name="Google Shape;192;p17" title="ChatGPT Image 5 feb 2026, 09_23_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849" y="2145000"/>
            <a:ext cx="5112150" cy="34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task-specific training required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natural language label descriptions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Extremely fast to deploy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Ideal for dynamic taxonomies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Zero-Shot Classification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3" name="Google Shape;203;p18" title="_- visual selection.png"/>
          <p:cNvPicPr preferRelativeResize="0"/>
          <p:nvPr/>
        </p:nvPicPr>
        <p:blipFill rotWithShape="1">
          <a:blip r:embed="rId3">
            <a:alphaModFix/>
          </a:blip>
          <a:srcRect b="6524" l="0" r="0" t="0"/>
          <a:stretch/>
        </p:blipFill>
        <p:spPr>
          <a:xfrm>
            <a:off x="6083850" y="2145000"/>
            <a:ext cx="5955750" cy="33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a few labeled examples in the prompt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Improves boundary definition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Reduces annotation cost dramatically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Common in enterprise rapid prototyping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Few-Shot Classification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p19" title="ChatGPT Image 5 feb 2026, 09_28_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7450" y="2134375"/>
            <a:ext cx="5327401" cy="35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04044" y="2512000"/>
            <a:ext cx="5327400" cy="2586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Accuracy is often misleading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Precision controls false positives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Recall controls false negatives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F1-score balances both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Metric choice depends on risk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Evaluation Metrics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5" name="Google Shape;225;p20" title="Diagram type_ Educational confusion matrix visualization, machine learning metrics schematic. - visual selection.png"/>
          <p:cNvPicPr preferRelativeResize="0"/>
          <p:nvPr/>
        </p:nvPicPr>
        <p:blipFill rotWithShape="1">
          <a:blip r:embed="rId3">
            <a:alphaModFix/>
          </a:blip>
          <a:srcRect b="8742" l="0" r="0" t="0"/>
          <a:stretch/>
        </p:blipFill>
        <p:spPr>
          <a:xfrm>
            <a:off x="6083850" y="1913025"/>
            <a:ext cx="5223250" cy="416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decision layer in many pipelines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Often precedes routing, retrieval, or QA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Must handle drift and class imbalance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Strong impact on downstream tasks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Text Classification in Production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6" name="Google Shape;236;p21" title="ChatGPT Image 5 feb 2026, 09_32_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349" y="2145000"/>
            <a:ext cx="4981651" cy="332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5.2 – Text Classification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675800" y="565950"/>
            <a:ext cx="629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Classification transforms language into decisions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Architecture choice matters more than model size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Zero-shot enables rapid deployment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Metrics define real-world success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Takeaways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7" name="Google Shape;247;p22" title="ChatGPT Image 5 feb 2026, 09_39_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7324" y="2145000"/>
            <a:ext cx="4833850" cy="322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/>
        </p:nvSpPr>
        <p:spPr>
          <a:xfrm>
            <a:off x="1897440" y="2792454"/>
            <a:ext cx="8000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5.1 Introduction to Applied NLP Tasks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5.2 Core Task: Text Classification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5.3 Understanding User Intent: Sentiment Analysis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5.4 Reducing Information Overload: Text Summarization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5.5 Information Retrieval: Question Answering Systems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Task Comparison and the Future of Applied NLP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2289154" y="1441945"/>
            <a:ext cx="7613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ndera de España - Wikipedia, la enciclopedia libre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de Jordania - Wikipedia, la enciclopedia libre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1897450" y="3373075"/>
            <a:ext cx="7613700" cy="334800"/>
          </a:xfrm>
          <a:prstGeom prst="rect">
            <a:avLst/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Task: detect subjective intent in 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Focuses on opinions, emotions, attitudes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Specialized form of text classification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Core signal for user and market intelligence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Sentiment Analysis?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1" name="Google Shape;271;p24" title="ChatGPT Image 5 feb 2026, 09_42_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324" y="2087000"/>
            <a:ext cx="4894648" cy="326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sentiment for the entire document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Simple and computationally efficient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Works well for short reviews or posts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Loses internal nuance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Document-Level Sentiment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2" name="Google Shape;282;p25" title="Diagram type_ Enterprise analytics dashboard-style schematic, sentiment scoring. - visual selection.png"/>
          <p:cNvPicPr preferRelativeResize="0"/>
          <p:nvPr/>
        </p:nvPicPr>
        <p:blipFill rotWithShape="1">
          <a:blip r:embed="rId3">
            <a:alphaModFix/>
          </a:blip>
          <a:srcRect b="10120" l="0" r="0" t="0"/>
          <a:stretch/>
        </p:blipFill>
        <p:spPr>
          <a:xfrm>
            <a:off x="6083850" y="2145000"/>
            <a:ext cx="5955750" cy="22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Sentiment linked to specific entities or features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Enables fine-grained insight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Essential for product and brand analysis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Industry standard for actionable feedback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Aspect-Based Sentiment Analysis (ABSA)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3" name="Google Shape;293;p26" title="Diagram type_ Aspect-based sentiment annotation schematic, technical NLP style. - visual selection (1).png"/>
          <p:cNvPicPr preferRelativeResize="0"/>
          <p:nvPr/>
        </p:nvPicPr>
        <p:blipFill rotWithShape="1">
          <a:blip r:embed="rId3">
            <a:alphaModFix/>
          </a:blip>
          <a:srcRect b="6594" l="0" r="0" t="0"/>
          <a:stretch/>
        </p:blipFill>
        <p:spPr>
          <a:xfrm>
            <a:off x="7548225" y="1684800"/>
            <a:ext cx="2797150" cy="425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predefined polarity dictionaries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Fully explainable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Fast and lightweight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Fail under context, irony, or negation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Lexicon-Based Approaches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4" name="Google Shape;304;p27" title="_- visual selection (1).png"/>
          <p:cNvPicPr preferRelativeResize="0"/>
          <p:nvPr/>
        </p:nvPicPr>
        <p:blipFill rotWithShape="1">
          <a:blip r:embed="rId3">
            <a:alphaModFix/>
          </a:blip>
          <a:srcRect b="6725" l="0" r="0" t="0"/>
          <a:stretch/>
        </p:blipFill>
        <p:spPr>
          <a:xfrm>
            <a:off x="6083850" y="2145000"/>
            <a:ext cx="5681951" cy="361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8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8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Meaning represented in latent vector space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Generalizes beyond exact keywords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Robust to synonyms and paraphrases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Foundation for transformer-based sentiment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Embedding-Based Sentiment Models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5" name="Google Shape;315;p28" title="ChatGPT Image 5 feb 2026, 09_53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850" y="2145000"/>
            <a:ext cx="5808077" cy="387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29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29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Negation flips polarity meaning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Sarcasm contradicts surface wording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Requires long-range context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Transformers outperform classical models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Negation and Sarcasm Challenges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29" title="Diagram type_ Contrast diagram for semantic interpretation, research-oriented NLP schematic. - visual selection.png"/>
          <p:cNvPicPr preferRelativeResize="0"/>
          <p:nvPr/>
        </p:nvPicPr>
        <p:blipFill rotWithShape="1">
          <a:blip r:embed="rId3">
            <a:alphaModFix/>
          </a:blip>
          <a:srcRect b="9024" l="0" r="0" t="0"/>
          <a:stretch/>
        </p:blipFill>
        <p:spPr>
          <a:xfrm>
            <a:off x="6083850" y="2145000"/>
            <a:ext cx="5955750" cy="32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Tracks public perception at scale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Correlates with sales and reputation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Enables early crisis detection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Drives automated prioritization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Sentiment in Market Intelligence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7" name="Google Shape;337;p30" title="ChatGPT Image 5 feb 2026, 10_13_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850" y="1992600"/>
            <a:ext cx="5895076" cy="393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Domain-specific language matters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Models degrade with cultural drift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Requires periodic re-evaluation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Sentiment ≠ truth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Operational Considerations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8" name="Google Shape;348;p31" title="Diagram type_ MLOps lifecycle loop, system architecture schematic. - visual selection.png"/>
          <p:cNvPicPr preferRelativeResize="0"/>
          <p:nvPr/>
        </p:nvPicPr>
        <p:blipFill rotWithShape="1">
          <a:blip r:embed="rId3">
            <a:alphaModFix/>
          </a:blip>
          <a:srcRect b="13822" l="0" r="0" t="0"/>
          <a:stretch/>
        </p:blipFill>
        <p:spPr>
          <a:xfrm>
            <a:off x="6489800" y="1992600"/>
            <a:ext cx="4423274" cy="393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32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5.3 – Understanding User Intent: Sentiment Analysis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32"/>
          <p:cNvSpPr txBox="1"/>
          <p:nvPr/>
        </p:nvSpPr>
        <p:spPr>
          <a:xfrm>
            <a:off x="6758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Sentiment reveals user intent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Aspect-level analysis enables action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Context is the main technical challenge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Critical signal for applied NLP systems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Takeaways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9" name="Google Shape;359;p32" title="ChatGPT Image 5 feb 2026, 10_18_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1349" y="2145000"/>
            <a:ext cx="4851149" cy="323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/>
        </p:nvSpPr>
        <p:spPr>
          <a:xfrm>
            <a:off x="1897440" y="2792454"/>
            <a:ext cx="8000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5.1 Introduction to Applied NLP Tasks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5.2 Core Task: Text Classification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5.3 Understanding User Intent: Sentiment Analysis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5.4 Reducing Information Overload: Text Summarization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5.5 Information Retrieval: Question Answering Systems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Task Comparison and the Future of Applied NLP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33"/>
          <p:cNvSpPr txBox="1"/>
          <p:nvPr/>
        </p:nvSpPr>
        <p:spPr>
          <a:xfrm>
            <a:off x="2289154" y="1441945"/>
            <a:ext cx="7613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ndera de España - Wikipedia, la enciclopedia libre" id="367" name="Google Shape;36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3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370" name="Google Shape;3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de Jordania - Wikipedia, la enciclopedia libre" id="371" name="Google Shape;3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/>
          <p:nvPr/>
        </p:nvSpPr>
        <p:spPr>
          <a:xfrm>
            <a:off x="1897450" y="3636250"/>
            <a:ext cx="7613700" cy="334800"/>
          </a:xfrm>
          <a:prstGeom prst="rect">
            <a:avLst/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5.4 Reducing Information Overload: Text Summarization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34"/>
          <p:cNvSpPr txBox="1"/>
          <p:nvPr/>
        </p:nvSpPr>
        <p:spPr>
          <a:xfrm>
            <a:off x="604050" y="521825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34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4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Task: compress long text into key information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Preserves meaning while reducing length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Essential for scale and decision speed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Widely used in legal, news, intelligence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Text Summarization?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3" name="Google Shape;383;p34" title="Diagram type_ Technical infographic schematic, text summarization compression. - visual selection.png"/>
          <p:cNvPicPr preferRelativeResize="0"/>
          <p:nvPr/>
        </p:nvPicPr>
        <p:blipFill rotWithShape="1">
          <a:blip r:embed="rId3">
            <a:alphaModFix/>
          </a:blip>
          <a:srcRect b="9057" l="0" r="0" t="0"/>
          <a:stretch/>
        </p:blipFill>
        <p:spPr>
          <a:xfrm>
            <a:off x="6199850" y="1992600"/>
            <a:ext cx="5478574" cy="391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5.4 Reducing Information Overload: Text Summarization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5"/>
          <p:cNvSpPr txBox="1"/>
          <p:nvPr/>
        </p:nvSpPr>
        <p:spPr>
          <a:xfrm>
            <a:off x="604050" y="521825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Selects existing sentences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factual accuracy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text generation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Often less fluent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5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Extractive Summarization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4" name="Google Shape;394;p35" title="Diagram type_ NLP annotation-style schematic, extractive summarization by sentence selection. - visual selection.png"/>
          <p:cNvPicPr preferRelativeResize="0"/>
          <p:nvPr/>
        </p:nvPicPr>
        <p:blipFill rotWithShape="1">
          <a:blip r:embed="rId3">
            <a:alphaModFix/>
          </a:blip>
          <a:srcRect b="11284" l="0" r="0" t="0"/>
          <a:stretch/>
        </p:blipFill>
        <p:spPr>
          <a:xfrm>
            <a:off x="6344825" y="1992600"/>
            <a:ext cx="5090900" cy="40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36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5.4 Reducing Information Overload: Text Summarization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604050" y="521825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6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Generates new sentences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Higher information density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More natural language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of hallucination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Abstractive Summarization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5" name="Google Shape;405;p36" title="_- visual selection (2).png"/>
          <p:cNvPicPr preferRelativeResize="0"/>
          <p:nvPr/>
        </p:nvPicPr>
        <p:blipFill rotWithShape="1">
          <a:blip r:embed="rId3">
            <a:alphaModFix/>
          </a:blip>
          <a:srcRect b="6646" l="0" r="1068" t="0"/>
          <a:stretch/>
        </p:blipFill>
        <p:spPr>
          <a:xfrm>
            <a:off x="6315850" y="2145000"/>
            <a:ext cx="5205325" cy="36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37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5.4 Reducing Information Overload: Text Summarization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37"/>
          <p:cNvSpPr txBox="1"/>
          <p:nvPr/>
        </p:nvSpPr>
        <p:spPr>
          <a:xfrm>
            <a:off x="604050" y="521825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37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7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Graph-based ranking (TextRank)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Sentence similarity scoring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deep semantics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Still useful for formal 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Traditional Extractive Techniques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6" name="Google Shape;416;p37" title="ChatGPT Image 5 feb 2026, 10_30_38.png"/>
          <p:cNvPicPr preferRelativeResize="0"/>
          <p:nvPr/>
        </p:nvPicPr>
        <p:blipFill rotWithShape="1">
          <a:blip r:embed="rId3">
            <a:alphaModFix/>
          </a:blip>
          <a:srcRect b="15985" l="12264" r="10551" t="13532"/>
          <a:stretch/>
        </p:blipFill>
        <p:spPr>
          <a:xfrm>
            <a:off x="6466525" y="2211250"/>
            <a:ext cx="5103625" cy="31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8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5.4 Reducing Information Overload: Text Summarization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604050" y="521825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38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8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full-document context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Learns semantic importance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State-of-the-art performance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Dominant in production systems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8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Transformer-Based Summarization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7" name="Google Shape;427;p38" title="ChatGPT Image 5 feb 2026, 10_32_29.png"/>
          <p:cNvPicPr preferRelativeResize="0"/>
          <p:nvPr/>
        </p:nvPicPr>
        <p:blipFill rotWithShape="1">
          <a:blip r:embed="rId3">
            <a:alphaModFix/>
          </a:blip>
          <a:srcRect b="21470" l="7403" r="6412" t="0"/>
          <a:stretch/>
        </p:blipFill>
        <p:spPr>
          <a:xfrm>
            <a:off x="6234550" y="2130500"/>
            <a:ext cx="5132625" cy="311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39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5.4 Reducing Information Overload: Text Summarization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39"/>
          <p:cNvSpPr txBox="1"/>
          <p:nvPr/>
        </p:nvSpPr>
        <p:spPr>
          <a:xfrm>
            <a:off x="604050" y="521825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39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Encoder–Decoder architectures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Pre-trained for text reconstruction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Strong performance on long documents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Industry standard for summarization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9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BART and T5 Models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8" name="Google Shape;438;p39" title="ChatGPT Image 5 feb 2026, 10_35_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2825" y="1992600"/>
            <a:ext cx="5112150" cy="34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40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5.4 Reducing Information Overload: Text Summarization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40"/>
          <p:cNvSpPr txBox="1"/>
          <p:nvPr/>
        </p:nvSpPr>
        <p:spPr>
          <a:xfrm>
            <a:off x="604050" y="521825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40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0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Measures overlap with human summaries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ROUGE-1, ROUGE-2, ROUGE-L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Focuses on recall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Does not ensure factuality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Evaluation Metrics (ROUGE)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9" name="Google Shape;449;p40" title="Diagram type_ Educational comparison schematic, summary evaluation visualization. - visual selection.png"/>
          <p:cNvPicPr preferRelativeResize="0"/>
          <p:nvPr/>
        </p:nvPicPr>
        <p:blipFill rotWithShape="1">
          <a:blip r:embed="rId3">
            <a:alphaModFix/>
          </a:blip>
          <a:srcRect b="7969" l="0" r="0" t="0"/>
          <a:stretch/>
        </p:blipFill>
        <p:spPr>
          <a:xfrm>
            <a:off x="6083850" y="2145000"/>
            <a:ext cx="5955751" cy="292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41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5.4 Reducing Information Overload: Text Summarization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41"/>
          <p:cNvSpPr txBox="1"/>
          <p:nvPr/>
        </p:nvSpPr>
        <p:spPr>
          <a:xfrm>
            <a:off x="604050" y="521825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41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1"/>
          <p:cNvSpPr txBox="1"/>
          <p:nvPr/>
        </p:nvSpPr>
        <p:spPr>
          <a:xfrm>
            <a:off x="604044" y="2512000"/>
            <a:ext cx="5327400" cy="1477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Summarization manages information overload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Extractive = safer, abstractive = denser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Transformers dominate modern systems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1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Takeaways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0" name="Google Shape;460;p41" title="ChatGPT Image 5 feb 2026, 10_43_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324" y="1992600"/>
            <a:ext cx="5133900" cy="34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/>
        </p:nvSpPr>
        <p:spPr>
          <a:xfrm>
            <a:off x="1897440" y="2792454"/>
            <a:ext cx="8000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5.1 Introduction to Applied NLP Tasks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5.2 Core Task: Text Classification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5.3 Understanding User Intent: Sentiment Analysis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5.4 Reducing Information Overload: Text Summarization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5.5 Information Retrieval: Question Answering Systems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Task Comparison and the Future of Applied NLP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42"/>
          <p:cNvSpPr txBox="1"/>
          <p:nvPr/>
        </p:nvSpPr>
        <p:spPr>
          <a:xfrm>
            <a:off x="2289154" y="1441945"/>
            <a:ext cx="7613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ndera de España - Wikipedia, la enciclopedia libre" id="468" name="Google Shape;46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2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2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471" name="Google Shape;47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de Jordania - Wikipedia, la enciclopedia libre" id="472" name="Google Shape;47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2"/>
          <p:cNvSpPr/>
          <p:nvPr/>
        </p:nvSpPr>
        <p:spPr>
          <a:xfrm>
            <a:off x="1897450" y="3911725"/>
            <a:ext cx="7613700" cy="334800"/>
          </a:xfrm>
          <a:prstGeom prst="rect">
            <a:avLst/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43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</a:t>
            </a: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43"/>
          <p:cNvSpPr txBox="1"/>
          <p:nvPr/>
        </p:nvSpPr>
        <p:spPr>
          <a:xfrm>
            <a:off x="6039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43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3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Task: answer questions using text sources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Goes beyond keyword search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Requires language understanding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Core of modern AI assistants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3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Question Answering (QA)?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4" name="Google Shape;484;p43" title="Diagram type_ Enterprise AI question-answering pipeline schematic. - visual selection.png"/>
          <p:cNvPicPr preferRelativeResize="0"/>
          <p:nvPr/>
        </p:nvPicPr>
        <p:blipFill rotWithShape="1">
          <a:blip r:embed="rId3">
            <a:alphaModFix/>
          </a:blip>
          <a:srcRect b="11629" l="0" r="0" t="0"/>
          <a:stretch/>
        </p:blipFill>
        <p:spPr>
          <a:xfrm>
            <a:off x="6243350" y="1783925"/>
            <a:ext cx="4800626" cy="403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4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44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44"/>
          <p:cNvSpPr txBox="1"/>
          <p:nvPr/>
        </p:nvSpPr>
        <p:spPr>
          <a:xfrm>
            <a:off x="6039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44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4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 is a text span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Start and end token prediction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factual precision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Limited to provided context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4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Extractive Question Answering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5" name="Google Shape;495;p44" title="ChatGPT Image 5 feb 2026, 10_48_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4349" y="2087000"/>
            <a:ext cx="5090400" cy="3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45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45"/>
          <p:cNvSpPr txBox="1"/>
          <p:nvPr/>
        </p:nvSpPr>
        <p:spPr>
          <a:xfrm>
            <a:off x="6039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45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5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Benchmark dataset for extractive QA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Context + Question → Span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Enabled large-scale QA training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Foundation for enterprise FAQ systems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5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SQuAD Paradigm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6" name="Google Shape;506;p45" title="ChatGPT Image 5 feb 2026, 10_49_41.png"/>
          <p:cNvPicPr preferRelativeResize="0"/>
          <p:nvPr/>
        </p:nvPicPr>
        <p:blipFill rotWithShape="1">
          <a:blip r:embed="rId3">
            <a:alphaModFix/>
          </a:blip>
          <a:srcRect b="9565" l="0" r="0" t="14458"/>
          <a:stretch/>
        </p:blipFill>
        <p:spPr>
          <a:xfrm>
            <a:off x="6083850" y="2249550"/>
            <a:ext cx="5437202" cy="275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46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46"/>
          <p:cNvSpPr txBox="1"/>
          <p:nvPr/>
        </p:nvSpPr>
        <p:spPr>
          <a:xfrm>
            <a:off x="603900" y="565950"/>
            <a:ext cx="8081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6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6"/>
          <p:cNvSpPr txBox="1"/>
          <p:nvPr/>
        </p:nvSpPr>
        <p:spPr>
          <a:xfrm>
            <a:off x="604044" y="2512000"/>
            <a:ext cx="5327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Benchmark dataset for extractive QA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Context + Question → Span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Enabled large-scale QA training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Foundation for enterprise FAQ systems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6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Generative Question Answering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7" name="Google Shape;517;p46" title="Diagram type_ Decoder-only architecture schematic, generative QA vs extractive QA contrast. - visual selection.png"/>
          <p:cNvPicPr preferRelativeResize="0"/>
          <p:nvPr/>
        </p:nvPicPr>
        <p:blipFill rotWithShape="1">
          <a:blip r:embed="rId3">
            <a:alphaModFix/>
          </a:blip>
          <a:srcRect b="9148" l="0" r="0" t="0"/>
          <a:stretch/>
        </p:blipFill>
        <p:spPr>
          <a:xfrm>
            <a:off x="6199825" y="2130500"/>
            <a:ext cx="5171676" cy="30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7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47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47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p47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7"/>
          <p:cNvSpPr txBox="1"/>
          <p:nvPr/>
        </p:nvSpPr>
        <p:spPr>
          <a:xfrm>
            <a:off x="604049" y="2512000"/>
            <a:ext cx="4283400" cy="203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structured databases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Converts language to queries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Deterministic answers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reliability systems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7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Knowledge-Based Question Answering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8" name="Google Shape;528;p47" title="ChatGPT Image 5 feb 2026, 08_30_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8350" y="2096200"/>
            <a:ext cx="5772027" cy="384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8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48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48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48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8"/>
          <p:cNvSpPr txBox="1"/>
          <p:nvPr/>
        </p:nvSpPr>
        <p:spPr>
          <a:xfrm>
            <a:off x="604049" y="2512000"/>
            <a:ext cx="42834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Industry-standard QA architecture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Combines retrieval + generation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private documents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Reduces hallucinations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8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Retrieval-Augmented Generation (RAG)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9" name="Google Shape;539;p48" title="ChatGPT Image 5 feb 2026, 11_22_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6625" y="2170600"/>
            <a:ext cx="5934900" cy="39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9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49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49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49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9"/>
          <p:cNvSpPr txBox="1"/>
          <p:nvPr/>
        </p:nvSpPr>
        <p:spPr>
          <a:xfrm>
            <a:off x="604049" y="2512000"/>
            <a:ext cx="42834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Exact Match (EM)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F1-Score (span overlap)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Faithfulness (RAG-specific)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Citation correctness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9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Vector Databases in QA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0" name="Google Shape;550;p49" title="ChatGPT Image 5 feb 2026, 11_26_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5675" y="2170600"/>
            <a:ext cx="5230598" cy="348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50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50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50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0"/>
          <p:cNvSpPr txBox="1"/>
          <p:nvPr/>
        </p:nvSpPr>
        <p:spPr>
          <a:xfrm>
            <a:off x="604049" y="2512000"/>
            <a:ext cx="42834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support automation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Technical documentation search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Legal and medical assistants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Enterprise knowledge access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0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Evaluation Metrics for QA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1" name="Google Shape;561;p50" title="ChatGPT Image 5 feb 2026, 11_35_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150" y="2211250"/>
            <a:ext cx="5493999" cy="36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1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51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5.5 Information Retrieval: Question Answering Systems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51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51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1"/>
          <p:cNvSpPr txBox="1"/>
          <p:nvPr/>
        </p:nvSpPr>
        <p:spPr>
          <a:xfrm>
            <a:off x="604049" y="2512000"/>
            <a:ext cx="4283400" cy="2586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QA bridges search and reasoning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Extractive = precise, generative = flexible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RAG is the dominant paradigm</a:t>
            </a:r>
            <a:b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Grounding is critical for trust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1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Takeaways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2" name="Google Shape;572;p51" title="ChatGPT Image 5 feb 2026, 11_42_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100" y="2047450"/>
            <a:ext cx="5827599" cy="388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2"/>
          <p:cNvSpPr txBox="1"/>
          <p:nvPr/>
        </p:nvSpPr>
        <p:spPr>
          <a:xfrm>
            <a:off x="1897440" y="2792454"/>
            <a:ext cx="8000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5.1 Introduction to Applied NLP Tasks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5.2 Core Task: Text Classification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5.3 Understanding User Intent: Sentiment Analysis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5.4 Reducing Information Overload: Text Summarization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5.5 Information Retrieval: Question Answering Systems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Task Comparison and the Future of Applied NLP</a:t>
            </a:r>
            <a:endParaRPr b="1" sz="18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52"/>
          <p:cNvSpPr txBox="1"/>
          <p:nvPr/>
        </p:nvSpPr>
        <p:spPr>
          <a:xfrm>
            <a:off x="2289154" y="1441945"/>
            <a:ext cx="7613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ndera de España - Wikipedia, la enciclopedia libre" id="580" name="Google Shape;58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2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2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583" name="Google Shape;58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de Jordania - Wikipedia, la enciclopedia libre" id="584" name="Google Shape;584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2"/>
          <p:cNvSpPr/>
          <p:nvPr/>
        </p:nvSpPr>
        <p:spPr>
          <a:xfrm>
            <a:off x="1897450" y="4212350"/>
            <a:ext cx="7613700" cy="334800"/>
          </a:xfrm>
          <a:prstGeom prst="rect">
            <a:avLst/>
          </a:prstGeom>
          <a:noFill/>
          <a:ln cap="flat" cmpd="sng" w="381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3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53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– Task Comparison and the Future of Applied NLP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53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53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3"/>
          <p:cNvSpPr txBox="1"/>
          <p:nvPr/>
        </p:nvSpPr>
        <p:spPr>
          <a:xfrm>
            <a:off x="604049" y="2211250"/>
            <a:ext cx="4283400" cy="3555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 Answering (QA) aims to provide direct answers to natural language questions by understanding both the query intent and the information source, going beyond traditional keyword-based search.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document retrieval to answer generation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Requires semantic understanding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 to AI assistants and search systems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Combines language and knowledge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Foundation of enterprise AI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3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Question Answering?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6" name="Google Shape;596;p53" title="ChatGPT Image 5 feb 2026, 12_03_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900" y="1783925"/>
            <a:ext cx="6685801" cy="4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4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54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– Task Comparison and the Future of Applied NLP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54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54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54"/>
          <p:cNvSpPr txBox="1"/>
          <p:nvPr/>
        </p:nvSpPr>
        <p:spPr>
          <a:xfrm>
            <a:off x="604049" y="2211250"/>
            <a:ext cx="4283400" cy="3093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QA systems operate under two main paradigms: extracting exact answers from text or generating new answers using language models.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Extractive: answer is a text span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factual precision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Used in legal and technical domains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Generative: produces new text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More fluent, higher hallucination risk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4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Extractive vs Generative QA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7" name="Google Shape;607;p54" title="ChatGPT Image 5 feb 2026, 12_14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675" y="1843650"/>
            <a:ext cx="6018301" cy="401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5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55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– Task Comparison and the Future of Applied NLP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55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55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5"/>
          <p:cNvSpPr txBox="1"/>
          <p:nvPr/>
        </p:nvSpPr>
        <p:spPr>
          <a:xfrm>
            <a:off x="604049" y="2211250"/>
            <a:ext cx="4283400" cy="332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(RAG) combines document retrieval with generative models to produce answers grounded in real data.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Puntos clave: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Industry standard for QA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vector search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Injects retrieved text into prompts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Reduces hallucinations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Enables private data QA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5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Retrieval-Augmented Generation (RAG)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8" name="Google Shape;618;p55" title="ChatGPT Image 5 feb 2026, 12_17_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8800" y="1880600"/>
            <a:ext cx="5978849" cy="39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6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56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5.6 – Task Comparison and the Future of Applied NLP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56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56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6"/>
          <p:cNvSpPr txBox="1"/>
          <p:nvPr/>
        </p:nvSpPr>
        <p:spPr>
          <a:xfrm>
            <a:off x="604049" y="2211250"/>
            <a:ext cx="4283400" cy="3093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Reliable QA systems must be evaluated not only for correctness, but also for trust and factual grounding.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Exact Match (EM)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F1-score (span overlap)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Faithfulness (RAG answers)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Enterprise QA systems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Trust and explainability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6"/>
          <p:cNvSpPr txBox="1"/>
          <p:nvPr/>
        </p:nvSpPr>
        <p:spPr>
          <a:xfrm>
            <a:off x="604049" y="168480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Evaluation and Production Use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9" name="Google Shape;629;p56" title="ChatGPT Image 5 feb 2026, 12_18_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050" y="1790400"/>
            <a:ext cx="6249450" cy="41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7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57"/>
          <p:cNvSpPr txBox="1"/>
          <p:nvPr/>
        </p:nvSpPr>
        <p:spPr>
          <a:xfrm>
            <a:off x="604049" y="1158350"/>
            <a:ext cx="88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Resources &amp; Academic References</a:t>
            </a:r>
            <a:endParaRPr b="1" sz="2000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57"/>
          <p:cNvSpPr txBox="1"/>
          <p:nvPr/>
        </p:nvSpPr>
        <p:spPr>
          <a:xfrm>
            <a:off x="603900" y="565950"/>
            <a:ext cx="1076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 b="1"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7" name="Google Shape;637;p57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7"/>
          <p:cNvSpPr txBox="1"/>
          <p:nvPr/>
        </p:nvSpPr>
        <p:spPr>
          <a:xfrm>
            <a:off x="333450" y="1627450"/>
            <a:ext cx="5847000" cy="4888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</a:rPr>
              <a:t>Core Benchmarks &amp; Tasks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Wang et al. (2018) — </a:t>
            </a:r>
            <a:r>
              <a:rPr i="1" lang="en-GB" sz="1100">
                <a:solidFill>
                  <a:schemeClr val="lt1"/>
                </a:solidFill>
              </a:rPr>
              <a:t>GLUE: A Multi-Task Benchmark for Natural Language Understanding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https://arxiv.org/abs/1804.07461</a:t>
            </a:r>
            <a:endParaRPr sz="1100" u="sng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Wang et al. (2019) — </a:t>
            </a:r>
            <a:r>
              <a:rPr i="1" lang="en-GB" sz="1100">
                <a:solidFill>
                  <a:schemeClr val="lt1"/>
                </a:solidFill>
              </a:rPr>
              <a:t>SuperGLUE: A Stickier Benchmark for General-Purpose Language Understanding Systems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https://arxiv.org/abs/1905.00537</a:t>
            </a:r>
            <a:endParaRPr sz="1100" u="sng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Rajpurkar et al. (2016) — </a:t>
            </a:r>
            <a:r>
              <a:rPr i="1" lang="en-GB" sz="1100">
                <a:solidFill>
                  <a:schemeClr val="lt1"/>
                </a:solidFill>
              </a:rPr>
              <a:t>SQuAD: 100,000+ Questions for Machine Comprehension of Text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https://arxiv.org/abs/1606.05250</a:t>
            </a:r>
            <a:endParaRPr sz="1100"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</a:rPr>
              <a:t>Text Classification &amp; Zero-Shot Learning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Cortes &amp; Vapnik (1995) — </a:t>
            </a:r>
            <a:r>
              <a:rPr i="1" lang="en-GB" sz="1100">
                <a:solidFill>
                  <a:schemeClr val="lt1"/>
                </a:solidFill>
              </a:rPr>
              <a:t>Support-Vector Networks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https://link.springer.com/article/10.1007/BF00994018</a:t>
            </a:r>
            <a:endParaRPr sz="1100" u="sng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Yin et al. (2019) — </a:t>
            </a:r>
            <a:r>
              <a:rPr i="1" lang="en-GB" sz="1100">
                <a:solidFill>
                  <a:schemeClr val="lt1"/>
                </a:solidFill>
              </a:rPr>
              <a:t>Benchmarking Zero-shot Text Classification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https://arxiv.org/abs/1909.00161</a:t>
            </a:r>
            <a:endParaRPr sz="1100"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</a:rPr>
              <a:t>Sentiment Analysis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Pang &amp; Lee (2008) — </a:t>
            </a:r>
            <a:r>
              <a:rPr i="1" lang="en-GB" sz="1100">
                <a:solidFill>
                  <a:schemeClr val="lt1"/>
                </a:solidFill>
              </a:rPr>
              <a:t>Opinion Mining and Sentiment Analysis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https://www.cs.cornell.edu/home/llee/omsa/omsa.pdf</a:t>
            </a:r>
            <a:endParaRPr sz="1100" u="sng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Pontiki et al. (2014) — </a:t>
            </a:r>
            <a:r>
              <a:rPr i="1" lang="en-GB" sz="1100">
                <a:solidFill>
                  <a:schemeClr val="lt1"/>
                </a:solidFill>
              </a:rPr>
              <a:t>SemEval-2014 Task 4: Aspect-Based Sentiment Analysis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https://aclanthology.org/S14-2004.pdf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639" name="Google Shape;639;p57"/>
          <p:cNvSpPr txBox="1"/>
          <p:nvPr/>
        </p:nvSpPr>
        <p:spPr>
          <a:xfrm>
            <a:off x="6396900" y="1206375"/>
            <a:ext cx="4914900" cy="5113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Text Summarization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Barzilay &amp; Elhadad (1997) — </a:t>
            </a:r>
            <a:r>
              <a:rPr i="1" lang="en-GB" sz="1100">
                <a:solidFill>
                  <a:schemeClr val="lt1"/>
                </a:solidFill>
              </a:rPr>
              <a:t>Using Lexical Chains for Text Summarization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https://aclanthology.org/P97-1002.pdf</a:t>
            </a:r>
            <a:endParaRPr sz="1100" u="sng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Lewis et al. (2019) — </a:t>
            </a:r>
            <a:r>
              <a:rPr i="1" lang="en-GB" sz="1100">
                <a:solidFill>
                  <a:schemeClr val="lt1"/>
                </a:solidFill>
              </a:rPr>
              <a:t>BART: Denoising Sequence-to-Sequence Pre-training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https://arxiv.org/abs/1910.13461</a:t>
            </a:r>
            <a:endParaRPr sz="1100" u="sng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Raffel et al. (2019) — </a:t>
            </a:r>
            <a:r>
              <a:rPr i="1" lang="en-GB" sz="1100">
                <a:solidFill>
                  <a:schemeClr val="lt1"/>
                </a:solidFill>
              </a:rPr>
              <a:t>Exploring the Limits of Transfer Learning with a Unified Text-to-Text Transformer (T5)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https://arxiv.org/abs/1910.10683</a:t>
            </a:r>
            <a:endParaRPr sz="1100"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Question Answering &amp; RAG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Lewis et al. (2020) — </a:t>
            </a:r>
            <a:r>
              <a:rPr i="1" lang="en-GB" sz="1100">
                <a:solidFill>
                  <a:schemeClr val="lt1"/>
                </a:solidFill>
              </a:rPr>
              <a:t>Retrieval-Augmented Generation for Knowledge-Intensive NLP Tasks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https://arxiv.org/abs/2005.11401</a:t>
            </a:r>
            <a:endParaRPr sz="1100"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Ethics &amp; Future of Applied NLP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Bender et al. (2021) — </a:t>
            </a:r>
            <a:r>
              <a:rPr i="1" lang="en-GB" sz="1100">
                <a:solidFill>
                  <a:schemeClr val="lt1"/>
                </a:solidFill>
              </a:rPr>
              <a:t>On the Dangers of Stochastic Parrots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https://dl.acm.org/doi/pdf/10.1145/3442188.3445922</a:t>
            </a:r>
            <a:endParaRPr sz="1100" u="sng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</a:rPr>
              <a:t>Bommasani et al. (2021) — </a:t>
            </a:r>
            <a:r>
              <a:rPr i="1" lang="en-GB" sz="1100">
                <a:solidFill>
                  <a:schemeClr val="lt1"/>
                </a:solidFill>
              </a:rPr>
              <a:t>On the Opportunities and Risks of Foundation Models</a:t>
            </a:r>
            <a:br>
              <a:rPr i="1" lang="en-GB" sz="1100">
                <a:solidFill>
                  <a:schemeClr val="lt1"/>
                </a:solidFill>
              </a:rPr>
            </a:br>
            <a:r>
              <a:rPr lang="en-GB" sz="1100" u="sng">
                <a:solidFill>
                  <a:schemeClr val="lt1"/>
                </a:solid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https://arxiv.org/abs/2108.07258</a:t>
            </a:r>
            <a:endParaRPr sz="1100" u="sng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