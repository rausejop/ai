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10287000" cx="18288000"/>
  <p:notesSz cx="6858000" cy="9144000"/>
  <p:embeddedFontLst>
    <p:embeddedFont>
      <p:font typeface="Jost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9" roundtripDataSignature="AMtx7mjapw0WC5atUAZEuoKbwrjMifgK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Jost-bold.fntdata"/><Relationship Id="rId21" Type="http://schemas.openxmlformats.org/officeDocument/2006/relationships/slide" Target="slides/slide16.xml"/><Relationship Id="rId65" Type="http://schemas.openxmlformats.org/officeDocument/2006/relationships/font" Target="fonts/Jost-regular.fntdata"/><Relationship Id="rId24" Type="http://schemas.openxmlformats.org/officeDocument/2006/relationships/slide" Target="slides/slide19.xml"/><Relationship Id="rId68" Type="http://schemas.openxmlformats.org/officeDocument/2006/relationships/font" Target="fonts/Jost-boldItalic.fntdata"/><Relationship Id="rId23" Type="http://schemas.openxmlformats.org/officeDocument/2006/relationships/slide" Target="slides/slide18.xml"/><Relationship Id="rId67" Type="http://schemas.openxmlformats.org/officeDocument/2006/relationships/font" Target="fonts/Jost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60d3625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c60d36257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60d36257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c60d362576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39f84b5ae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939f84b5ae_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39f84b5ae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939f84b5ae_2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39f84b5ae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939f84b5ae_2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39f84b5ae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939f84b5ae_2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39f84b5ae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g3939f84b5ae_2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39f84b5ae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939f84b5ae_2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39f84b5ae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g3939f84b5ae_2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39f84b5ae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g3939f84b5ae_2_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39f84b5ae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g3939f84b5ae_2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39f84b5ae_2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g3939f84b5ae_2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939f84b5ae_2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g3939f84b5ae_2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939f84b5ae_2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1" name="Google Shape;491;g3939f84b5ae_2_4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39f84b5ae_2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g3939f84b5ae_2_3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939f84b5ae_2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7" name="Google Shape;547;g3939f84b5ae_2_4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939f84b5ae_2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8" name="Google Shape;578;g3939f84b5ae_2_4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939f84b5ae_2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6" name="Google Shape;606;g3939f84b5ae_2_4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939f84b5ae_2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0" name="Google Shape;620;g3939f84b5ae_2_5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939f84b5ae_2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8" name="Google Shape;648;g3939f84b5ae_2_5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939f84b5ae_2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6" name="Google Shape;676;g3939f84b5ae_2_5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939f84b5ae_2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4" name="Google Shape;704;g3939f84b5ae_2_5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939f84b5ae_2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2" name="Google Shape;732;g3939f84b5ae_2_6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939f84b5ae_2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0" name="Google Shape;760;g3939f84b5ae_2_6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939f84b5ae_2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8" name="Google Shape;788;g3939f84b5ae_2_6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939f84b5ae_2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6" name="Google Shape;816;g3939f84b5ae_2_7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939f84b5ae_2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4" name="Google Shape;844;g3939f84b5ae_2_7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939f84b5ae_2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2" name="Google Shape;872;g3939f84b5ae_2_7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939f84b5ae_2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0" name="Google Shape;900;g3939f84b5ae_2_8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939f84b5ae_2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4" name="Google Shape;914;g3939f84b5ae_2_8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939f84b5ae_2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2" name="Google Shape;942;g3939f84b5ae_2_8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939f84b5ae_2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0" name="Google Shape;970;g3939f84b5ae_2_8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939f84b5ae_2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8" name="Google Shape;998;g3939f84b5ae_2_9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939f84b5ae_2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6" name="Google Shape;1026;g3939f84b5ae_2_9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939f84b5ae_2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4" name="Google Shape;1054;g3939f84b5ae_2_9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939f84b5ae_2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2" name="Google Shape;1082;g3939f84b5ae_2_9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939f84b5ae_2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0" name="Google Shape;1110;g3939f84b5ae_2_10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939f84b5ae_2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5" name="Google Shape;1135;g3939f84b5ae_2_10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939f84b5ae_2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9" name="Google Shape;1149;g3939f84b5ae_2_10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939f84b5ae_2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4" name="Google Shape;1174;g3939f84b5ae_2_10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939f84b5ae_2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2" name="Google Shape;1202;g3939f84b5ae_2_1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939f84b5ae_2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0" name="Google Shape;1230;g3939f84b5ae_2_1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939f84b5ae_2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8" name="Google Shape;1258;g3939f84b5ae_2_1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3939f84b5ae_2_1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6" name="Google Shape;1286;g3939f84b5ae_2_1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939f84b5ae_2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4" name="Google Shape;1314;g3939f84b5ae_2_1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3939f84b5ae_2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2" name="Google Shape;1342;g3939f84b5ae_2_1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939f84b5ae_2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0" name="Google Shape;1370;g3939f84b5ae_2_1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3939f84b5ae_2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8" name="Google Shape;1398;g3939f84b5ae_2_13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3939f84b5ae_2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2" name="Google Shape;1412;g3939f84b5ae_2_1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3939f84b5ae_2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0" name="Google Shape;1440;g3939f84b5ae_2_13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3939f84b5ae_2_1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2" name="Google Shape;1472;g3939f84b5ae_2_14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3939f84b5ae_2_1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4" name="Google Shape;1504;g3939f84b5ae_2_14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939f84b5ae_2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6" name="Google Shape;1536;g3939f84b5ae_2_14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3939f84b5ae_2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8" name="Google Shape;1558;g3939f84b5ae_2_15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939f84b5ae_2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0" name="Google Shape;1580;g3939f84b5ae_2_15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4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3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4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4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3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5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4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4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5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4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4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4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4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.jpg"/><Relationship Id="rId4" Type="http://schemas.openxmlformats.org/officeDocument/2006/relationships/hyperlink" Target="https://arxiv.org/abs/1804.07461" TargetMode="External"/><Relationship Id="rId9" Type="http://schemas.openxmlformats.org/officeDocument/2006/relationships/hyperlink" Target="https://arxiv.org/abs/1909.00161" TargetMode="External"/><Relationship Id="rId5" Type="http://schemas.openxmlformats.org/officeDocument/2006/relationships/hyperlink" Target="https://arxiv.org/abs/1905.00537" TargetMode="External"/><Relationship Id="rId6" Type="http://schemas.openxmlformats.org/officeDocument/2006/relationships/hyperlink" Target="https://arxiv.org/abs/1606.05250" TargetMode="External"/><Relationship Id="rId7" Type="http://schemas.openxmlformats.org/officeDocument/2006/relationships/image" Target="../media/image4.png"/><Relationship Id="rId8" Type="http://schemas.openxmlformats.org/officeDocument/2006/relationships/hyperlink" Target="https://link.springer.com/article/10.1007/BF00994018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.jpg"/><Relationship Id="rId4" Type="http://schemas.openxmlformats.org/officeDocument/2006/relationships/hyperlink" Target="https://www.cs.cornell.edu/home/llee/omsa/omsa.pd" TargetMode="External"/><Relationship Id="rId9" Type="http://schemas.openxmlformats.org/officeDocument/2006/relationships/hyperlink" Target="https://arxiv.org/abs/1910.10683" TargetMode="External"/><Relationship Id="rId5" Type="http://schemas.openxmlformats.org/officeDocument/2006/relationships/hyperlink" Target="https://aclanthology.org/S14-2004.pdf" TargetMode="External"/><Relationship Id="rId6" Type="http://schemas.openxmlformats.org/officeDocument/2006/relationships/image" Target="../media/image4.png"/><Relationship Id="rId7" Type="http://schemas.openxmlformats.org/officeDocument/2006/relationships/hyperlink" Target="https://aclanthology.org/P97-1002.pdf" TargetMode="External"/><Relationship Id="rId8" Type="http://schemas.openxmlformats.org/officeDocument/2006/relationships/hyperlink" Target="https://arxiv.org/abs/1910.13461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.jpg"/><Relationship Id="rId4" Type="http://schemas.openxmlformats.org/officeDocument/2006/relationships/hyperlink" Target="https://arxiv.org/abs/2005.11401" TargetMode="External"/><Relationship Id="rId5" Type="http://schemas.openxmlformats.org/officeDocument/2006/relationships/image" Target="../media/image4.png"/><Relationship Id="rId6" Type="http://schemas.openxmlformats.org/officeDocument/2006/relationships/hyperlink" Target="https://dl.acm.org/doi/pdf/10.1145/3442188.3445922" TargetMode="External"/><Relationship Id="rId7" Type="http://schemas.openxmlformats.org/officeDocument/2006/relationships/hyperlink" Target="https://arxiv.org/abs/2108.072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72" t="-52938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1259550" y="4477258"/>
            <a:ext cx="133134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92"/>
              <a:buFont typeface="Arial"/>
              <a:buNone/>
            </a:pPr>
            <a:r>
              <a:rPr b="1" i="0" lang="en-US" sz="1459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descr="Bandera de España - Wikipedia, la enciclopedia libre" id="87" name="Google Shape;87;p1"/>
          <p:cNvSpPr/>
          <p:nvPr/>
        </p:nvSpPr>
        <p:spPr>
          <a:xfrm>
            <a:off x="457426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575332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16" l="0" r="0" t="0"/>
            </a:stretch>
          </a:blipFill>
          <a:ln>
            <a:noFill/>
          </a:ln>
        </p:spPr>
      </p:sp>
      <p:sp>
        <p:nvSpPr>
          <p:cNvPr descr="Bandera de Jordania - Wikipedia, la enciclopedia libre" id="89" name="Google Shape;89;p1"/>
          <p:cNvSpPr/>
          <p:nvPr/>
        </p:nvSpPr>
        <p:spPr>
          <a:xfrm>
            <a:off x="6935692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17924" t="0"/>
            </a:stretch>
          </a:blipFill>
          <a:ln>
            <a:noFill/>
          </a:ln>
        </p:spPr>
      </p:sp>
      <p:grpSp>
        <p:nvGrpSpPr>
          <p:cNvPr id="90" name="Google Shape;90;p1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1259550" y="7954400"/>
            <a:ext cx="8989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Advanced NLP &amp; Large Language Models (LLMs)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72" t="-52938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140400" y="4762549"/>
            <a:ext cx="9867875" cy="720872"/>
            <a:chOff x="0" y="-9525"/>
            <a:chExt cx="1443136" cy="18986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443136" cy="180338"/>
            </a:xfrm>
            <a:custGeom>
              <a:rect b="b" l="l" r="r" t="t"/>
              <a:pathLst>
                <a:path extrusionOk="0" h="180338" w="1443136">
                  <a:moveTo>
                    <a:pt x="0" y="0"/>
                  </a:moveTo>
                  <a:lnTo>
                    <a:pt x="1443136" y="0"/>
                  </a:lnTo>
                  <a:lnTo>
                    <a:pt x="1443136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9525"/>
              <a:ext cx="1443136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1259561" y="2047829"/>
            <a:ext cx="10060500" cy="6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M01: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Text Preprocessing</a:t>
            </a:r>
            <a:endParaRPr b="0" i="0" sz="1400" u="none" cap="none" strike="noStrike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M02:</a:t>
            </a:r>
            <a:r>
              <a:rPr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Word and Sentence Embeddings</a:t>
            </a:r>
            <a:endParaRPr i="0" sz="1400" u="none" cap="none" strike="noStrike">
              <a:solidFill>
                <a:srgbClr val="AEAEAE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M03: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 Architectures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M04: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Entity-Centric NLP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M05: </a:t>
            </a:r>
            <a:r>
              <a:rPr b="1" i="0" lang="en-US" sz="4123" u="none" cap="none" strike="noStrik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Applied NLP Tasks</a:t>
            </a:r>
            <a:endParaRPr b="1" i="0" sz="14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M06: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Multimodal NLP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M07: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LLM Fundamentals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M08: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Prompt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M09: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 &amp; 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M10: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&amp; Real-World Projects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4" t="-52934"/>
            </a:stretch>
          </a:blipFill>
          <a:ln>
            <a:noFill/>
          </a:ln>
        </p:spPr>
      </p:sp>
      <p:sp>
        <p:nvSpPr>
          <p:cNvPr id="113" name="Google Shape;113;p4"/>
          <p:cNvSpPr txBox="1"/>
          <p:nvPr/>
        </p:nvSpPr>
        <p:spPr>
          <a:xfrm>
            <a:off x="1028700" y="2425176"/>
            <a:ext cx="140943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44"/>
              <a:buFont typeface="Arial"/>
              <a:buNone/>
            </a:pPr>
            <a:r>
              <a:rPr b="1" i="0" lang="en-US" sz="894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TEXT PREPROCESSING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028700" y="5172775"/>
            <a:ext cx="139545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1"/>
              <a:buFont typeface="Arial"/>
              <a:buNone/>
            </a:pPr>
            <a:r>
              <a:rPr lang="en-US" sz="621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Applied NLP Tasks</a:t>
            </a:r>
            <a:endParaRPr sz="621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1028700" y="1028700"/>
            <a:ext cx="5383245" cy="1023295"/>
            <a:chOff x="0" y="0"/>
            <a:chExt cx="1417800" cy="269508"/>
          </a:xfrm>
        </p:grpSpPr>
        <p:sp>
          <p:nvSpPr>
            <p:cNvPr id="116" name="Google Shape;116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7" name="Google Shape;117;p4"/>
            <p:cNvSpPr txBox="1"/>
            <p:nvPr/>
          </p:nvSpPr>
          <p:spPr>
            <a:xfrm>
              <a:off x="0" y="0"/>
              <a:ext cx="1417800" cy="2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MODULE M01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4"/>
          <p:cNvGrpSpPr/>
          <p:nvPr/>
        </p:nvGrpSpPr>
        <p:grpSpPr>
          <a:xfrm>
            <a:off x="1028700" y="3796780"/>
            <a:ext cx="5383245" cy="1023295"/>
            <a:chOff x="0" y="0"/>
            <a:chExt cx="1417800" cy="269508"/>
          </a:xfrm>
        </p:grpSpPr>
        <p:sp>
          <p:nvSpPr>
            <p:cNvPr id="119" name="Google Shape;119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0" name="Google Shape;120;p4"/>
            <p:cNvSpPr txBox="1"/>
            <p:nvPr/>
          </p:nvSpPr>
          <p:spPr>
            <a:xfrm>
              <a:off x="0" y="0"/>
              <a:ext cx="1417800" cy="2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CHAPTER M0</a:t>
              </a:r>
              <a:r>
                <a:rPr b="1" lang="en-US" sz="44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72" t="-52938"/>
            </a:stretch>
          </a:blipFill>
          <a:ln>
            <a:noFill/>
          </a:ln>
        </p:spPr>
      </p:sp>
      <p:grpSp>
        <p:nvGrpSpPr>
          <p:cNvPr id="127" name="Google Shape;127;p3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9" name="Google Shape;129;p3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1160375" y="1999376"/>
            <a:ext cx="11745663" cy="720872"/>
            <a:chOff x="0" y="-9525"/>
            <a:chExt cx="2404287" cy="189863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2" name="Google Shape;132;p3"/>
            <p:cNvSpPr txBox="1"/>
            <p:nvPr/>
          </p:nvSpPr>
          <p:spPr>
            <a:xfrm>
              <a:off x="0" y="-9525"/>
              <a:ext cx="2404287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3"/>
          <p:cNvSpPr txBox="1"/>
          <p:nvPr/>
        </p:nvSpPr>
        <p:spPr>
          <a:xfrm>
            <a:off x="1259550" y="2047825"/>
            <a:ext cx="149022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5.1 Introduction to Applied NLP Tasks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Core Task: Text Classification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Understanding User Intent: Sentiment Analysis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Reducing Information Overload: Text Summarization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Information Retrieval: Question Answering Systems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Task Comparison and the Future of Applied NLP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60d362576_0_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4" t="-52934"/>
            </a:stretch>
          </a:blipFill>
          <a:ln>
            <a:noFill/>
          </a:ln>
        </p:spPr>
      </p:sp>
      <p:sp>
        <p:nvSpPr>
          <p:cNvPr id="141" name="Google Shape;141;g3c60d362576_0_10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2" name="Google Shape;142;g3c60d362576_0_10"/>
          <p:cNvSpPr txBox="1"/>
          <p:nvPr/>
        </p:nvSpPr>
        <p:spPr>
          <a:xfrm>
            <a:off x="1028700" y="3196472"/>
            <a:ext cx="141183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From Theory to Applied NLP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3" name="Google Shape;143;g3c60d362576_0_10"/>
          <p:cNvSpPr txBox="1"/>
          <p:nvPr/>
        </p:nvSpPr>
        <p:spPr>
          <a:xfrm>
            <a:off x="1503174" y="4308975"/>
            <a:ext cx="6788700" cy="3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NLP moves from mathematical modeling to real-world problem solving.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Applied NLP focuses on business, industrial, and societal value.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Models are evaluated by usefulness, not only benchmark scores.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This module connects Transformers to production systems.</a:t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4" name="Google Shape;144;g3c60d362576_0_1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5" name="Google Shape;145;g3c60d362576_0_1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6" name="Google Shape;146;g3c60d362576_0_1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g3c60d362576_0_1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g3c60d362576_0_1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9" name="Google Shape;149;g3c60d362576_0_1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0" name="Google Shape;150;g3c60d362576_0_1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1" name="Google Shape;151;g3c60d362576_0_10" title="ChatGPT Image 5 feb 2026, 08_49_35.png"/>
          <p:cNvPicPr preferRelativeResize="0"/>
          <p:nvPr/>
        </p:nvPicPr>
        <p:blipFill rotWithShape="1">
          <a:blip r:embed="rId5">
            <a:alphaModFix/>
          </a:blip>
          <a:srcRect b="14369" l="0" r="0" t="6504"/>
          <a:stretch/>
        </p:blipFill>
        <p:spPr>
          <a:xfrm>
            <a:off x="9244586" y="3429000"/>
            <a:ext cx="8014714" cy="422787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2" name="Google Shape;152;g3c60d362576_0_10"/>
          <p:cNvGrpSpPr/>
          <p:nvPr/>
        </p:nvGrpSpPr>
        <p:grpSpPr>
          <a:xfrm>
            <a:off x="1111525" y="4308969"/>
            <a:ext cx="226949" cy="588026"/>
            <a:chOff x="0" y="0"/>
            <a:chExt cx="80174" cy="123748"/>
          </a:xfrm>
        </p:grpSpPr>
        <p:sp>
          <p:nvSpPr>
            <p:cNvPr id="153" name="Google Shape;153;g3c60d362576_0_1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4" name="Google Shape;154;g3c60d362576_0_1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g3c60d362576_0_10"/>
          <p:cNvGrpSpPr/>
          <p:nvPr/>
        </p:nvGrpSpPr>
        <p:grpSpPr>
          <a:xfrm>
            <a:off x="1111525" y="5243219"/>
            <a:ext cx="226949" cy="588026"/>
            <a:chOff x="0" y="0"/>
            <a:chExt cx="80174" cy="123748"/>
          </a:xfrm>
        </p:grpSpPr>
        <p:sp>
          <p:nvSpPr>
            <p:cNvPr id="156" name="Google Shape;156;g3c60d362576_0_1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7" name="Google Shape;157;g3c60d362576_0_1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g3c60d362576_0_10"/>
          <p:cNvGrpSpPr/>
          <p:nvPr/>
        </p:nvGrpSpPr>
        <p:grpSpPr>
          <a:xfrm>
            <a:off x="1111525" y="6177469"/>
            <a:ext cx="226949" cy="588026"/>
            <a:chOff x="0" y="0"/>
            <a:chExt cx="80174" cy="123748"/>
          </a:xfrm>
        </p:grpSpPr>
        <p:sp>
          <p:nvSpPr>
            <p:cNvPr id="159" name="Google Shape;159;g3c60d362576_0_1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60" name="Google Shape;160;g3c60d362576_0_1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g3c60d362576_0_10"/>
          <p:cNvGrpSpPr/>
          <p:nvPr/>
        </p:nvGrpSpPr>
        <p:grpSpPr>
          <a:xfrm>
            <a:off x="1111525" y="7111719"/>
            <a:ext cx="226949" cy="588026"/>
            <a:chOff x="0" y="0"/>
            <a:chExt cx="80174" cy="123748"/>
          </a:xfrm>
        </p:grpSpPr>
        <p:sp>
          <p:nvSpPr>
            <p:cNvPr id="162" name="Google Shape;162;g3c60d362576_0_1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63" name="Google Shape;163;g3c60d362576_0_1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60d362576_0_44"/>
          <p:cNvSpPr/>
          <p:nvPr/>
        </p:nvSpPr>
        <p:spPr>
          <a:xfrm>
            <a:off x="0" y="-87812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4" t="-52934"/>
            </a:stretch>
          </a:blipFill>
          <a:ln cap="flat" cmpd="sng" w="9525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c60d362576_0_44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70" name="Google Shape;170;g3c60d362576_0_44"/>
          <p:cNvSpPr txBox="1"/>
          <p:nvPr/>
        </p:nvSpPr>
        <p:spPr>
          <a:xfrm>
            <a:off x="1028700" y="3196475"/>
            <a:ext cx="6667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Applied NLP Task Families</a:t>
            </a:r>
            <a:endParaRPr b="1" i="0" sz="4262" u="none" cap="none" strike="noStrike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71" name="Google Shape;171;g3c60d362576_0_44"/>
          <p:cNvSpPr txBox="1"/>
          <p:nvPr/>
        </p:nvSpPr>
        <p:spPr>
          <a:xfrm>
            <a:off x="1477723" y="4304353"/>
            <a:ext cx="70989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Applied NLP tasks fall into two paradigms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Tasks are defined by what the model produces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Choice impacts architecture, evaluation, and cost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72" name="Google Shape;172;g3c60d362576_0_4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73" name="Google Shape;173;g3c60d362576_0_4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4" name="Google Shape;174;g3c60d362576_0_4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g3c60d362576_0_4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6" name="Google Shape;176;g3c60d362576_0_4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77" name="Google Shape;177;g3c60d362576_0_4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8" name="Google Shape;178;g3c60d362576_0_4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g3c60d362576_0_44"/>
          <p:cNvGrpSpPr/>
          <p:nvPr/>
        </p:nvGrpSpPr>
        <p:grpSpPr>
          <a:xfrm>
            <a:off x="1038788" y="4253134"/>
            <a:ext cx="259162" cy="400015"/>
            <a:chOff x="0" y="0"/>
            <a:chExt cx="80174" cy="123748"/>
          </a:xfrm>
        </p:grpSpPr>
        <p:sp>
          <p:nvSpPr>
            <p:cNvPr id="180" name="Google Shape;180;g3c60d362576_0_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1" name="Google Shape;181;g3c60d362576_0_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g3c60d362576_0_44"/>
          <p:cNvGrpSpPr/>
          <p:nvPr/>
        </p:nvGrpSpPr>
        <p:grpSpPr>
          <a:xfrm>
            <a:off x="1038799" y="4841904"/>
            <a:ext cx="259162" cy="400015"/>
            <a:chOff x="0" y="0"/>
            <a:chExt cx="80174" cy="123748"/>
          </a:xfrm>
        </p:grpSpPr>
        <p:sp>
          <p:nvSpPr>
            <p:cNvPr id="183" name="Google Shape;183;g3c60d362576_0_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4" name="Google Shape;184;g3c60d362576_0_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g3c60d362576_0_44"/>
          <p:cNvGrpSpPr/>
          <p:nvPr/>
        </p:nvGrpSpPr>
        <p:grpSpPr>
          <a:xfrm>
            <a:off x="1054899" y="5507324"/>
            <a:ext cx="226949" cy="588026"/>
            <a:chOff x="0" y="0"/>
            <a:chExt cx="80174" cy="123748"/>
          </a:xfrm>
        </p:grpSpPr>
        <p:sp>
          <p:nvSpPr>
            <p:cNvPr id="186" name="Google Shape;186;g3c60d362576_0_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7" name="Google Shape;187;g3c60d362576_0_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8" name="Google Shape;188;g3c60d362576_0_44" title="ChatGPT Image 5 feb 2026, 08_55_35.png"/>
          <p:cNvPicPr preferRelativeResize="0"/>
          <p:nvPr/>
        </p:nvPicPr>
        <p:blipFill rotWithShape="1">
          <a:blip r:embed="rId5">
            <a:alphaModFix/>
          </a:blip>
          <a:srcRect b="12534" l="9666" r="6637" t="10137"/>
          <a:stretch/>
        </p:blipFill>
        <p:spPr>
          <a:xfrm>
            <a:off x="10395600" y="3397675"/>
            <a:ext cx="6417573" cy="395267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39f84b5ae_2_13"/>
          <p:cNvSpPr/>
          <p:nvPr/>
        </p:nvSpPr>
        <p:spPr>
          <a:xfrm>
            <a:off x="0" y="-12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94" name="Google Shape;194;g3939f84b5ae_2_13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5" name="Google Shape;195;g3939f84b5ae_2_13"/>
          <p:cNvSpPr txBox="1"/>
          <p:nvPr/>
        </p:nvSpPr>
        <p:spPr>
          <a:xfrm>
            <a:off x="1028700" y="3196475"/>
            <a:ext cx="6667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Discriminative Tasks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g3939f84b5ae_2_13"/>
          <p:cNvSpPr txBox="1"/>
          <p:nvPr/>
        </p:nvSpPr>
        <p:spPr>
          <a:xfrm>
            <a:off x="1461348" y="4134476"/>
            <a:ext cx="75876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Output: predefined labels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Goal: decision, filtering, categorization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Typical architectures: Encoder-only (BERT-style)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Metrics: Accuracy, Precision, Recall, F1-score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Examples: classification, sentiment, NER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97" name="Google Shape;197;g3939f84b5ae_2_1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98" name="Google Shape;198;g3939f84b5ae_2_1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99" name="Google Shape;199;g3939f84b5ae_2_1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g3939f84b5ae_2_1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1" name="Google Shape;201;g3939f84b5ae_2_1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02" name="Google Shape;202;g3939f84b5ae_2_1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3" name="Google Shape;203;g3939f84b5ae_2_1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g3939f84b5ae_2_13"/>
          <p:cNvGrpSpPr/>
          <p:nvPr/>
        </p:nvGrpSpPr>
        <p:grpSpPr>
          <a:xfrm>
            <a:off x="1001050" y="4064373"/>
            <a:ext cx="259146" cy="400028"/>
            <a:chOff x="0" y="0"/>
            <a:chExt cx="80174" cy="123748"/>
          </a:xfrm>
        </p:grpSpPr>
        <p:sp>
          <p:nvSpPr>
            <p:cNvPr id="205" name="Google Shape;205;g3939f84b5ae_2_1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6" name="Google Shape;206;g3939f84b5ae_2_1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g3939f84b5ae_2_13"/>
          <p:cNvGrpSpPr/>
          <p:nvPr/>
        </p:nvGrpSpPr>
        <p:grpSpPr>
          <a:xfrm>
            <a:off x="1001048" y="4690902"/>
            <a:ext cx="259162" cy="400015"/>
            <a:chOff x="0" y="0"/>
            <a:chExt cx="80174" cy="123748"/>
          </a:xfrm>
        </p:grpSpPr>
        <p:sp>
          <p:nvSpPr>
            <p:cNvPr id="208" name="Google Shape;208;g3939f84b5ae_2_1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9" name="Google Shape;209;g3939f84b5ae_2_1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g3939f84b5ae_2_13"/>
          <p:cNvGrpSpPr/>
          <p:nvPr/>
        </p:nvGrpSpPr>
        <p:grpSpPr>
          <a:xfrm>
            <a:off x="1002446" y="5296307"/>
            <a:ext cx="259162" cy="400015"/>
            <a:chOff x="0" y="0"/>
            <a:chExt cx="80174" cy="123748"/>
          </a:xfrm>
        </p:grpSpPr>
        <p:sp>
          <p:nvSpPr>
            <p:cNvPr id="211" name="Google Shape;211;g3939f84b5ae_2_1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2" name="Google Shape;212;g3939f84b5ae_2_1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g3939f84b5ae_2_13"/>
          <p:cNvGrpSpPr/>
          <p:nvPr/>
        </p:nvGrpSpPr>
        <p:grpSpPr>
          <a:xfrm>
            <a:off x="984969" y="5920588"/>
            <a:ext cx="259162" cy="400015"/>
            <a:chOff x="0" y="0"/>
            <a:chExt cx="80174" cy="123748"/>
          </a:xfrm>
        </p:grpSpPr>
        <p:sp>
          <p:nvSpPr>
            <p:cNvPr id="214" name="Google Shape;214;g3939f84b5ae_2_1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5" name="Google Shape;215;g3939f84b5ae_2_1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6" name="Google Shape;216;g3939f84b5ae_2_13" title="ChatGPT Image 5 feb 2026, 08_56_41.png"/>
          <p:cNvPicPr preferRelativeResize="0"/>
          <p:nvPr/>
        </p:nvPicPr>
        <p:blipFill rotWithShape="1">
          <a:blip r:embed="rId5">
            <a:alphaModFix/>
          </a:blip>
          <a:srcRect b="18320" l="0" r="0" t="12494"/>
          <a:stretch/>
        </p:blipFill>
        <p:spPr>
          <a:xfrm>
            <a:off x="8878168" y="3441125"/>
            <a:ext cx="8381130" cy="386577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17" name="Google Shape;217;g3939f84b5ae_2_13"/>
          <p:cNvGrpSpPr/>
          <p:nvPr/>
        </p:nvGrpSpPr>
        <p:grpSpPr>
          <a:xfrm>
            <a:off x="986367" y="6525994"/>
            <a:ext cx="259162" cy="400015"/>
            <a:chOff x="0" y="0"/>
            <a:chExt cx="80174" cy="123748"/>
          </a:xfrm>
        </p:grpSpPr>
        <p:sp>
          <p:nvSpPr>
            <p:cNvPr id="218" name="Google Shape;218;g3939f84b5ae_2_1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9" name="Google Shape;219;g3939f84b5ae_2_1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39f84b5ae_2_49"/>
          <p:cNvSpPr/>
          <p:nvPr/>
        </p:nvSpPr>
        <p:spPr>
          <a:xfrm>
            <a:off x="0" y="-12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225" name="Google Shape;225;g3939f84b5ae_2_49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6" name="Google Shape;226;g3939f84b5ae_2_49"/>
          <p:cNvSpPr txBox="1"/>
          <p:nvPr/>
        </p:nvSpPr>
        <p:spPr>
          <a:xfrm>
            <a:off x="1028700" y="3196475"/>
            <a:ext cx="6667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Generative Tasks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g3939f84b5ae_2_49"/>
          <p:cNvSpPr txBox="1"/>
          <p:nvPr/>
        </p:nvSpPr>
        <p:spPr>
          <a:xfrm>
            <a:off x="1383948" y="4156375"/>
            <a:ext cx="7905600" cy="3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Output: newly generated text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Goal: synthesis, explanation, abstraction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Typical architectures: Decoder or Encoder–Decoder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Evaluation is probabilistic and semantic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Examples: summarization, QA, text generation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28" name="Google Shape;228;g3939f84b5ae_2_4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29" name="Google Shape;229;g3939f84b5ae_2_4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0" name="Google Shape;230;g3939f84b5ae_2_4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1" name="Google Shape;231;g3939f84b5ae_2_4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2" name="Google Shape;232;g3939f84b5ae_2_4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33" name="Google Shape;233;g3939f84b5ae_2_4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4" name="Google Shape;234;g3939f84b5ae_2_4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g3939f84b5ae_2_49"/>
          <p:cNvGrpSpPr/>
          <p:nvPr/>
        </p:nvGrpSpPr>
        <p:grpSpPr>
          <a:xfrm>
            <a:off x="963299" y="4123096"/>
            <a:ext cx="259146" cy="400028"/>
            <a:chOff x="0" y="0"/>
            <a:chExt cx="80174" cy="123748"/>
          </a:xfrm>
        </p:grpSpPr>
        <p:sp>
          <p:nvSpPr>
            <p:cNvPr id="236" name="Google Shape;236;g3939f84b5ae_2_4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7" name="Google Shape;237;g3939f84b5ae_2_4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g3939f84b5ae_2_49"/>
          <p:cNvGrpSpPr/>
          <p:nvPr/>
        </p:nvGrpSpPr>
        <p:grpSpPr>
          <a:xfrm>
            <a:off x="963298" y="4711877"/>
            <a:ext cx="259162" cy="400015"/>
            <a:chOff x="0" y="0"/>
            <a:chExt cx="80174" cy="123748"/>
          </a:xfrm>
        </p:grpSpPr>
        <p:sp>
          <p:nvSpPr>
            <p:cNvPr id="239" name="Google Shape;239;g3939f84b5ae_2_4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0" name="Google Shape;240;g3939f84b5ae_2_4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g3939f84b5ae_2_49"/>
          <p:cNvGrpSpPr/>
          <p:nvPr/>
        </p:nvGrpSpPr>
        <p:grpSpPr>
          <a:xfrm>
            <a:off x="963300" y="5357276"/>
            <a:ext cx="259146" cy="400028"/>
            <a:chOff x="0" y="0"/>
            <a:chExt cx="80174" cy="123748"/>
          </a:xfrm>
        </p:grpSpPr>
        <p:sp>
          <p:nvSpPr>
            <p:cNvPr id="242" name="Google Shape;242;g3939f84b5ae_2_4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3" name="Google Shape;243;g3939f84b5ae_2_4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g3939f84b5ae_2_49"/>
          <p:cNvGrpSpPr/>
          <p:nvPr/>
        </p:nvGrpSpPr>
        <p:grpSpPr>
          <a:xfrm>
            <a:off x="963294" y="5983789"/>
            <a:ext cx="259162" cy="400015"/>
            <a:chOff x="0" y="0"/>
            <a:chExt cx="80174" cy="123748"/>
          </a:xfrm>
        </p:grpSpPr>
        <p:sp>
          <p:nvSpPr>
            <p:cNvPr id="245" name="Google Shape;245;g3939f84b5ae_2_4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6" name="Google Shape;246;g3939f84b5ae_2_4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g3939f84b5ae_2_49"/>
          <p:cNvGrpSpPr/>
          <p:nvPr/>
        </p:nvGrpSpPr>
        <p:grpSpPr>
          <a:xfrm>
            <a:off x="963292" y="6591420"/>
            <a:ext cx="259162" cy="400015"/>
            <a:chOff x="0" y="0"/>
            <a:chExt cx="80174" cy="123748"/>
          </a:xfrm>
        </p:grpSpPr>
        <p:sp>
          <p:nvSpPr>
            <p:cNvPr id="248" name="Google Shape;248;g3939f84b5ae_2_4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9" name="Google Shape;249;g3939f84b5ae_2_4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0" name="Google Shape;250;g3939f84b5ae_2_49" title="ChatGPT Image 5 feb 2026, 08_57_39.png"/>
          <p:cNvPicPr preferRelativeResize="0"/>
          <p:nvPr/>
        </p:nvPicPr>
        <p:blipFill rotWithShape="1">
          <a:blip r:embed="rId5">
            <a:alphaModFix/>
          </a:blip>
          <a:srcRect b="17452" l="0" r="0" t="9831"/>
          <a:stretch/>
        </p:blipFill>
        <p:spPr>
          <a:xfrm>
            <a:off x="9995775" y="3382824"/>
            <a:ext cx="7263525" cy="352134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39f84b5ae_2_80"/>
          <p:cNvSpPr/>
          <p:nvPr/>
        </p:nvSpPr>
        <p:spPr>
          <a:xfrm>
            <a:off x="0" y="-12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256" name="Google Shape;256;g3939f84b5ae_2_80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7" name="Google Shape;257;g3939f84b5ae_2_80"/>
          <p:cNvSpPr txBox="1"/>
          <p:nvPr/>
        </p:nvSpPr>
        <p:spPr>
          <a:xfrm>
            <a:off x="1028700" y="3196475"/>
            <a:ext cx="91782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Benchmarks and Model Readiness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8" name="Google Shape;258;g3939f84b5ae_2_80"/>
          <p:cNvSpPr txBox="1"/>
          <p:nvPr/>
        </p:nvSpPr>
        <p:spPr>
          <a:xfrm>
            <a:off x="1403923" y="4256249"/>
            <a:ext cx="79056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Benchmarks standardize model comparison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GLUE and SuperGLUE measure reasoning ability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High benchmark scores ≠ production readiness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 adapts models to domain-specific tasks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59" name="Google Shape;259;g3939f84b5ae_2_8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60" name="Google Shape;260;g3939f84b5ae_2_8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1" name="Google Shape;261;g3939f84b5ae_2_8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g3939f84b5ae_2_8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3" name="Google Shape;263;g3939f84b5ae_2_8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64" name="Google Shape;264;g3939f84b5ae_2_8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5" name="Google Shape;265;g3939f84b5ae_2_8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g3939f84b5ae_2_80"/>
          <p:cNvGrpSpPr/>
          <p:nvPr/>
        </p:nvGrpSpPr>
        <p:grpSpPr>
          <a:xfrm>
            <a:off x="963299" y="4183020"/>
            <a:ext cx="259146" cy="400028"/>
            <a:chOff x="0" y="0"/>
            <a:chExt cx="80174" cy="123748"/>
          </a:xfrm>
        </p:grpSpPr>
        <p:sp>
          <p:nvSpPr>
            <p:cNvPr id="267" name="Google Shape;267;g3939f84b5ae_2_8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8" name="Google Shape;268;g3939f84b5ae_2_8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g3939f84b5ae_2_80"/>
          <p:cNvGrpSpPr/>
          <p:nvPr/>
        </p:nvGrpSpPr>
        <p:grpSpPr>
          <a:xfrm>
            <a:off x="963298" y="4771801"/>
            <a:ext cx="259162" cy="400015"/>
            <a:chOff x="0" y="0"/>
            <a:chExt cx="80174" cy="123748"/>
          </a:xfrm>
        </p:grpSpPr>
        <p:sp>
          <p:nvSpPr>
            <p:cNvPr id="270" name="Google Shape;270;g3939f84b5ae_2_8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1" name="Google Shape;271;g3939f84b5ae_2_8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g3939f84b5ae_2_80"/>
          <p:cNvGrpSpPr/>
          <p:nvPr/>
        </p:nvGrpSpPr>
        <p:grpSpPr>
          <a:xfrm>
            <a:off x="963300" y="5417200"/>
            <a:ext cx="259146" cy="400028"/>
            <a:chOff x="0" y="0"/>
            <a:chExt cx="80174" cy="123748"/>
          </a:xfrm>
        </p:grpSpPr>
        <p:sp>
          <p:nvSpPr>
            <p:cNvPr id="273" name="Google Shape;273;g3939f84b5ae_2_8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4" name="Google Shape;274;g3939f84b5ae_2_8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g3939f84b5ae_2_80"/>
          <p:cNvGrpSpPr/>
          <p:nvPr/>
        </p:nvGrpSpPr>
        <p:grpSpPr>
          <a:xfrm>
            <a:off x="963294" y="6043714"/>
            <a:ext cx="259162" cy="400015"/>
            <a:chOff x="0" y="0"/>
            <a:chExt cx="80174" cy="123748"/>
          </a:xfrm>
        </p:grpSpPr>
        <p:sp>
          <p:nvSpPr>
            <p:cNvPr id="276" name="Google Shape;276;g3939f84b5ae_2_8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7" name="Google Shape;277;g3939f84b5ae_2_8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8" name="Google Shape;278;g3939f84b5ae_2_80" title="ChatGPT Image 5 feb 2026, 08_58_14.png"/>
          <p:cNvPicPr preferRelativeResize="0"/>
          <p:nvPr/>
        </p:nvPicPr>
        <p:blipFill rotWithShape="1">
          <a:blip r:embed="rId5">
            <a:alphaModFix/>
          </a:blip>
          <a:srcRect b="14279" l="20456" r="19164" t="18234"/>
          <a:stretch/>
        </p:blipFill>
        <p:spPr>
          <a:xfrm>
            <a:off x="10747775" y="3104076"/>
            <a:ext cx="5473824" cy="407882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39f84b5ae_2_111"/>
          <p:cNvSpPr/>
          <p:nvPr/>
        </p:nvSpPr>
        <p:spPr>
          <a:xfrm>
            <a:off x="0" y="-12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284" name="Google Shape;284;g3939f84b5ae_2_111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85" name="Google Shape;285;g3939f84b5ae_2_11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86" name="Google Shape;286;g3939f84b5ae_2_11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7" name="Google Shape;287;g3939f84b5ae_2_11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" name="Google Shape;288;g3939f84b5ae_2_11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9" name="Google Shape;289;g3939f84b5ae_2_11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90" name="Google Shape;290;g3939f84b5ae_2_11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91" name="Google Shape;291;g3939f84b5ae_2_11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2" name="Google Shape;292;g3939f84b5ae_2_111" title="Diagram type_ Enterprise risk analysis schematic, minimalist, technical. - visual selection.png"/>
          <p:cNvPicPr preferRelativeResize="0"/>
          <p:nvPr/>
        </p:nvPicPr>
        <p:blipFill rotWithShape="1">
          <a:blip r:embed="rId5">
            <a:alphaModFix/>
          </a:blip>
          <a:srcRect b="5437" l="5690" r="6628" t="0"/>
          <a:stretch/>
        </p:blipFill>
        <p:spPr>
          <a:xfrm>
            <a:off x="11159205" y="3344075"/>
            <a:ext cx="6100096" cy="408064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3" name="Google Shape;293;g3939f84b5ae_2_111"/>
          <p:cNvSpPr txBox="1"/>
          <p:nvPr/>
        </p:nvSpPr>
        <p:spPr>
          <a:xfrm>
            <a:off x="963300" y="3172050"/>
            <a:ext cx="99897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Production Challenges in Applied NLP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94" name="Google Shape;294;g3939f84b5ae_2_111"/>
          <p:cNvSpPr txBox="1"/>
          <p:nvPr/>
        </p:nvSpPr>
        <p:spPr>
          <a:xfrm>
            <a:off x="1403923" y="4256249"/>
            <a:ext cx="79056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Benchmarks standardize model comparison.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GLUE and SuperGLUE measure reasoning ability.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High benchmark scores ≠ production readiness.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 adapts models to domain-specific tasks.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95" name="Google Shape;295;g3939f84b5ae_2_111"/>
          <p:cNvGrpSpPr/>
          <p:nvPr/>
        </p:nvGrpSpPr>
        <p:grpSpPr>
          <a:xfrm>
            <a:off x="963299" y="4183020"/>
            <a:ext cx="259146" cy="400028"/>
            <a:chOff x="0" y="0"/>
            <a:chExt cx="80174" cy="123748"/>
          </a:xfrm>
        </p:grpSpPr>
        <p:sp>
          <p:nvSpPr>
            <p:cNvPr id="296" name="Google Shape;296;g3939f84b5ae_2_1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97" name="Google Shape;297;g3939f84b5ae_2_1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g3939f84b5ae_2_111"/>
          <p:cNvGrpSpPr/>
          <p:nvPr/>
        </p:nvGrpSpPr>
        <p:grpSpPr>
          <a:xfrm>
            <a:off x="963298" y="4771801"/>
            <a:ext cx="259162" cy="400015"/>
            <a:chOff x="0" y="0"/>
            <a:chExt cx="80174" cy="123748"/>
          </a:xfrm>
        </p:grpSpPr>
        <p:sp>
          <p:nvSpPr>
            <p:cNvPr id="299" name="Google Shape;299;g3939f84b5ae_2_1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0" name="Google Shape;300;g3939f84b5ae_2_1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g3939f84b5ae_2_111"/>
          <p:cNvGrpSpPr/>
          <p:nvPr/>
        </p:nvGrpSpPr>
        <p:grpSpPr>
          <a:xfrm>
            <a:off x="963300" y="5417200"/>
            <a:ext cx="259146" cy="400028"/>
            <a:chOff x="0" y="0"/>
            <a:chExt cx="80174" cy="123748"/>
          </a:xfrm>
        </p:grpSpPr>
        <p:sp>
          <p:nvSpPr>
            <p:cNvPr id="302" name="Google Shape;302;g3939f84b5ae_2_1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3" name="Google Shape;303;g3939f84b5ae_2_1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g3939f84b5ae_2_111"/>
          <p:cNvGrpSpPr/>
          <p:nvPr/>
        </p:nvGrpSpPr>
        <p:grpSpPr>
          <a:xfrm>
            <a:off x="963294" y="6043714"/>
            <a:ext cx="259162" cy="400015"/>
            <a:chOff x="0" y="0"/>
            <a:chExt cx="80174" cy="123748"/>
          </a:xfrm>
        </p:grpSpPr>
        <p:sp>
          <p:nvSpPr>
            <p:cNvPr id="305" name="Google Shape;305;g3939f84b5ae_2_1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6" name="Google Shape;306;g3939f84b5ae_2_1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39f84b5ae_2_139"/>
          <p:cNvSpPr/>
          <p:nvPr/>
        </p:nvSpPr>
        <p:spPr>
          <a:xfrm>
            <a:off x="0" y="-12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312" name="Google Shape;312;g3939f84b5ae_2_139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13" name="Google Shape;313;g3939f84b5ae_2_139"/>
          <p:cNvSpPr txBox="1"/>
          <p:nvPr/>
        </p:nvSpPr>
        <p:spPr>
          <a:xfrm>
            <a:off x="963300" y="3172050"/>
            <a:ext cx="75681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Modular Pipelines vs End-to-End Models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14" name="Google Shape;314;g3939f84b5ae_2_139"/>
          <p:cNvSpPr txBox="1"/>
          <p:nvPr/>
        </p:nvSpPr>
        <p:spPr>
          <a:xfrm>
            <a:off x="1503375" y="4808050"/>
            <a:ext cx="5889600" cy="3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End-to-End: simpler, faster to prototype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Modular pipelines: more explainable and controllable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Enterprises often combine both approaches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Design choice depends on scale and regulation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15" name="Google Shape;315;g3939f84b5ae_2_13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16" name="Google Shape;316;g3939f84b5ae_2_13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17" name="Google Shape;317;g3939f84b5ae_2_13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g3939f84b5ae_2_13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9" name="Google Shape;319;g3939f84b5ae_2_13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20" name="Google Shape;320;g3939f84b5ae_2_13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1" name="Google Shape;321;g3939f84b5ae_2_13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g3939f84b5ae_2_139"/>
          <p:cNvGrpSpPr/>
          <p:nvPr/>
        </p:nvGrpSpPr>
        <p:grpSpPr>
          <a:xfrm>
            <a:off x="1016214" y="4755135"/>
            <a:ext cx="259162" cy="400015"/>
            <a:chOff x="0" y="0"/>
            <a:chExt cx="80174" cy="123748"/>
          </a:xfrm>
        </p:grpSpPr>
        <p:sp>
          <p:nvSpPr>
            <p:cNvPr id="323" name="Google Shape;323;g3939f84b5ae_2_13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4" name="Google Shape;324;g3939f84b5ae_2_13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g3939f84b5ae_2_139"/>
          <p:cNvGrpSpPr/>
          <p:nvPr/>
        </p:nvGrpSpPr>
        <p:grpSpPr>
          <a:xfrm>
            <a:off x="1016225" y="5457499"/>
            <a:ext cx="259146" cy="589535"/>
            <a:chOff x="0" y="0"/>
            <a:chExt cx="80174" cy="123748"/>
          </a:xfrm>
        </p:grpSpPr>
        <p:sp>
          <p:nvSpPr>
            <p:cNvPr id="326" name="Google Shape;326;g3939f84b5ae_2_13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7" name="Google Shape;327;g3939f84b5ae_2_13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g3939f84b5ae_2_139" title="Diagram type_ System architecture comparison diagram, technical and schematic. - visual selection.png"/>
          <p:cNvPicPr preferRelativeResize="0"/>
          <p:nvPr/>
        </p:nvPicPr>
        <p:blipFill rotWithShape="1">
          <a:blip r:embed="rId5">
            <a:alphaModFix/>
          </a:blip>
          <a:srcRect b="6478" l="0" r="0" t="6330"/>
          <a:stretch/>
        </p:blipFill>
        <p:spPr>
          <a:xfrm>
            <a:off x="7853600" y="3172052"/>
            <a:ext cx="3953975" cy="581648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29" name="Google Shape;329;g3939f84b5ae_2_139"/>
          <p:cNvGrpSpPr/>
          <p:nvPr/>
        </p:nvGrpSpPr>
        <p:grpSpPr>
          <a:xfrm>
            <a:off x="1016225" y="6365650"/>
            <a:ext cx="259146" cy="589535"/>
            <a:chOff x="0" y="0"/>
            <a:chExt cx="80174" cy="123748"/>
          </a:xfrm>
        </p:grpSpPr>
        <p:sp>
          <p:nvSpPr>
            <p:cNvPr id="330" name="Google Shape;330;g3939f84b5ae_2_13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1" name="Google Shape;331;g3939f84b5ae_2_13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g3939f84b5ae_2_139"/>
          <p:cNvGrpSpPr/>
          <p:nvPr/>
        </p:nvGrpSpPr>
        <p:grpSpPr>
          <a:xfrm>
            <a:off x="1008725" y="7217575"/>
            <a:ext cx="259146" cy="589535"/>
            <a:chOff x="0" y="0"/>
            <a:chExt cx="80174" cy="123748"/>
          </a:xfrm>
        </p:grpSpPr>
        <p:sp>
          <p:nvSpPr>
            <p:cNvPr id="333" name="Google Shape;333;g3939f84b5ae_2_13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4" name="Google Shape;334;g3939f84b5ae_2_13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39f84b5ae_2_167"/>
          <p:cNvSpPr/>
          <p:nvPr/>
        </p:nvSpPr>
        <p:spPr>
          <a:xfrm>
            <a:off x="-10071" y="-12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340" name="Google Shape;340;g3939f84b5ae_2_167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41" name="Google Shape;341;g3939f84b5ae_2_167"/>
          <p:cNvSpPr txBox="1"/>
          <p:nvPr/>
        </p:nvSpPr>
        <p:spPr>
          <a:xfrm>
            <a:off x="963300" y="3172050"/>
            <a:ext cx="68817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Why This Module Matters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42" name="Google Shape;342;g3939f84b5ae_2_167"/>
          <p:cNvSpPr txBox="1"/>
          <p:nvPr/>
        </p:nvSpPr>
        <p:spPr>
          <a:xfrm>
            <a:off x="1309359" y="4135450"/>
            <a:ext cx="79056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Applied NLP turns language into action.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Tasks define how AI creates value.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task structure prevents misuse.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Next chapters deep-dive into each task.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43" name="Google Shape;343;g3939f84b5ae_2_16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44" name="Google Shape;344;g3939f84b5ae_2_16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45" name="Google Shape;345;g3939f84b5ae_2_16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Google Shape;346;g3939f84b5ae_2_16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7" name="Google Shape;347;g3939f84b5ae_2_16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48" name="Google Shape;348;g3939f84b5ae_2_16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49" name="Google Shape;349;g3939f84b5ae_2_16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g3939f84b5ae_2_167"/>
          <p:cNvGrpSpPr/>
          <p:nvPr/>
        </p:nvGrpSpPr>
        <p:grpSpPr>
          <a:xfrm flipH="1">
            <a:off x="822202" y="6069775"/>
            <a:ext cx="259146" cy="400028"/>
            <a:chOff x="0" y="0"/>
            <a:chExt cx="80174" cy="123748"/>
          </a:xfrm>
        </p:grpSpPr>
        <p:sp>
          <p:nvSpPr>
            <p:cNvPr id="351" name="Google Shape;351;g3939f84b5ae_2_16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2" name="Google Shape;352;g3939f84b5ae_2_16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g3939f84b5ae_2_167"/>
          <p:cNvGrpSpPr/>
          <p:nvPr/>
        </p:nvGrpSpPr>
        <p:grpSpPr>
          <a:xfrm>
            <a:off x="822189" y="4082535"/>
            <a:ext cx="259162" cy="400015"/>
            <a:chOff x="0" y="0"/>
            <a:chExt cx="80174" cy="123748"/>
          </a:xfrm>
        </p:grpSpPr>
        <p:sp>
          <p:nvSpPr>
            <p:cNvPr id="354" name="Google Shape;354;g3939f84b5ae_2_16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5" name="Google Shape;355;g3939f84b5ae_2_16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g3939f84b5ae_2_167"/>
          <p:cNvGrpSpPr/>
          <p:nvPr/>
        </p:nvGrpSpPr>
        <p:grpSpPr>
          <a:xfrm>
            <a:off x="822200" y="4744951"/>
            <a:ext cx="259146" cy="400028"/>
            <a:chOff x="0" y="0"/>
            <a:chExt cx="80174" cy="123748"/>
          </a:xfrm>
        </p:grpSpPr>
        <p:sp>
          <p:nvSpPr>
            <p:cNvPr id="357" name="Google Shape;357;g3939f84b5ae_2_16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8" name="Google Shape;358;g3939f84b5ae_2_16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g3939f84b5ae_2_167"/>
          <p:cNvGrpSpPr/>
          <p:nvPr/>
        </p:nvGrpSpPr>
        <p:grpSpPr>
          <a:xfrm>
            <a:off x="822194" y="5407364"/>
            <a:ext cx="259162" cy="400015"/>
            <a:chOff x="0" y="0"/>
            <a:chExt cx="80174" cy="123748"/>
          </a:xfrm>
        </p:grpSpPr>
        <p:sp>
          <p:nvSpPr>
            <p:cNvPr id="360" name="Google Shape;360;g3939f84b5ae_2_16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1" name="Google Shape;361;g3939f84b5ae_2_16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2" name="Google Shape;362;g3939f84b5ae_2_167" title="Diagram type_ Conceptual summary diagram, academic and technical. - visual selection.png"/>
          <p:cNvPicPr preferRelativeResize="0"/>
          <p:nvPr/>
        </p:nvPicPr>
        <p:blipFill rotWithShape="1">
          <a:blip r:embed="rId5">
            <a:alphaModFix/>
          </a:blip>
          <a:srcRect b="6690" l="0" r="1797" t="0"/>
          <a:stretch/>
        </p:blipFill>
        <p:spPr>
          <a:xfrm>
            <a:off x="9075125" y="3093218"/>
            <a:ext cx="7635049" cy="3824383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39f84b5ae_2_2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67" t="-52938"/>
            </a:stretch>
          </a:blipFill>
          <a:ln>
            <a:noFill/>
          </a:ln>
        </p:spPr>
      </p:sp>
      <p:grpSp>
        <p:nvGrpSpPr>
          <p:cNvPr id="368" name="Google Shape;368;g3939f84b5ae_2_210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369" name="Google Shape;369;g3939f84b5ae_2_210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70" name="Google Shape;370;g3939f84b5ae_2_210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1" name="Google Shape;371;g3939f84b5ae_2_210"/>
          <p:cNvGrpSpPr/>
          <p:nvPr/>
        </p:nvGrpSpPr>
        <p:grpSpPr>
          <a:xfrm>
            <a:off x="1150675" y="2498625"/>
            <a:ext cx="8787909" cy="720993"/>
            <a:chOff x="0" y="-9525"/>
            <a:chExt cx="2404287" cy="189900"/>
          </a:xfrm>
        </p:grpSpPr>
        <p:sp>
          <p:nvSpPr>
            <p:cNvPr id="372" name="Google Shape;372;g3939f84b5ae_2_210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73" name="Google Shape;373;g3939f84b5ae_2_210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g3939f84b5ae_2_210"/>
          <p:cNvSpPr txBox="1"/>
          <p:nvPr/>
        </p:nvSpPr>
        <p:spPr>
          <a:xfrm>
            <a:off x="1270524" y="1847025"/>
            <a:ext cx="149022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5.1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123">
              <a:solidFill>
                <a:srgbClr val="AEAEAE"/>
              </a:solidFill>
              <a:highlight>
                <a:schemeClr val="lt1"/>
              </a:highlight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5.2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Core Task: Text 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Classification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Understanding User Intent: Sentiment Analysis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Reducing Information Overload: Text Summarization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Information Retrieval: Question Answering Systems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Task Comparison and the Future of Applied NLP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75" name="Google Shape;375;g3939f84b5ae_2_21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6" name="Google Shape;376;g3939f84b5ae_2_210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39f84b5ae_2_223"/>
          <p:cNvSpPr/>
          <p:nvPr/>
        </p:nvSpPr>
        <p:spPr>
          <a:xfrm>
            <a:off x="0" y="-51800"/>
            <a:ext cx="18288000" cy="10518458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382" name="Google Shape;382;g3939f84b5ae_2_223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3" name="Google Shape;383;g3939f84b5ae_2_223"/>
          <p:cNvSpPr txBox="1"/>
          <p:nvPr/>
        </p:nvSpPr>
        <p:spPr>
          <a:xfrm>
            <a:off x="1081872" y="3159000"/>
            <a:ext cx="7216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is Text Classification?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4" name="Google Shape;384;g3939f84b5ae_2_223"/>
          <p:cNvSpPr txBox="1"/>
          <p:nvPr/>
        </p:nvSpPr>
        <p:spPr>
          <a:xfrm>
            <a:off x="1529071" y="4195374"/>
            <a:ext cx="8316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Task: assign predefined labels to text.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One of the oldest and most deployed NLP tasks.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Foundation for moderation, routing, filtering, analytics.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Used in almost every production NLP system.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5" name="Google Shape;385;g3939f84b5ae_2_22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86" name="Google Shape;386;g3939f84b5ae_2_22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7" name="Google Shape;387;g3939f84b5ae_2_22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8" name="Google Shape;388;g3939f84b5ae_2_22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9" name="Google Shape;389;g3939f84b5ae_2_22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90" name="Google Shape;390;g3939f84b5ae_2_22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91" name="Google Shape;391;g3939f84b5ae_2_22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g3939f84b5ae_2_223"/>
          <p:cNvGrpSpPr/>
          <p:nvPr/>
        </p:nvGrpSpPr>
        <p:grpSpPr>
          <a:xfrm flipH="1">
            <a:off x="1081874" y="6069775"/>
            <a:ext cx="259146" cy="400028"/>
            <a:chOff x="0" y="0"/>
            <a:chExt cx="80174" cy="123748"/>
          </a:xfrm>
        </p:grpSpPr>
        <p:sp>
          <p:nvSpPr>
            <p:cNvPr id="393" name="Google Shape;393;g3939f84b5ae_2_2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94" name="Google Shape;394;g3939f84b5ae_2_2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g3939f84b5ae_2_223"/>
          <p:cNvGrpSpPr/>
          <p:nvPr/>
        </p:nvGrpSpPr>
        <p:grpSpPr>
          <a:xfrm>
            <a:off x="1081861" y="4082535"/>
            <a:ext cx="259162" cy="400015"/>
            <a:chOff x="0" y="0"/>
            <a:chExt cx="80174" cy="123748"/>
          </a:xfrm>
        </p:grpSpPr>
        <p:sp>
          <p:nvSpPr>
            <p:cNvPr id="396" name="Google Shape;396;g3939f84b5ae_2_2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97" name="Google Shape;397;g3939f84b5ae_2_2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g3939f84b5ae_2_223"/>
          <p:cNvGrpSpPr/>
          <p:nvPr/>
        </p:nvGrpSpPr>
        <p:grpSpPr>
          <a:xfrm>
            <a:off x="1081872" y="4744951"/>
            <a:ext cx="259146" cy="400028"/>
            <a:chOff x="0" y="0"/>
            <a:chExt cx="80174" cy="123748"/>
          </a:xfrm>
        </p:grpSpPr>
        <p:sp>
          <p:nvSpPr>
            <p:cNvPr id="399" name="Google Shape;399;g3939f84b5ae_2_2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0" name="Google Shape;400;g3939f84b5ae_2_2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g3939f84b5ae_2_223"/>
          <p:cNvGrpSpPr/>
          <p:nvPr/>
        </p:nvGrpSpPr>
        <p:grpSpPr>
          <a:xfrm>
            <a:off x="1081866" y="5407364"/>
            <a:ext cx="259162" cy="400015"/>
            <a:chOff x="0" y="0"/>
            <a:chExt cx="80174" cy="123748"/>
          </a:xfrm>
        </p:grpSpPr>
        <p:sp>
          <p:nvSpPr>
            <p:cNvPr id="402" name="Google Shape;402;g3939f84b5ae_2_2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3" name="Google Shape;403;g3939f84b5ae_2_2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4" name="Google Shape;404;g3939f84b5ae_2_223" title="Diagram type_ Enterprise AI schematic, text classification pipeline. - visual selection.png"/>
          <p:cNvPicPr preferRelativeResize="0"/>
          <p:nvPr/>
        </p:nvPicPr>
        <p:blipFill rotWithShape="1">
          <a:blip r:embed="rId5">
            <a:alphaModFix/>
          </a:blip>
          <a:srcRect b="7918" l="0" r="0" t="0"/>
          <a:stretch/>
        </p:blipFill>
        <p:spPr>
          <a:xfrm>
            <a:off x="10209325" y="2949725"/>
            <a:ext cx="7049974" cy="406857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939f84b5ae_2_251"/>
          <p:cNvSpPr/>
          <p:nvPr/>
        </p:nvSpPr>
        <p:spPr>
          <a:xfrm>
            <a:off x="0" y="-51800"/>
            <a:ext cx="18288000" cy="10518458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410" name="Google Shape;410;g3939f84b5ae_2_251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Classification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11" name="Google Shape;411;g3939f84b5ae_2_251"/>
          <p:cNvSpPr txBox="1"/>
          <p:nvPr/>
        </p:nvSpPr>
        <p:spPr>
          <a:xfrm>
            <a:off x="1021948" y="3159000"/>
            <a:ext cx="7216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Classification Problem Types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12" name="Google Shape;412;g3939f84b5ae_2_251"/>
          <p:cNvSpPr txBox="1"/>
          <p:nvPr/>
        </p:nvSpPr>
        <p:spPr>
          <a:xfrm>
            <a:off x="1554224" y="4191675"/>
            <a:ext cx="69402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Binary: two exclusive classes (Yes / No)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Multi-class: one label from many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Multi-label: multiple labels per document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Correct framing defines model architecture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3" name="Google Shape;413;g3939f84b5ae_2_25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14" name="Google Shape;414;g3939f84b5ae_2_25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5" name="Google Shape;415;g3939f84b5ae_2_25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6" name="Google Shape;416;g3939f84b5ae_2_25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7" name="Google Shape;417;g3939f84b5ae_2_25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18" name="Google Shape;418;g3939f84b5ae_2_25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9" name="Google Shape;419;g3939f84b5ae_2_25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Google Shape;420;g3939f84b5ae_2_251"/>
          <p:cNvGrpSpPr/>
          <p:nvPr/>
        </p:nvGrpSpPr>
        <p:grpSpPr>
          <a:xfrm flipH="1">
            <a:off x="1127002" y="6046101"/>
            <a:ext cx="259146" cy="400028"/>
            <a:chOff x="0" y="0"/>
            <a:chExt cx="80174" cy="123748"/>
          </a:xfrm>
        </p:grpSpPr>
        <p:sp>
          <p:nvSpPr>
            <p:cNvPr id="421" name="Google Shape;421;g3939f84b5ae_2_2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2" name="Google Shape;422;g3939f84b5ae_2_2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3" name="Google Shape;423;g3939f84b5ae_2_251"/>
          <p:cNvGrpSpPr/>
          <p:nvPr/>
        </p:nvGrpSpPr>
        <p:grpSpPr>
          <a:xfrm>
            <a:off x="1126989" y="4158735"/>
            <a:ext cx="259162" cy="400015"/>
            <a:chOff x="0" y="0"/>
            <a:chExt cx="80174" cy="123748"/>
          </a:xfrm>
        </p:grpSpPr>
        <p:sp>
          <p:nvSpPr>
            <p:cNvPr id="424" name="Google Shape;424;g3939f84b5ae_2_2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5" name="Google Shape;425;g3939f84b5ae_2_2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g3939f84b5ae_2_251"/>
          <p:cNvGrpSpPr/>
          <p:nvPr/>
        </p:nvGrpSpPr>
        <p:grpSpPr>
          <a:xfrm>
            <a:off x="1127000" y="4761226"/>
            <a:ext cx="259146" cy="400028"/>
            <a:chOff x="0" y="0"/>
            <a:chExt cx="80174" cy="123748"/>
          </a:xfrm>
        </p:grpSpPr>
        <p:sp>
          <p:nvSpPr>
            <p:cNvPr id="427" name="Google Shape;427;g3939f84b5ae_2_2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8" name="Google Shape;428;g3939f84b5ae_2_2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g3939f84b5ae_2_251"/>
          <p:cNvGrpSpPr/>
          <p:nvPr/>
        </p:nvGrpSpPr>
        <p:grpSpPr>
          <a:xfrm>
            <a:off x="1126994" y="5423640"/>
            <a:ext cx="259162" cy="400015"/>
            <a:chOff x="0" y="0"/>
            <a:chExt cx="80174" cy="123748"/>
          </a:xfrm>
        </p:grpSpPr>
        <p:sp>
          <p:nvSpPr>
            <p:cNvPr id="430" name="Google Shape;430;g3939f84b5ae_2_2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1" name="Google Shape;431;g3939f84b5ae_2_2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2" name="Google Shape;432;g3939f84b5ae_2_251" title="Diagram type_ Technical comparison diagram of classification paradigms. - visual selection.png"/>
          <p:cNvPicPr preferRelativeResize="0"/>
          <p:nvPr/>
        </p:nvPicPr>
        <p:blipFill rotWithShape="1">
          <a:blip r:embed="rId5">
            <a:alphaModFix/>
          </a:blip>
          <a:srcRect b="8825" l="0" r="0" t="0"/>
          <a:stretch/>
        </p:blipFill>
        <p:spPr>
          <a:xfrm>
            <a:off x="9360575" y="3114700"/>
            <a:ext cx="7898726" cy="369307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939f84b5ae_2_279"/>
          <p:cNvSpPr/>
          <p:nvPr/>
        </p:nvSpPr>
        <p:spPr>
          <a:xfrm>
            <a:off x="0" y="-51800"/>
            <a:ext cx="18288000" cy="10518458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438" name="Google Shape;438;g3939f84b5ae_2_279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39" name="Google Shape;439;g3939f84b5ae_2_279"/>
          <p:cNvSpPr txBox="1"/>
          <p:nvPr/>
        </p:nvSpPr>
        <p:spPr>
          <a:xfrm>
            <a:off x="1071292" y="3159000"/>
            <a:ext cx="72168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Traditional Classification Methods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40" name="Google Shape;440;g3939f84b5ae_2_279"/>
          <p:cNvSpPr txBox="1"/>
          <p:nvPr/>
        </p:nvSpPr>
        <p:spPr>
          <a:xfrm>
            <a:off x="1606691" y="4782456"/>
            <a:ext cx="65469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Based on word frequency statistics.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Require manual feature engineering.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Still useful for small or structured datasets.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Serve as strong baselines.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41" name="Google Shape;441;g3939f84b5ae_2_27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42" name="Google Shape;442;g3939f84b5ae_2_27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43" name="Google Shape;443;g3939f84b5ae_2_27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4" name="Google Shape;444;g3939f84b5ae_2_27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5" name="Google Shape;445;g3939f84b5ae_2_27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46" name="Google Shape;446;g3939f84b5ae_2_27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47" name="Google Shape;447;g3939f84b5ae_2_27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8" name="Google Shape;448;g3939f84b5ae_2_279"/>
          <p:cNvGrpSpPr/>
          <p:nvPr/>
        </p:nvGrpSpPr>
        <p:grpSpPr>
          <a:xfrm>
            <a:off x="1134152" y="4738400"/>
            <a:ext cx="244475" cy="400015"/>
            <a:chOff x="0" y="0"/>
            <a:chExt cx="80174" cy="123748"/>
          </a:xfrm>
        </p:grpSpPr>
        <p:sp>
          <p:nvSpPr>
            <p:cNvPr id="449" name="Google Shape;449;g3939f84b5ae_2_27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0" name="Google Shape;450;g3939f84b5ae_2_27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1" name="Google Shape;451;g3939f84b5ae_2_279"/>
          <p:cNvGrpSpPr/>
          <p:nvPr/>
        </p:nvGrpSpPr>
        <p:grpSpPr>
          <a:xfrm>
            <a:off x="1133453" y="5384625"/>
            <a:ext cx="244475" cy="400015"/>
            <a:chOff x="0" y="0"/>
            <a:chExt cx="80174" cy="123748"/>
          </a:xfrm>
        </p:grpSpPr>
        <p:sp>
          <p:nvSpPr>
            <p:cNvPr id="452" name="Google Shape;452;g3939f84b5ae_2_27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3" name="Google Shape;453;g3939f84b5ae_2_27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4" name="Google Shape;454;g3939f84b5ae_2_279"/>
          <p:cNvGrpSpPr/>
          <p:nvPr/>
        </p:nvGrpSpPr>
        <p:grpSpPr>
          <a:xfrm>
            <a:off x="1134152" y="5922450"/>
            <a:ext cx="244475" cy="400015"/>
            <a:chOff x="0" y="0"/>
            <a:chExt cx="80174" cy="123748"/>
          </a:xfrm>
        </p:grpSpPr>
        <p:sp>
          <p:nvSpPr>
            <p:cNvPr id="455" name="Google Shape;455;g3939f84b5ae_2_27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6" name="Google Shape;456;g3939f84b5ae_2_27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g3939f84b5ae_2_279"/>
          <p:cNvGrpSpPr/>
          <p:nvPr/>
        </p:nvGrpSpPr>
        <p:grpSpPr>
          <a:xfrm>
            <a:off x="1134152" y="6587725"/>
            <a:ext cx="244475" cy="400015"/>
            <a:chOff x="0" y="0"/>
            <a:chExt cx="80174" cy="123748"/>
          </a:xfrm>
        </p:grpSpPr>
        <p:sp>
          <p:nvSpPr>
            <p:cNvPr id="458" name="Google Shape;458;g3939f84b5ae_2_27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9" name="Google Shape;459;g3939f84b5ae_2_27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0" name="Google Shape;460;g3939f84b5ae_2_279" title="ChatGPT Image 5 feb 2026, 09_22_24.png"/>
          <p:cNvPicPr preferRelativeResize="0"/>
          <p:nvPr/>
        </p:nvPicPr>
        <p:blipFill rotWithShape="1">
          <a:blip r:embed="rId5">
            <a:alphaModFix/>
          </a:blip>
          <a:srcRect b="9781" l="19286" r="13513" t="10435"/>
          <a:stretch/>
        </p:blipFill>
        <p:spPr>
          <a:xfrm>
            <a:off x="11172225" y="2798337"/>
            <a:ext cx="6087076" cy="481817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39f84b5ae_2_324"/>
          <p:cNvSpPr/>
          <p:nvPr/>
        </p:nvSpPr>
        <p:spPr>
          <a:xfrm>
            <a:off x="0" y="-51800"/>
            <a:ext cx="18288000" cy="10518458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466" name="Google Shape;466;g3939f84b5ae_2_324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7" name="Google Shape;467;g3939f84b5ae_2_324"/>
          <p:cNvSpPr txBox="1"/>
          <p:nvPr/>
        </p:nvSpPr>
        <p:spPr>
          <a:xfrm>
            <a:off x="1004048" y="3159000"/>
            <a:ext cx="7216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Deep Learning Classification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8" name="Google Shape;468;g3939f84b5ae_2_324"/>
          <p:cNvSpPr txBox="1"/>
          <p:nvPr/>
        </p:nvSpPr>
        <p:spPr>
          <a:xfrm>
            <a:off x="1438659" y="4149261"/>
            <a:ext cx="70998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Models learn features automatically.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Capture semantic meaning, not just keywords.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Transformers are the modern standard.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Context-aware classification.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69" name="Google Shape;469;g3939f84b5ae_2_32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70" name="Google Shape;470;g3939f84b5ae_2_32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1" name="Google Shape;471;g3939f84b5ae_2_32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2" name="Google Shape;472;g3939f84b5ae_2_32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3" name="Google Shape;473;g3939f84b5ae_2_32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74" name="Google Shape;474;g3939f84b5ae_2_32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5" name="Google Shape;475;g3939f84b5ae_2_32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g3939f84b5ae_2_324"/>
          <p:cNvGrpSpPr/>
          <p:nvPr/>
        </p:nvGrpSpPr>
        <p:grpSpPr>
          <a:xfrm flipH="1">
            <a:off x="1042134" y="4113688"/>
            <a:ext cx="244475" cy="400003"/>
            <a:chOff x="0" y="0"/>
            <a:chExt cx="80174" cy="123748"/>
          </a:xfrm>
        </p:grpSpPr>
        <p:sp>
          <p:nvSpPr>
            <p:cNvPr id="477" name="Google Shape;477;g3939f84b5ae_2_3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8" name="Google Shape;478;g3939f84b5ae_2_32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g3939f84b5ae_2_324"/>
          <p:cNvGrpSpPr/>
          <p:nvPr/>
        </p:nvGrpSpPr>
        <p:grpSpPr>
          <a:xfrm>
            <a:off x="1047391" y="4751420"/>
            <a:ext cx="244475" cy="400015"/>
            <a:chOff x="0" y="0"/>
            <a:chExt cx="80174" cy="123748"/>
          </a:xfrm>
        </p:grpSpPr>
        <p:sp>
          <p:nvSpPr>
            <p:cNvPr id="480" name="Google Shape;480;g3939f84b5ae_2_3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81" name="Google Shape;481;g3939f84b5ae_2_32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" name="Google Shape;482;g3939f84b5ae_2_324"/>
          <p:cNvGrpSpPr/>
          <p:nvPr/>
        </p:nvGrpSpPr>
        <p:grpSpPr>
          <a:xfrm>
            <a:off x="1047386" y="5352970"/>
            <a:ext cx="244475" cy="400015"/>
            <a:chOff x="0" y="0"/>
            <a:chExt cx="80174" cy="123748"/>
          </a:xfrm>
        </p:grpSpPr>
        <p:sp>
          <p:nvSpPr>
            <p:cNvPr id="483" name="Google Shape;483;g3939f84b5ae_2_3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84" name="Google Shape;484;g3939f84b5ae_2_32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5" name="Google Shape;485;g3939f84b5ae_2_324"/>
          <p:cNvGrpSpPr/>
          <p:nvPr/>
        </p:nvGrpSpPr>
        <p:grpSpPr>
          <a:xfrm>
            <a:off x="1048089" y="5954520"/>
            <a:ext cx="244475" cy="400015"/>
            <a:chOff x="0" y="0"/>
            <a:chExt cx="80174" cy="123748"/>
          </a:xfrm>
        </p:grpSpPr>
        <p:sp>
          <p:nvSpPr>
            <p:cNvPr id="486" name="Google Shape;486;g3939f84b5ae_2_3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87" name="Google Shape;487;g3939f84b5ae_2_32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88" name="Google Shape;488;g3939f84b5ae_2_324" title="ChatGPT Image 5 feb 2026, 09_23_52.png"/>
          <p:cNvPicPr preferRelativeResize="0"/>
          <p:nvPr/>
        </p:nvPicPr>
        <p:blipFill rotWithShape="1">
          <a:blip r:embed="rId5">
            <a:alphaModFix/>
          </a:blip>
          <a:srcRect b="38096" l="0" r="0" t="33064"/>
          <a:stretch/>
        </p:blipFill>
        <p:spPr>
          <a:xfrm>
            <a:off x="1048100" y="7071200"/>
            <a:ext cx="10118051" cy="19453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939f84b5ae_2_400"/>
          <p:cNvSpPr/>
          <p:nvPr/>
        </p:nvSpPr>
        <p:spPr>
          <a:xfrm>
            <a:off x="0" y="-51800"/>
            <a:ext cx="18288000" cy="10518458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494" name="Google Shape;494;g3939f84b5ae_2_400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5" name="Google Shape;495;g3939f84b5ae_2_400"/>
          <p:cNvSpPr txBox="1"/>
          <p:nvPr/>
        </p:nvSpPr>
        <p:spPr>
          <a:xfrm>
            <a:off x="1047592" y="3101475"/>
            <a:ext cx="7216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Zero-Shot Classification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6" name="Google Shape;496;g3939f84b5ae_2_400"/>
          <p:cNvSpPr txBox="1"/>
          <p:nvPr/>
        </p:nvSpPr>
        <p:spPr>
          <a:xfrm>
            <a:off x="1479848" y="4114563"/>
            <a:ext cx="70998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 task-specific training required.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Uses natural language label descriptions.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Extremely fast to deploy.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Ideal for dynamic taxonomies.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97" name="Google Shape;497;g3939f84b5ae_2_40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98" name="Google Shape;498;g3939f84b5ae_2_40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9" name="Google Shape;499;g3939f84b5ae_2_40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0" name="Google Shape;500;g3939f84b5ae_2_40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01" name="Google Shape;501;g3939f84b5ae_2_40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02" name="Google Shape;502;g3939f84b5ae_2_40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3" name="Google Shape;503;g3939f84b5ae_2_40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4" name="Google Shape;504;g3939f84b5ae_2_400"/>
          <p:cNvGrpSpPr/>
          <p:nvPr/>
        </p:nvGrpSpPr>
        <p:grpSpPr>
          <a:xfrm>
            <a:off x="1066629" y="4087419"/>
            <a:ext cx="244475" cy="400015"/>
            <a:chOff x="0" y="0"/>
            <a:chExt cx="80174" cy="123748"/>
          </a:xfrm>
        </p:grpSpPr>
        <p:sp>
          <p:nvSpPr>
            <p:cNvPr id="505" name="Google Shape;505;g3939f84b5ae_2_40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6" name="Google Shape;506;g3939f84b5ae_2_40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7" name="Google Shape;507;g3939f84b5ae_2_400"/>
          <p:cNvGrpSpPr/>
          <p:nvPr/>
        </p:nvGrpSpPr>
        <p:grpSpPr>
          <a:xfrm>
            <a:off x="1047596" y="4696230"/>
            <a:ext cx="244475" cy="400015"/>
            <a:chOff x="0" y="0"/>
            <a:chExt cx="80174" cy="123748"/>
          </a:xfrm>
        </p:grpSpPr>
        <p:sp>
          <p:nvSpPr>
            <p:cNvPr id="508" name="Google Shape;508;g3939f84b5ae_2_40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9" name="Google Shape;509;g3939f84b5ae_2_40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0" name="Google Shape;510;g3939f84b5ae_2_400"/>
          <p:cNvGrpSpPr/>
          <p:nvPr/>
        </p:nvGrpSpPr>
        <p:grpSpPr>
          <a:xfrm>
            <a:off x="1048294" y="5234055"/>
            <a:ext cx="244475" cy="400015"/>
            <a:chOff x="0" y="0"/>
            <a:chExt cx="80174" cy="123748"/>
          </a:xfrm>
        </p:grpSpPr>
        <p:sp>
          <p:nvSpPr>
            <p:cNvPr id="511" name="Google Shape;511;g3939f84b5ae_2_40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12" name="Google Shape;512;g3939f84b5ae_2_40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g3939f84b5ae_2_400"/>
          <p:cNvGrpSpPr/>
          <p:nvPr/>
        </p:nvGrpSpPr>
        <p:grpSpPr>
          <a:xfrm>
            <a:off x="1048294" y="5899330"/>
            <a:ext cx="244475" cy="400015"/>
            <a:chOff x="0" y="0"/>
            <a:chExt cx="80174" cy="123748"/>
          </a:xfrm>
        </p:grpSpPr>
        <p:sp>
          <p:nvSpPr>
            <p:cNvPr id="514" name="Google Shape;514;g3939f84b5ae_2_40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15" name="Google Shape;515;g3939f84b5ae_2_40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6" name="Google Shape;516;g3939f84b5ae_2_400" title="_- visual selection.png"/>
          <p:cNvPicPr preferRelativeResize="0"/>
          <p:nvPr/>
        </p:nvPicPr>
        <p:blipFill rotWithShape="1">
          <a:blip r:embed="rId5">
            <a:alphaModFix/>
          </a:blip>
          <a:srcRect b="6524" l="0" r="0" t="0"/>
          <a:stretch/>
        </p:blipFill>
        <p:spPr>
          <a:xfrm>
            <a:off x="9744350" y="3269588"/>
            <a:ext cx="7514950" cy="42088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939f84b5ae_2_372"/>
          <p:cNvSpPr/>
          <p:nvPr/>
        </p:nvSpPr>
        <p:spPr>
          <a:xfrm>
            <a:off x="0" y="-51800"/>
            <a:ext cx="18288000" cy="10518458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522" name="Google Shape;522;g3939f84b5ae_2_372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23" name="Google Shape;523;g3939f84b5ae_2_372"/>
          <p:cNvSpPr txBox="1"/>
          <p:nvPr/>
        </p:nvSpPr>
        <p:spPr>
          <a:xfrm>
            <a:off x="1077104" y="3110350"/>
            <a:ext cx="7216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Few-Shot Classification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24" name="Google Shape;524;g3939f84b5ae_2_372"/>
          <p:cNvSpPr txBox="1"/>
          <p:nvPr/>
        </p:nvSpPr>
        <p:spPr>
          <a:xfrm>
            <a:off x="1580823" y="4134863"/>
            <a:ext cx="70998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 task-specific t</a:t>
            </a: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</a:t>
            </a: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aining required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Uses natural language label descriptions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Extremely fast to deploy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Ideal for dynamic taxonomies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25" name="Google Shape;525;g3939f84b5ae_2_37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26" name="Google Shape;526;g3939f84b5ae_2_37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7" name="Google Shape;527;g3939f84b5ae_2_37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g3939f84b5ae_2_37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9" name="Google Shape;529;g3939f84b5ae_2_37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30" name="Google Shape;530;g3939f84b5ae_2_37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1" name="Google Shape;531;g3939f84b5ae_2_37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g3939f84b5ae_2_372"/>
          <p:cNvGrpSpPr/>
          <p:nvPr/>
        </p:nvGrpSpPr>
        <p:grpSpPr>
          <a:xfrm>
            <a:off x="1126619" y="4087226"/>
            <a:ext cx="244475" cy="400015"/>
            <a:chOff x="0" y="0"/>
            <a:chExt cx="80174" cy="123748"/>
          </a:xfrm>
        </p:grpSpPr>
        <p:sp>
          <p:nvSpPr>
            <p:cNvPr id="533" name="Google Shape;533;g3939f84b5ae_2_3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4" name="Google Shape;534;g3939f84b5ae_2_3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g3939f84b5ae_2_372"/>
          <p:cNvGrpSpPr/>
          <p:nvPr/>
        </p:nvGrpSpPr>
        <p:grpSpPr>
          <a:xfrm>
            <a:off x="1107586" y="4696038"/>
            <a:ext cx="244475" cy="400015"/>
            <a:chOff x="0" y="0"/>
            <a:chExt cx="80174" cy="123748"/>
          </a:xfrm>
        </p:grpSpPr>
        <p:sp>
          <p:nvSpPr>
            <p:cNvPr id="536" name="Google Shape;536;g3939f84b5ae_2_3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7" name="Google Shape;537;g3939f84b5ae_2_3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8" name="Google Shape;538;g3939f84b5ae_2_372"/>
          <p:cNvGrpSpPr/>
          <p:nvPr/>
        </p:nvGrpSpPr>
        <p:grpSpPr>
          <a:xfrm>
            <a:off x="1108285" y="5233863"/>
            <a:ext cx="244475" cy="400015"/>
            <a:chOff x="0" y="0"/>
            <a:chExt cx="80174" cy="123748"/>
          </a:xfrm>
        </p:grpSpPr>
        <p:sp>
          <p:nvSpPr>
            <p:cNvPr id="539" name="Google Shape;539;g3939f84b5ae_2_3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0" name="Google Shape;540;g3939f84b5ae_2_3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g3939f84b5ae_2_372"/>
          <p:cNvGrpSpPr/>
          <p:nvPr/>
        </p:nvGrpSpPr>
        <p:grpSpPr>
          <a:xfrm>
            <a:off x="1108285" y="5899138"/>
            <a:ext cx="244475" cy="400015"/>
            <a:chOff x="0" y="0"/>
            <a:chExt cx="80174" cy="123748"/>
          </a:xfrm>
        </p:grpSpPr>
        <p:sp>
          <p:nvSpPr>
            <p:cNvPr id="542" name="Google Shape;542;g3939f84b5ae_2_3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3" name="Google Shape;543;g3939f84b5ae_2_3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44" name="Google Shape;544;g3939f84b5ae_2_372" title="ChatGPT Image 5 feb 2026, 09_28_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47525" y="3103502"/>
            <a:ext cx="6311773" cy="420784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939f84b5ae_2_428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550" name="Google Shape;550;g3939f84b5ae_2_428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51" name="Google Shape;551;g3939f84b5ae_2_428"/>
          <p:cNvSpPr txBox="1"/>
          <p:nvPr/>
        </p:nvSpPr>
        <p:spPr>
          <a:xfrm>
            <a:off x="1062380" y="3110350"/>
            <a:ext cx="7216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Evaluation Metrics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52" name="Google Shape;552;g3939f84b5ae_2_428"/>
          <p:cNvSpPr txBox="1"/>
          <p:nvPr/>
        </p:nvSpPr>
        <p:spPr>
          <a:xfrm>
            <a:off x="1566099" y="4111183"/>
            <a:ext cx="70998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Accuracy is often misleading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Precision controls false positives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Recall controls false negatives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F1-score balances both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Metric choice depends on risk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53" name="Google Shape;553;g3939f84b5ae_2_42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54" name="Google Shape;554;g3939f84b5ae_2_42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5" name="Google Shape;555;g3939f84b5ae_2_42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g3939f84b5ae_2_42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57" name="Google Shape;557;g3939f84b5ae_2_42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58" name="Google Shape;558;g3939f84b5ae_2_42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9" name="Google Shape;559;g3939f84b5ae_2_42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0" name="Google Shape;560;g3939f84b5ae_2_428"/>
          <p:cNvGrpSpPr/>
          <p:nvPr/>
        </p:nvGrpSpPr>
        <p:grpSpPr>
          <a:xfrm>
            <a:off x="1111896" y="4063546"/>
            <a:ext cx="244475" cy="400015"/>
            <a:chOff x="0" y="0"/>
            <a:chExt cx="80174" cy="123748"/>
          </a:xfrm>
        </p:grpSpPr>
        <p:sp>
          <p:nvSpPr>
            <p:cNvPr id="561" name="Google Shape;561;g3939f84b5ae_2_4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62" name="Google Shape;562;g3939f84b5ae_2_42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" name="Google Shape;563;g3939f84b5ae_2_428"/>
          <p:cNvGrpSpPr/>
          <p:nvPr/>
        </p:nvGrpSpPr>
        <p:grpSpPr>
          <a:xfrm>
            <a:off x="1092862" y="4672358"/>
            <a:ext cx="244475" cy="400015"/>
            <a:chOff x="0" y="0"/>
            <a:chExt cx="80174" cy="123748"/>
          </a:xfrm>
        </p:grpSpPr>
        <p:sp>
          <p:nvSpPr>
            <p:cNvPr id="564" name="Google Shape;564;g3939f84b5ae_2_4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65" name="Google Shape;565;g3939f84b5ae_2_42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6" name="Google Shape;566;g3939f84b5ae_2_428"/>
          <p:cNvGrpSpPr/>
          <p:nvPr/>
        </p:nvGrpSpPr>
        <p:grpSpPr>
          <a:xfrm>
            <a:off x="1093561" y="5210183"/>
            <a:ext cx="244475" cy="400015"/>
            <a:chOff x="0" y="0"/>
            <a:chExt cx="80174" cy="123748"/>
          </a:xfrm>
        </p:grpSpPr>
        <p:sp>
          <p:nvSpPr>
            <p:cNvPr id="567" name="Google Shape;567;g3939f84b5ae_2_4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68" name="Google Shape;568;g3939f84b5ae_2_42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9" name="Google Shape;569;g3939f84b5ae_2_428"/>
          <p:cNvGrpSpPr/>
          <p:nvPr/>
        </p:nvGrpSpPr>
        <p:grpSpPr>
          <a:xfrm>
            <a:off x="1093561" y="5875458"/>
            <a:ext cx="244475" cy="400015"/>
            <a:chOff x="0" y="0"/>
            <a:chExt cx="80174" cy="123748"/>
          </a:xfrm>
        </p:grpSpPr>
        <p:sp>
          <p:nvSpPr>
            <p:cNvPr id="570" name="Google Shape;570;g3939f84b5ae_2_4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1" name="Google Shape;571;g3939f84b5ae_2_42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2" name="Google Shape;572;g3939f84b5ae_2_428"/>
          <p:cNvGrpSpPr/>
          <p:nvPr/>
        </p:nvGrpSpPr>
        <p:grpSpPr>
          <a:xfrm>
            <a:off x="1065758" y="6568466"/>
            <a:ext cx="244475" cy="400015"/>
            <a:chOff x="0" y="0"/>
            <a:chExt cx="80174" cy="123748"/>
          </a:xfrm>
        </p:grpSpPr>
        <p:sp>
          <p:nvSpPr>
            <p:cNvPr id="573" name="Google Shape;573;g3939f84b5ae_2_4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4" name="Google Shape;574;g3939f84b5ae_2_42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75" name="Google Shape;575;g3939f84b5ae_2_428" title="Diagram type_ Educational confusion matrix visualization, machine learning metrics schematic. - visual selection.png"/>
          <p:cNvPicPr preferRelativeResize="0"/>
          <p:nvPr/>
        </p:nvPicPr>
        <p:blipFill rotWithShape="1">
          <a:blip r:embed="rId5">
            <a:alphaModFix/>
          </a:blip>
          <a:srcRect b="8742" l="0" r="0" t="0"/>
          <a:stretch/>
        </p:blipFill>
        <p:spPr>
          <a:xfrm>
            <a:off x="11480663" y="2974563"/>
            <a:ext cx="5778637" cy="460460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939f84b5ae_2_459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581" name="Google Shape;581;g3939f84b5ae_2_459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82" name="Google Shape;582;g3939f84b5ae_2_459"/>
          <p:cNvSpPr txBox="1"/>
          <p:nvPr/>
        </p:nvSpPr>
        <p:spPr>
          <a:xfrm>
            <a:off x="977220" y="3110350"/>
            <a:ext cx="7216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Key Takeaways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83" name="Google Shape;583;g3939f84b5ae_2_459"/>
          <p:cNvSpPr txBox="1"/>
          <p:nvPr/>
        </p:nvSpPr>
        <p:spPr>
          <a:xfrm>
            <a:off x="1426352" y="4030409"/>
            <a:ext cx="79899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Classification transforms language into decisions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Architecture choice matters more than model size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Zero-shot enables rapid deployment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Metrics define real-world success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84" name="Google Shape;584;g3939f84b5ae_2_45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85" name="Google Shape;585;g3939f84b5ae_2_45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86" name="Google Shape;586;g3939f84b5ae_2_45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7" name="Google Shape;587;g3939f84b5ae_2_45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88" name="Google Shape;588;g3939f84b5ae_2_45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89" name="Google Shape;589;g3939f84b5ae_2_45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0" name="Google Shape;590;g3939f84b5ae_2_45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1" name="Google Shape;591;g3939f84b5ae_2_459"/>
          <p:cNvGrpSpPr/>
          <p:nvPr/>
        </p:nvGrpSpPr>
        <p:grpSpPr>
          <a:xfrm>
            <a:off x="975345" y="3953550"/>
            <a:ext cx="244475" cy="400015"/>
            <a:chOff x="0" y="0"/>
            <a:chExt cx="80174" cy="123748"/>
          </a:xfrm>
        </p:grpSpPr>
        <p:sp>
          <p:nvSpPr>
            <p:cNvPr id="592" name="Google Shape;592;g3939f84b5ae_2_45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3" name="Google Shape;593;g3939f84b5ae_2_45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4" name="Google Shape;594;g3939f84b5ae_2_459"/>
          <p:cNvGrpSpPr/>
          <p:nvPr/>
        </p:nvGrpSpPr>
        <p:grpSpPr>
          <a:xfrm>
            <a:off x="976043" y="4517118"/>
            <a:ext cx="244475" cy="400015"/>
            <a:chOff x="0" y="0"/>
            <a:chExt cx="80174" cy="123748"/>
          </a:xfrm>
        </p:grpSpPr>
        <p:sp>
          <p:nvSpPr>
            <p:cNvPr id="595" name="Google Shape;595;g3939f84b5ae_2_45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6" name="Google Shape;596;g3939f84b5ae_2_45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7" name="Google Shape;597;g3939f84b5ae_2_459"/>
          <p:cNvGrpSpPr/>
          <p:nvPr/>
        </p:nvGrpSpPr>
        <p:grpSpPr>
          <a:xfrm>
            <a:off x="976043" y="5156650"/>
            <a:ext cx="244475" cy="400015"/>
            <a:chOff x="0" y="0"/>
            <a:chExt cx="80174" cy="123748"/>
          </a:xfrm>
        </p:grpSpPr>
        <p:sp>
          <p:nvSpPr>
            <p:cNvPr id="598" name="Google Shape;598;g3939f84b5ae_2_45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9" name="Google Shape;599;g3939f84b5ae_2_45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0" name="Google Shape;600;g3939f84b5ae_2_459"/>
          <p:cNvGrpSpPr/>
          <p:nvPr/>
        </p:nvGrpSpPr>
        <p:grpSpPr>
          <a:xfrm>
            <a:off x="973984" y="5849658"/>
            <a:ext cx="244475" cy="400015"/>
            <a:chOff x="0" y="0"/>
            <a:chExt cx="80174" cy="123748"/>
          </a:xfrm>
        </p:grpSpPr>
        <p:sp>
          <p:nvSpPr>
            <p:cNvPr id="601" name="Google Shape;601;g3939f84b5ae_2_45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02" name="Google Shape;602;g3939f84b5ae_2_45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3" name="Google Shape;603;g3939f84b5ae_2_459" title="ChatGPT Image 5 feb 2026, 09_39_50.png"/>
          <p:cNvPicPr preferRelativeResize="0"/>
          <p:nvPr/>
        </p:nvPicPr>
        <p:blipFill rotWithShape="1">
          <a:blip r:embed="rId5">
            <a:alphaModFix/>
          </a:blip>
          <a:srcRect b="12155" l="0" r="0" t="16594"/>
          <a:stretch/>
        </p:blipFill>
        <p:spPr>
          <a:xfrm>
            <a:off x="9719960" y="3110350"/>
            <a:ext cx="7539341" cy="358125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939f84b5ae_2_49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67" t="-52938"/>
            </a:stretch>
          </a:blipFill>
          <a:ln>
            <a:noFill/>
          </a:ln>
        </p:spPr>
      </p:sp>
      <p:grpSp>
        <p:nvGrpSpPr>
          <p:cNvPr id="609" name="Google Shape;609;g3939f84b5ae_2_491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610" name="Google Shape;610;g3939f84b5ae_2_491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1" name="Google Shape;611;g3939f84b5ae_2_491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g3939f84b5ae_2_491"/>
          <p:cNvGrpSpPr/>
          <p:nvPr/>
        </p:nvGrpSpPr>
        <p:grpSpPr>
          <a:xfrm>
            <a:off x="1158965" y="3270801"/>
            <a:ext cx="13051912" cy="875268"/>
            <a:chOff x="0" y="-9525"/>
            <a:chExt cx="2404287" cy="189900"/>
          </a:xfrm>
        </p:grpSpPr>
        <p:sp>
          <p:nvSpPr>
            <p:cNvPr id="613" name="Google Shape;613;g3939f84b5ae_2_491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4" name="Google Shape;614;g3939f84b5ae_2_491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225" lIns="72225" spcFirstLastPara="1" rIns="72225" wrap="square" tIns="722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59"/>
                <a:buFont typeface="Arial"/>
                <a:buNone/>
              </a:pPr>
              <a:r>
                <a:t/>
              </a:r>
              <a:endParaRPr b="0" i="0" sz="25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5" name="Google Shape;615;g3939f84b5ae_2_491"/>
          <p:cNvSpPr txBox="1"/>
          <p:nvPr/>
        </p:nvSpPr>
        <p:spPr>
          <a:xfrm>
            <a:off x="1259550" y="2033850"/>
            <a:ext cx="146016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5.1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123">
              <a:solidFill>
                <a:srgbClr val="AEAEAE"/>
              </a:solidFill>
              <a:highlight>
                <a:schemeClr val="lt1"/>
              </a:highlight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Core Task</a:t>
            </a: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5.3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Understanding User Intent: Sentiment Analysis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Reducing Information Overload: Text Summarization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Information Retrieval: Question Answering Systems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Task Comparison and the Future of Applied NLP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16" name="Google Shape;616;g3939f84b5ae_2_49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7" name="Google Shape;617;g3939f84b5ae_2_491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939f84b5ae_2_507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623" name="Google Shape;623;g3939f84b5ae_2_507"/>
          <p:cNvSpPr txBox="1"/>
          <p:nvPr/>
        </p:nvSpPr>
        <p:spPr>
          <a:xfrm>
            <a:off x="1028700" y="2025600"/>
            <a:ext cx="15192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24" name="Google Shape;624;g3939f84b5ae_2_507"/>
          <p:cNvSpPr txBox="1"/>
          <p:nvPr/>
        </p:nvSpPr>
        <p:spPr>
          <a:xfrm>
            <a:off x="1028700" y="3368191"/>
            <a:ext cx="7724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is Sentiment Analysis?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25" name="Google Shape;625;g3939f84b5ae_2_507"/>
          <p:cNvSpPr txBox="1"/>
          <p:nvPr/>
        </p:nvSpPr>
        <p:spPr>
          <a:xfrm>
            <a:off x="1559421" y="4383908"/>
            <a:ext cx="79899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Task: detect subjective intent in text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Focuses on opinions, emotions, attitudes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Specialized form of text classification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Core signal for user and market intelligence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26" name="Google Shape;626;g3939f84b5ae_2_50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27" name="Google Shape;627;g3939f84b5ae_2_50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28" name="Google Shape;628;g3939f84b5ae_2_50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9" name="Google Shape;629;g3939f84b5ae_2_50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30" name="Google Shape;630;g3939f84b5ae_2_50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31" name="Google Shape;631;g3939f84b5ae_2_50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2" name="Google Shape;632;g3939f84b5ae_2_50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3" name="Google Shape;633;g3939f84b5ae_2_507"/>
          <p:cNvGrpSpPr/>
          <p:nvPr/>
        </p:nvGrpSpPr>
        <p:grpSpPr>
          <a:xfrm>
            <a:off x="1087922" y="4327541"/>
            <a:ext cx="244475" cy="400015"/>
            <a:chOff x="0" y="0"/>
            <a:chExt cx="80174" cy="123748"/>
          </a:xfrm>
        </p:grpSpPr>
        <p:sp>
          <p:nvSpPr>
            <p:cNvPr id="634" name="Google Shape;634;g3939f84b5ae_2_50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5" name="Google Shape;635;g3939f84b5ae_2_50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6" name="Google Shape;636;g3939f84b5ae_2_507"/>
          <p:cNvGrpSpPr/>
          <p:nvPr/>
        </p:nvGrpSpPr>
        <p:grpSpPr>
          <a:xfrm>
            <a:off x="1088621" y="4891109"/>
            <a:ext cx="244475" cy="400015"/>
            <a:chOff x="0" y="0"/>
            <a:chExt cx="80174" cy="123748"/>
          </a:xfrm>
        </p:grpSpPr>
        <p:sp>
          <p:nvSpPr>
            <p:cNvPr id="637" name="Google Shape;637;g3939f84b5ae_2_50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8" name="Google Shape;638;g3939f84b5ae_2_50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9" name="Google Shape;639;g3939f84b5ae_2_507"/>
          <p:cNvGrpSpPr/>
          <p:nvPr/>
        </p:nvGrpSpPr>
        <p:grpSpPr>
          <a:xfrm>
            <a:off x="1088621" y="5530641"/>
            <a:ext cx="244475" cy="400015"/>
            <a:chOff x="0" y="0"/>
            <a:chExt cx="80174" cy="123748"/>
          </a:xfrm>
        </p:grpSpPr>
        <p:sp>
          <p:nvSpPr>
            <p:cNvPr id="640" name="Google Shape;640;g3939f84b5ae_2_50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1" name="Google Shape;641;g3939f84b5ae_2_50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2" name="Google Shape;642;g3939f84b5ae_2_507"/>
          <p:cNvGrpSpPr/>
          <p:nvPr/>
        </p:nvGrpSpPr>
        <p:grpSpPr>
          <a:xfrm>
            <a:off x="1086561" y="6223649"/>
            <a:ext cx="244475" cy="400015"/>
            <a:chOff x="0" y="0"/>
            <a:chExt cx="80174" cy="123748"/>
          </a:xfrm>
        </p:grpSpPr>
        <p:sp>
          <p:nvSpPr>
            <p:cNvPr id="643" name="Google Shape;643;g3939f84b5ae_2_50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4" name="Google Shape;644;g3939f84b5ae_2_50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45" name="Google Shape;645;g3939f84b5ae_2_507" title="ChatGPT Image 5 feb 2026, 09_42_39.png"/>
          <p:cNvPicPr preferRelativeResize="0"/>
          <p:nvPr/>
        </p:nvPicPr>
        <p:blipFill rotWithShape="1">
          <a:blip r:embed="rId5">
            <a:alphaModFix/>
          </a:blip>
          <a:srcRect b="22301" l="0" r="0" t="14089"/>
          <a:stretch/>
        </p:blipFill>
        <p:spPr>
          <a:xfrm>
            <a:off x="9038432" y="3509266"/>
            <a:ext cx="8220868" cy="34861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939f84b5ae_2_535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651" name="Google Shape;651;g3939f84b5ae_2_535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52" name="Google Shape;652;g3939f84b5ae_2_535"/>
          <p:cNvSpPr txBox="1"/>
          <p:nvPr/>
        </p:nvSpPr>
        <p:spPr>
          <a:xfrm>
            <a:off x="1181100" y="3289410"/>
            <a:ext cx="77241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Document-Level Sentiment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53" name="Google Shape;653;g3939f84b5ae_2_535"/>
          <p:cNvSpPr txBox="1"/>
          <p:nvPr/>
        </p:nvSpPr>
        <p:spPr>
          <a:xfrm>
            <a:off x="1445425" y="4284635"/>
            <a:ext cx="79899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One sentiment for the entire document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Simple and computationally efficient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Works well for short reviews or posts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Loses internal nuance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54" name="Google Shape;654;g3939f84b5ae_2_53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55" name="Google Shape;655;g3939f84b5ae_2_53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56" name="Google Shape;656;g3939f84b5ae_2_53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7" name="Google Shape;657;g3939f84b5ae_2_53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58" name="Google Shape;658;g3939f84b5ae_2_53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59" name="Google Shape;659;g3939f84b5ae_2_53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0" name="Google Shape;660;g3939f84b5ae_2_53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1" name="Google Shape;661;g3939f84b5ae_2_535"/>
          <p:cNvGrpSpPr/>
          <p:nvPr/>
        </p:nvGrpSpPr>
        <p:grpSpPr>
          <a:xfrm>
            <a:off x="1117370" y="4248760"/>
            <a:ext cx="244475" cy="400015"/>
            <a:chOff x="0" y="0"/>
            <a:chExt cx="80174" cy="123748"/>
          </a:xfrm>
        </p:grpSpPr>
        <p:sp>
          <p:nvSpPr>
            <p:cNvPr id="662" name="Google Shape;662;g3939f84b5ae_2_53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3" name="Google Shape;663;g3939f84b5ae_2_53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4" name="Google Shape;664;g3939f84b5ae_2_535"/>
          <p:cNvGrpSpPr/>
          <p:nvPr/>
        </p:nvGrpSpPr>
        <p:grpSpPr>
          <a:xfrm>
            <a:off x="1118068" y="4812329"/>
            <a:ext cx="244475" cy="400015"/>
            <a:chOff x="0" y="0"/>
            <a:chExt cx="80174" cy="123748"/>
          </a:xfrm>
        </p:grpSpPr>
        <p:sp>
          <p:nvSpPr>
            <p:cNvPr id="665" name="Google Shape;665;g3939f84b5ae_2_53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6" name="Google Shape;666;g3939f84b5ae_2_53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7" name="Google Shape;667;g3939f84b5ae_2_535"/>
          <p:cNvGrpSpPr/>
          <p:nvPr/>
        </p:nvGrpSpPr>
        <p:grpSpPr>
          <a:xfrm>
            <a:off x="1118068" y="5451860"/>
            <a:ext cx="244475" cy="400015"/>
            <a:chOff x="0" y="0"/>
            <a:chExt cx="80174" cy="123748"/>
          </a:xfrm>
        </p:grpSpPr>
        <p:sp>
          <p:nvSpPr>
            <p:cNvPr id="668" name="Google Shape;668;g3939f84b5ae_2_53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9" name="Google Shape;669;g3939f84b5ae_2_53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0" name="Google Shape;670;g3939f84b5ae_2_535"/>
          <p:cNvGrpSpPr/>
          <p:nvPr/>
        </p:nvGrpSpPr>
        <p:grpSpPr>
          <a:xfrm>
            <a:off x="1116009" y="6144869"/>
            <a:ext cx="244475" cy="400015"/>
            <a:chOff x="0" y="0"/>
            <a:chExt cx="80174" cy="123748"/>
          </a:xfrm>
        </p:grpSpPr>
        <p:sp>
          <p:nvSpPr>
            <p:cNvPr id="671" name="Google Shape;671;g3939f84b5ae_2_53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72" name="Google Shape;672;g3939f84b5ae_2_53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73" name="Google Shape;673;g3939f84b5ae_2_535" title="Diagram type_ Enterprise analytics dashboard-style schematic, sentiment scoring. - visual selection.png"/>
          <p:cNvPicPr preferRelativeResize="0"/>
          <p:nvPr/>
        </p:nvPicPr>
        <p:blipFill rotWithShape="1">
          <a:blip r:embed="rId5">
            <a:alphaModFix/>
          </a:blip>
          <a:srcRect b="10120" l="0" r="0" t="0"/>
          <a:stretch/>
        </p:blipFill>
        <p:spPr>
          <a:xfrm>
            <a:off x="8752800" y="3371525"/>
            <a:ext cx="8506500" cy="3273123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939f84b5ae_2_564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679" name="Google Shape;679;g3939f84b5ae_2_564"/>
          <p:cNvSpPr txBox="1"/>
          <p:nvPr/>
        </p:nvSpPr>
        <p:spPr>
          <a:xfrm>
            <a:off x="1028700" y="2025600"/>
            <a:ext cx="15192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80" name="Google Shape;680;g3939f84b5ae_2_564"/>
          <p:cNvSpPr txBox="1"/>
          <p:nvPr/>
        </p:nvSpPr>
        <p:spPr>
          <a:xfrm>
            <a:off x="1078640" y="3596791"/>
            <a:ext cx="77241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Document-Level Sentiment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81" name="Google Shape;681;g3939f84b5ae_2_564"/>
          <p:cNvSpPr txBox="1"/>
          <p:nvPr/>
        </p:nvSpPr>
        <p:spPr>
          <a:xfrm>
            <a:off x="1506901" y="4592016"/>
            <a:ext cx="79899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One sentiment for the entire document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Simple and computationally efficient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Works well for short reviews or posts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Loses internal nuance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82" name="Google Shape;682;g3939f84b5ae_2_56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83" name="Google Shape;683;g3939f84b5ae_2_56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84" name="Google Shape;684;g3939f84b5ae_2_56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5" name="Google Shape;685;g3939f84b5ae_2_56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86" name="Google Shape;686;g3939f84b5ae_2_56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87" name="Google Shape;687;g3939f84b5ae_2_56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88" name="Google Shape;688;g3939f84b5ae_2_56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9" name="Google Shape;689;g3939f84b5ae_2_564"/>
          <p:cNvGrpSpPr/>
          <p:nvPr/>
        </p:nvGrpSpPr>
        <p:grpSpPr>
          <a:xfrm>
            <a:off x="1096878" y="4556141"/>
            <a:ext cx="244475" cy="400015"/>
            <a:chOff x="0" y="0"/>
            <a:chExt cx="80174" cy="123748"/>
          </a:xfrm>
        </p:grpSpPr>
        <p:sp>
          <p:nvSpPr>
            <p:cNvPr id="690" name="Google Shape;690;g3939f84b5ae_2_56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91" name="Google Shape;691;g3939f84b5ae_2_56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2" name="Google Shape;692;g3939f84b5ae_2_564"/>
          <p:cNvGrpSpPr/>
          <p:nvPr/>
        </p:nvGrpSpPr>
        <p:grpSpPr>
          <a:xfrm>
            <a:off x="1097576" y="5119709"/>
            <a:ext cx="244475" cy="400015"/>
            <a:chOff x="0" y="0"/>
            <a:chExt cx="80174" cy="123748"/>
          </a:xfrm>
        </p:grpSpPr>
        <p:sp>
          <p:nvSpPr>
            <p:cNvPr id="693" name="Google Shape;693;g3939f84b5ae_2_56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94" name="Google Shape;694;g3939f84b5ae_2_56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5" name="Google Shape;695;g3939f84b5ae_2_564"/>
          <p:cNvGrpSpPr/>
          <p:nvPr/>
        </p:nvGrpSpPr>
        <p:grpSpPr>
          <a:xfrm>
            <a:off x="1097576" y="5759241"/>
            <a:ext cx="244475" cy="400015"/>
            <a:chOff x="0" y="0"/>
            <a:chExt cx="80174" cy="123748"/>
          </a:xfrm>
        </p:grpSpPr>
        <p:sp>
          <p:nvSpPr>
            <p:cNvPr id="696" name="Google Shape;696;g3939f84b5ae_2_56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97" name="Google Shape;697;g3939f84b5ae_2_56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8" name="Google Shape;698;g3939f84b5ae_2_564"/>
          <p:cNvGrpSpPr/>
          <p:nvPr/>
        </p:nvGrpSpPr>
        <p:grpSpPr>
          <a:xfrm>
            <a:off x="1095517" y="6452249"/>
            <a:ext cx="244475" cy="400015"/>
            <a:chOff x="0" y="0"/>
            <a:chExt cx="80174" cy="123748"/>
          </a:xfrm>
        </p:grpSpPr>
        <p:sp>
          <p:nvSpPr>
            <p:cNvPr id="699" name="Google Shape;699;g3939f84b5ae_2_56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00" name="Google Shape;700;g3939f84b5ae_2_56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01" name="Google Shape;701;g3939f84b5ae_2_564" title="Diagram type_ Enterprise analytics dashboard-style schematic, sentiment scoring. - visual selection.png"/>
          <p:cNvPicPr preferRelativeResize="0"/>
          <p:nvPr/>
        </p:nvPicPr>
        <p:blipFill rotWithShape="1">
          <a:blip r:embed="rId5">
            <a:alphaModFix/>
          </a:blip>
          <a:srcRect b="10120" l="0" r="0" t="0"/>
          <a:stretch/>
        </p:blipFill>
        <p:spPr>
          <a:xfrm>
            <a:off x="9365800" y="3588725"/>
            <a:ext cx="7893499" cy="303725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939f84b5ae_2_591"/>
          <p:cNvSpPr/>
          <p:nvPr/>
        </p:nvSpPr>
        <p:spPr>
          <a:xfrm>
            <a:off x="-139533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707" name="Google Shape;707;g3939f84b5ae_2_591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708" name="Google Shape;708;g3939f84b5ae_2_591"/>
          <p:cNvSpPr txBox="1"/>
          <p:nvPr/>
        </p:nvSpPr>
        <p:spPr>
          <a:xfrm>
            <a:off x="1062443" y="3586475"/>
            <a:ext cx="77718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Aspect-Based Sentiment Analysis (ABSA)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709" name="Google Shape;709;g3939f84b5ae_2_591"/>
          <p:cNvSpPr txBox="1"/>
          <p:nvPr/>
        </p:nvSpPr>
        <p:spPr>
          <a:xfrm>
            <a:off x="1537887" y="5353800"/>
            <a:ext cx="68661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Sentiment linked to specific entities or features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fine-grained insight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Essential for product and brand analysis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Industry standard for actionable feedback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710" name="Google Shape;710;g3939f84b5ae_2_59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711" name="Google Shape;711;g3939f84b5ae_2_59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12" name="Google Shape;712;g3939f84b5ae_2_59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3" name="Google Shape;713;g3939f84b5ae_2_59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14" name="Google Shape;714;g3939f84b5ae_2_59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715" name="Google Shape;715;g3939f84b5ae_2_59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16" name="Google Shape;716;g3939f84b5ae_2_59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7" name="Google Shape;717;g3939f84b5ae_2_591"/>
          <p:cNvGrpSpPr/>
          <p:nvPr/>
        </p:nvGrpSpPr>
        <p:grpSpPr>
          <a:xfrm>
            <a:off x="1107382" y="5317925"/>
            <a:ext cx="244475" cy="400015"/>
            <a:chOff x="0" y="0"/>
            <a:chExt cx="80174" cy="123748"/>
          </a:xfrm>
        </p:grpSpPr>
        <p:sp>
          <p:nvSpPr>
            <p:cNvPr id="718" name="Google Shape;718;g3939f84b5ae_2_59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19" name="Google Shape;719;g3939f84b5ae_2_59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0" name="Google Shape;720;g3939f84b5ae_2_591"/>
          <p:cNvGrpSpPr/>
          <p:nvPr/>
        </p:nvGrpSpPr>
        <p:grpSpPr>
          <a:xfrm>
            <a:off x="1108081" y="5881493"/>
            <a:ext cx="244475" cy="400015"/>
            <a:chOff x="0" y="0"/>
            <a:chExt cx="80174" cy="123748"/>
          </a:xfrm>
        </p:grpSpPr>
        <p:sp>
          <p:nvSpPr>
            <p:cNvPr id="721" name="Google Shape;721;g3939f84b5ae_2_59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22" name="Google Shape;722;g3939f84b5ae_2_59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3" name="Google Shape;723;g3939f84b5ae_2_591"/>
          <p:cNvGrpSpPr/>
          <p:nvPr/>
        </p:nvGrpSpPr>
        <p:grpSpPr>
          <a:xfrm>
            <a:off x="1108081" y="6521025"/>
            <a:ext cx="244475" cy="400015"/>
            <a:chOff x="0" y="0"/>
            <a:chExt cx="80174" cy="123748"/>
          </a:xfrm>
        </p:grpSpPr>
        <p:sp>
          <p:nvSpPr>
            <p:cNvPr id="724" name="Google Shape;724;g3939f84b5ae_2_59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25" name="Google Shape;725;g3939f84b5ae_2_59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g3939f84b5ae_2_591"/>
          <p:cNvGrpSpPr/>
          <p:nvPr/>
        </p:nvGrpSpPr>
        <p:grpSpPr>
          <a:xfrm>
            <a:off x="1106021" y="7214033"/>
            <a:ext cx="244475" cy="400015"/>
            <a:chOff x="0" y="0"/>
            <a:chExt cx="80174" cy="123748"/>
          </a:xfrm>
        </p:grpSpPr>
        <p:sp>
          <p:nvSpPr>
            <p:cNvPr id="727" name="Google Shape;727;g3939f84b5ae_2_59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28" name="Google Shape;728;g3939f84b5ae_2_59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29" name="Google Shape;729;g3939f84b5ae_2_591" title="Diagram type_ Aspect-based sentiment annotation schematic, technical NLP style. - visual selection (1).png"/>
          <p:cNvPicPr preferRelativeResize="0"/>
          <p:nvPr/>
        </p:nvPicPr>
        <p:blipFill rotWithShape="1">
          <a:blip r:embed="rId5">
            <a:alphaModFix/>
          </a:blip>
          <a:srcRect b="6594" l="0" r="0" t="0"/>
          <a:stretch/>
        </p:blipFill>
        <p:spPr>
          <a:xfrm>
            <a:off x="8834250" y="3586475"/>
            <a:ext cx="3484700" cy="5306813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939f84b5ae_2_619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735" name="Google Shape;735;g3939f84b5ae_2_619"/>
          <p:cNvSpPr txBox="1"/>
          <p:nvPr/>
        </p:nvSpPr>
        <p:spPr>
          <a:xfrm>
            <a:off x="1028700" y="2025600"/>
            <a:ext cx="15192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736" name="Google Shape;736;g3939f84b5ae_2_619"/>
          <p:cNvSpPr txBox="1"/>
          <p:nvPr/>
        </p:nvSpPr>
        <p:spPr>
          <a:xfrm>
            <a:off x="980473" y="3586472"/>
            <a:ext cx="85704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Lexicon-Based Approaches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737" name="Google Shape;737;g3939f84b5ae_2_619"/>
          <p:cNvSpPr txBox="1"/>
          <p:nvPr/>
        </p:nvSpPr>
        <p:spPr>
          <a:xfrm>
            <a:off x="1506922" y="4864682"/>
            <a:ext cx="79899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 predefined polarity dictionaries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Fully explainable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Fast and lightweight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Fail under context, irony, or negation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738" name="Google Shape;738;g3939f84b5ae_2_61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739" name="Google Shape;739;g3939f84b5ae_2_61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40" name="Google Shape;740;g3939f84b5ae_2_61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1" name="Google Shape;741;g3939f84b5ae_2_61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42" name="Google Shape;742;g3939f84b5ae_2_61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743" name="Google Shape;743;g3939f84b5ae_2_61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44" name="Google Shape;744;g3939f84b5ae_2_61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5" name="Google Shape;745;g3939f84b5ae_2_619"/>
          <p:cNvGrpSpPr/>
          <p:nvPr/>
        </p:nvGrpSpPr>
        <p:grpSpPr>
          <a:xfrm>
            <a:off x="1055915" y="4828807"/>
            <a:ext cx="244475" cy="400015"/>
            <a:chOff x="0" y="0"/>
            <a:chExt cx="80174" cy="123748"/>
          </a:xfrm>
        </p:grpSpPr>
        <p:sp>
          <p:nvSpPr>
            <p:cNvPr id="746" name="Google Shape;746;g3939f84b5ae_2_6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47" name="Google Shape;747;g3939f84b5ae_2_6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8" name="Google Shape;748;g3939f84b5ae_2_619"/>
          <p:cNvGrpSpPr/>
          <p:nvPr/>
        </p:nvGrpSpPr>
        <p:grpSpPr>
          <a:xfrm>
            <a:off x="1056613" y="5392375"/>
            <a:ext cx="244475" cy="400015"/>
            <a:chOff x="0" y="0"/>
            <a:chExt cx="80174" cy="123748"/>
          </a:xfrm>
        </p:grpSpPr>
        <p:sp>
          <p:nvSpPr>
            <p:cNvPr id="749" name="Google Shape;749;g3939f84b5ae_2_6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50" name="Google Shape;750;g3939f84b5ae_2_6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1" name="Google Shape;751;g3939f84b5ae_2_619"/>
          <p:cNvGrpSpPr/>
          <p:nvPr/>
        </p:nvGrpSpPr>
        <p:grpSpPr>
          <a:xfrm>
            <a:off x="1056613" y="6031907"/>
            <a:ext cx="244475" cy="400015"/>
            <a:chOff x="0" y="0"/>
            <a:chExt cx="80174" cy="123748"/>
          </a:xfrm>
        </p:grpSpPr>
        <p:sp>
          <p:nvSpPr>
            <p:cNvPr id="752" name="Google Shape;752;g3939f84b5ae_2_6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53" name="Google Shape;753;g3939f84b5ae_2_6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4" name="Google Shape;754;g3939f84b5ae_2_619"/>
          <p:cNvGrpSpPr/>
          <p:nvPr/>
        </p:nvGrpSpPr>
        <p:grpSpPr>
          <a:xfrm>
            <a:off x="1054554" y="6724915"/>
            <a:ext cx="244475" cy="400015"/>
            <a:chOff x="0" y="0"/>
            <a:chExt cx="80174" cy="123748"/>
          </a:xfrm>
        </p:grpSpPr>
        <p:sp>
          <p:nvSpPr>
            <p:cNvPr id="755" name="Google Shape;755;g3939f84b5ae_2_6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56" name="Google Shape;756;g3939f84b5ae_2_6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57" name="Google Shape;757;g3939f84b5ae_2_619" title="_- visual selection (1).png"/>
          <p:cNvPicPr preferRelativeResize="0"/>
          <p:nvPr/>
        </p:nvPicPr>
        <p:blipFill rotWithShape="1">
          <a:blip r:embed="rId5">
            <a:alphaModFix/>
          </a:blip>
          <a:srcRect b="6725" l="0" r="0" t="0"/>
          <a:stretch/>
        </p:blipFill>
        <p:spPr>
          <a:xfrm>
            <a:off x="9777500" y="3068595"/>
            <a:ext cx="7481788" cy="475492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939f84b5ae_2_647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763" name="Google Shape;763;g3939f84b5ae_2_647"/>
          <p:cNvSpPr txBox="1"/>
          <p:nvPr/>
        </p:nvSpPr>
        <p:spPr>
          <a:xfrm>
            <a:off x="1028700" y="2025600"/>
            <a:ext cx="15192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764" name="Google Shape;764;g3939f84b5ae_2_647"/>
          <p:cNvSpPr txBox="1"/>
          <p:nvPr/>
        </p:nvSpPr>
        <p:spPr>
          <a:xfrm>
            <a:off x="1028698" y="3428997"/>
            <a:ext cx="85704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Embedding-Based Sentiment Models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765" name="Google Shape;765;g3939f84b5ae_2_647"/>
          <p:cNvSpPr txBox="1"/>
          <p:nvPr/>
        </p:nvSpPr>
        <p:spPr>
          <a:xfrm>
            <a:off x="1486430" y="5147857"/>
            <a:ext cx="79899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Meaning represented in latent vector space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Generalizes beyond exact keywords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Robust to synonyms and paraphrases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Foundation for transformer-based sentiment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766" name="Google Shape;766;g3939f84b5ae_2_64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767" name="Google Shape;767;g3939f84b5ae_2_64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68" name="Google Shape;768;g3939f84b5ae_2_64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9" name="Google Shape;769;g3939f84b5ae_2_64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70" name="Google Shape;770;g3939f84b5ae_2_64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771" name="Google Shape;771;g3939f84b5ae_2_64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72" name="Google Shape;772;g3939f84b5ae_2_64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3" name="Google Shape;773;g3939f84b5ae_2_647"/>
          <p:cNvGrpSpPr/>
          <p:nvPr/>
        </p:nvGrpSpPr>
        <p:grpSpPr>
          <a:xfrm>
            <a:off x="1055915" y="5111982"/>
            <a:ext cx="244475" cy="400015"/>
            <a:chOff x="0" y="0"/>
            <a:chExt cx="80174" cy="123748"/>
          </a:xfrm>
        </p:grpSpPr>
        <p:sp>
          <p:nvSpPr>
            <p:cNvPr id="774" name="Google Shape;774;g3939f84b5ae_2_64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75" name="Google Shape;775;g3939f84b5ae_2_64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6" name="Google Shape;776;g3939f84b5ae_2_647"/>
          <p:cNvGrpSpPr/>
          <p:nvPr/>
        </p:nvGrpSpPr>
        <p:grpSpPr>
          <a:xfrm>
            <a:off x="1056613" y="5675551"/>
            <a:ext cx="244475" cy="400015"/>
            <a:chOff x="0" y="0"/>
            <a:chExt cx="80174" cy="123748"/>
          </a:xfrm>
        </p:grpSpPr>
        <p:sp>
          <p:nvSpPr>
            <p:cNvPr id="777" name="Google Shape;777;g3939f84b5ae_2_64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78" name="Google Shape;778;g3939f84b5ae_2_64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9" name="Google Shape;779;g3939f84b5ae_2_647"/>
          <p:cNvGrpSpPr/>
          <p:nvPr/>
        </p:nvGrpSpPr>
        <p:grpSpPr>
          <a:xfrm>
            <a:off x="1056613" y="6315082"/>
            <a:ext cx="244475" cy="400015"/>
            <a:chOff x="0" y="0"/>
            <a:chExt cx="80174" cy="123748"/>
          </a:xfrm>
        </p:grpSpPr>
        <p:sp>
          <p:nvSpPr>
            <p:cNvPr id="780" name="Google Shape;780;g3939f84b5ae_2_64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81" name="Google Shape;781;g3939f84b5ae_2_64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2" name="Google Shape;782;g3939f84b5ae_2_647"/>
          <p:cNvGrpSpPr/>
          <p:nvPr/>
        </p:nvGrpSpPr>
        <p:grpSpPr>
          <a:xfrm>
            <a:off x="1054554" y="7008091"/>
            <a:ext cx="244475" cy="400015"/>
            <a:chOff x="0" y="0"/>
            <a:chExt cx="80174" cy="123748"/>
          </a:xfrm>
        </p:grpSpPr>
        <p:sp>
          <p:nvSpPr>
            <p:cNvPr id="783" name="Google Shape;783;g3939f84b5ae_2_64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84" name="Google Shape;784;g3939f84b5ae_2_64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85" name="Google Shape;785;g3939f84b5ae_2_647" title="ChatGPT Image 5 feb 2026, 09_53_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01238" y="3344100"/>
            <a:ext cx="6458062" cy="430537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939f84b5ae_2_675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791" name="Google Shape;791;g3939f84b5ae_2_675"/>
          <p:cNvSpPr txBox="1"/>
          <p:nvPr/>
        </p:nvSpPr>
        <p:spPr>
          <a:xfrm>
            <a:off x="1028700" y="2025600"/>
            <a:ext cx="15192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792" name="Google Shape;792;g3939f84b5ae_2_675"/>
          <p:cNvSpPr txBox="1"/>
          <p:nvPr/>
        </p:nvSpPr>
        <p:spPr>
          <a:xfrm>
            <a:off x="1028700" y="3428999"/>
            <a:ext cx="85704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Negation and Sarcasm Challenges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793" name="Google Shape;793;g3939f84b5ae_2_675"/>
          <p:cNvSpPr txBox="1"/>
          <p:nvPr/>
        </p:nvSpPr>
        <p:spPr>
          <a:xfrm>
            <a:off x="1506922" y="5147857"/>
            <a:ext cx="79899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Negation flips polarity meaning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Sarcasm contradicts surface wording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Requires long-range context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Transformers outperform classical models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1"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794" name="Google Shape;794;g3939f84b5ae_2_67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795" name="Google Shape;795;g3939f84b5ae_2_67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96" name="Google Shape;796;g3939f84b5ae_2_67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7" name="Google Shape;797;g3939f84b5ae_2_67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98" name="Google Shape;798;g3939f84b5ae_2_67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799" name="Google Shape;799;g3939f84b5ae_2_67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00" name="Google Shape;800;g3939f84b5ae_2_67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1" name="Google Shape;801;g3939f84b5ae_2_675"/>
          <p:cNvGrpSpPr/>
          <p:nvPr/>
        </p:nvGrpSpPr>
        <p:grpSpPr>
          <a:xfrm>
            <a:off x="1055915" y="5111982"/>
            <a:ext cx="244475" cy="400015"/>
            <a:chOff x="0" y="0"/>
            <a:chExt cx="80174" cy="123748"/>
          </a:xfrm>
        </p:grpSpPr>
        <p:sp>
          <p:nvSpPr>
            <p:cNvPr id="802" name="Google Shape;802;g3939f84b5ae_2_67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03" name="Google Shape;803;g3939f84b5ae_2_67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4" name="Google Shape;804;g3939f84b5ae_2_675"/>
          <p:cNvGrpSpPr/>
          <p:nvPr/>
        </p:nvGrpSpPr>
        <p:grpSpPr>
          <a:xfrm>
            <a:off x="1056613" y="5675551"/>
            <a:ext cx="244475" cy="400015"/>
            <a:chOff x="0" y="0"/>
            <a:chExt cx="80174" cy="123748"/>
          </a:xfrm>
        </p:grpSpPr>
        <p:sp>
          <p:nvSpPr>
            <p:cNvPr id="805" name="Google Shape;805;g3939f84b5ae_2_67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06" name="Google Shape;806;g3939f84b5ae_2_67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7" name="Google Shape;807;g3939f84b5ae_2_675"/>
          <p:cNvGrpSpPr/>
          <p:nvPr/>
        </p:nvGrpSpPr>
        <p:grpSpPr>
          <a:xfrm>
            <a:off x="1056613" y="6315082"/>
            <a:ext cx="244475" cy="400015"/>
            <a:chOff x="0" y="0"/>
            <a:chExt cx="80174" cy="123748"/>
          </a:xfrm>
        </p:grpSpPr>
        <p:sp>
          <p:nvSpPr>
            <p:cNvPr id="808" name="Google Shape;808;g3939f84b5ae_2_67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09" name="Google Shape;809;g3939f84b5ae_2_67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0" name="Google Shape;810;g3939f84b5ae_2_675"/>
          <p:cNvGrpSpPr/>
          <p:nvPr/>
        </p:nvGrpSpPr>
        <p:grpSpPr>
          <a:xfrm>
            <a:off x="1054554" y="7008091"/>
            <a:ext cx="244475" cy="400015"/>
            <a:chOff x="0" y="0"/>
            <a:chExt cx="80174" cy="123748"/>
          </a:xfrm>
        </p:grpSpPr>
        <p:sp>
          <p:nvSpPr>
            <p:cNvPr id="811" name="Google Shape;811;g3939f84b5ae_2_67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12" name="Google Shape;812;g3939f84b5ae_2_67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13" name="Google Shape;813;g3939f84b5ae_2_675" title="Diagram type_ Contrast diagram for semantic interpretation, research-oriented NLP schematic. - visual selection.png"/>
          <p:cNvPicPr preferRelativeResize="0"/>
          <p:nvPr/>
        </p:nvPicPr>
        <p:blipFill rotWithShape="1">
          <a:blip r:embed="rId5">
            <a:alphaModFix/>
          </a:blip>
          <a:srcRect b="9024" l="6820" r="0" t="0"/>
          <a:stretch/>
        </p:blipFill>
        <p:spPr>
          <a:xfrm>
            <a:off x="10555543" y="3429000"/>
            <a:ext cx="6703758" cy="395939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939f84b5ae_2_702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819" name="Google Shape;819;g3939f84b5ae_2_702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20" name="Google Shape;820;g3939f84b5ae_2_702"/>
          <p:cNvSpPr txBox="1"/>
          <p:nvPr/>
        </p:nvSpPr>
        <p:spPr>
          <a:xfrm>
            <a:off x="1060726" y="3347029"/>
            <a:ext cx="8570400" cy="17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Sentiment in Market Intelligence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21" name="Google Shape;821;g3939f84b5ae_2_702"/>
          <p:cNvSpPr txBox="1"/>
          <p:nvPr/>
        </p:nvSpPr>
        <p:spPr>
          <a:xfrm>
            <a:off x="1559955" y="4442800"/>
            <a:ext cx="79899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Meaning represented in latent vector space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Generalizes beyond exact keywords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Robust to synonyms and paraphrases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Foundation for transformer-based sentiment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822" name="Google Shape;822;g3939f84b5ae_2_70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823" name="Google Shape;823;g3939f84b5ae_2_70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24" name="Google Shape;824;g3939f84b5ae_2_70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5" name="Google Shape;825;g3939f84b5ae_2_70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26" name="Google Shape;826;g3939f84b5ae_2_70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827" name="Google Shape;827;g3939f84b5ae_2_70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28" name="Google Shape;828;g3939f84b5ae_2_70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9" name="Google Shape;829;g3939f84b5ae_2_702"/>
          <p:cNvGrpSpPr/>
          <p:nvPr/>
        </p:nvGrpSpPr>
        <p:grpSpPr>
          <a:xfrm>
            <a:off x="1088456" y="4386433"/>
            <a:ext cx="244475" cy="400015"/>
            <a:chOff x="0" y="0"/>
            <a:chExt cx="80174" cy="123748"/>
          </a:xfrm>
        </p:grpSpPr>
        <p:sp>
          <p:nvSpPr>
            <p:cNvPr id="830" name="Google Shape;830;g3939f84b5ae_2_70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31" name="Google Shape;831;g3939f84b5ae_2_70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2" name="Google Shape;832;g3939f84b5ae_2_702"/>
          <p:cNvGrpSpPr/>
          <p:nvPr/>
        </p:nvGrpSpPr>
        <p:grpSpPr>
          <a:xfrm>
            <a:off x="1089154" y="4950001"/>
            <a:ext cx="244475" cy="400015"/>
            <a:chOff x="0" y="0"/>
            <a:chExt cx="80174" cy="123748"/>
          </a:xfrm>
        </p:grpSpPr>
        <p:sp>
          <p:nvSpPr>
            <p:cNvPr id="833" name="Google Shape;833;g3939f84b5ae_2_70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34" name="Google Shape;834;g3939f84b5ae_2_70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5" name="Google Shape;835;g3939f84b5ae_2_702"/>
          <p:cNvGrpSpPr/>
          <p:nvPr/>
        </p:nvGrpSpPr>
        <p:grpSpPr>
          <a:xfrm>
            <a:off x="1089154" y="5589533"/>
            <a:ext cx="244475" cy="400015"/>
            <a:chOff x="0" y="0"/>
            <a:chExt cx="80174" cy="123748"/>
          </a:xfrm>
        </p:grpSpPr>
        <p:sp>
          <p:nvSpPr>
            <p:cNvPr id="836" name="Google Shape;836;g3939f84b5ae_2_70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37" name="Google Shape;837;g3939f84b5ae_2_70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8" name="Google Shape;838;g3939f84b5ae_2_702"/>
          <p:cNvGrpSpPr/>
          <p:nvPr/>
        </p:nvGrpSpPr>
        <p:grpSpPr>
          <a:xfrm>
            <a:off x="1087095" y="6282541"/>
            <a:ext cx="244475" cy="400015"/>
            <a:chOff x="0" y="0"/>
            <a:chExt cx="80174" cy="123748"/>
          </a:xfrm>
        </p:grpSpPr>
        <p:sp>
          <p:nvSpPr>
            <p:cNvPr id="839" name="Google Shape;839;g3939f84b5ae_2_70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40" name="Google Shape;840;g3939f84b5ae_2_70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41" name="Google Shape;841;g3939f84b5ae_2_702" title="ChatGPT Image 5 feb 2026, 10_13_50.png"/>
          <p:cNvPicPr preferRelativeResize="0"/>
          <p:nvPr/>
        </p:nvPicPr>
        <p:blipFill rotWithShape="1">
          <a:blip r:embed="rId5">
            <a:alphaModFix/>
          </a:blip>
          <a:srcRect b="6759" l="0" r="0" t="0"/>
          <a:stretch/>
        </p:blipFill>
        <p:spPr>
          <a:xfrm>
            <a:off x="10742900" y="3633925"/>
            <a:ext cx="6516399" cy="405060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939f84b5ae_2_731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847" name="Google Shape;847;g3939f84b5ae_2_731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48" name="Google Shape;848;g3939f84b5ae_2_731"/>
          <p:cNvSpPr txBox="1"/>
          <p:nvPr/>
        </p:nvSpPr>
        <p:spPr>
          <a:xfrm>
            <a:off x="1028698" y="3428997"/>
            <a:ext cx="85704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Operational Considerations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49" name="Google Shape;849;g3939f84b5ae_2_731"/>
          <p:cNvSpPr txBox="1"/>
          <p:nvPr/>
        </p:nvSpPr>
        <p:spPr>
          <a:xfrm>
            <a:off x="1507435" y="4504276"/>
            <a:ext cx="79899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Domain-specific language matters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Models degrade with cultural drift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Requires periodic re-evaluation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Sentiment ≠ truth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850" name="Google Shape;850;g3939f84b5ae_2_73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851" name="Google Shape;851;g3939f84b5ae_2_73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52" name="Google Shape;852;g3939f84b5ae_2_73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3" name="Google Shape;853;g3939f84b5ae_2_73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4" name="Google Shape;854;g3939f84b5ae_2_73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855" name="Google Shape;855;g3939f84b5ae_2_73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56" name="Google Shape;856;g3939f84b5ae_2_73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7" name="Google Shape;857;g3939f84b5ae_2_731"/>
          <p:cNvGrpSpPr/>
          <p:nvPr/>
        </p:nvGrpSpPr>
        <p:grpSpPr>
          <a:xfrm>
            <a:off x="1076920" y="4468401"/>
            <a:ext cx="244475" cy="400015"/>
            <a:chOff x="0" y="0"/>
            <a:chExt cx="80174" cy="123748"/>
          </a:xfrm>
        </p:grpSpPr>
        <p:sp>
          <p:nvSpPr>
            <p:cNvPr id="858" name="Google Shape;858;g3939f84b5ae_2_73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59" name="Google Shape;859;g3939f84b5ae_2_73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0" name="Google Shape;860;g3939f84b5ae_2_731"/>
          <p:cNvGrpSpPr/>
          <p:nvPr/>
        </p:nvGrpSpPr>
        <p:grpSpPr>
          <a:xfrm>
            <a:off x="1077618" y="5031970"/>
            <a:ext cx="244475" cy="400015"/>
            <a:chOff x="0" y="0"/>
            <a:chExt cx="80174" cy="123748"/>
          </a:xfrm>
        </p:grpSpPr>
        <p:sp>
          <p:nvSpPr>
            <p:cNvPr id="861" name="Google Shape;861;g3939f84b5ae_2_73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62" name="Google Shape;862;g3939f84b5ae_2_73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3" name="Google Shape;863;g3939f84b5ae_2_731"/>
          <p:cNvGrpSpPr/>
          <p:nvPr/>
        </p:nvGrpSpPr>
        <p:grpSpPr>
          <a:xfrm>
            <a:off x="1077618" y="5671501"/>
            <a:ext cx="244475" cy="400015"/>
            <a:chOff x="0" y="0"/>
            <a:chExt cx="80174" cy="123748"/>
          </a:xfrm>
        </p:grpSpPr>
        <p:sp>
          <p:nvSpPr>
            <p:cNvPr id="864" name="Google Shape;864;g3939f84b5ae_2_73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65" name="Google Shape;865;g3939f84b5ae_2_73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6" name="Google Shape;866;g3939f84b5ae_2_731"/>
          <p:cNvGrpSpPr/>
          <p:nvPr/>
        </p:nvGrpSpPr>
        <p:grpSpPr>
          <a:xfrm>
            <a:off x="1075559" y="6364509"/>
            <a:ext cx="244475" cy="400015"/>
            <a:chOff x="0" y="0"/>
            <a:chExt cx="80174" cy="123748"/>
          </a:xfrm>
        </p:grpSpPr>
        <p:sp>
          <p:nvSpPr>
            <p:cNvPr id="867" name="Google Shape;867;g3939f84b5ae_2_73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68" name="Google Shape;868;g3939f84b5ae_2_73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9" name="Google Shape;869;g3939f84b5ae_2_731" title="Diagram type_ MLOps lifecycle loop, system architecture schematic. - visual selection.png"/>
          <p:cNvPicPr preferRelativeResize="0"/>
          <p:nvPr/>
        </p:nvPicPr>
        <p:blipFill rotWithShape="1">
          <a:blip r:embed="rId5">
            <a:alphaModFix/>
          </a:blip>
          <a:srcRect b="13826" l="0" r="0" t="3481"/>
          <a:stretch/>
        </p:blipFill>
        <p:spPr>
          <a:xfrm>
            <a:off x="12241425" y="3429000"/>
            <a:ext cx="5017875" cy="427805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939f84b5ae_2_758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875" name="Google Shape;875;g3939f84b5ae_2_758"/>
          <p:cNvSpPr txBox="1"/>
          <p:nvPr/>
        </p:nvSpPr>
        <p:spPr>
          <a:xfrm>
            <a:off x="1028700" y="2025600"/>
            <a:ext cx="15192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76" name="Google Shape;876;g3939f84b5ae_2_758"/>
          <p:cNvSpPr txBox="1"/>
          <p:nvPr/>
        </p:nvSpPr>
        <p:spPr>
          <a:xfrm>
            <a:off x="1078484" y="3243131"/>
            <a:ext cx="85704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Key Takeaways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77" name="Google Shape;877;g3939f84b5ae_2_758"/>
          <p:cNvSpPr txBox="1"/>
          <p:nvPr/>
        </p:nvSpPr>
        <p:spPr>
          <a:xfrm>
            <a:off x="1568911" y="4319848"/>
            <a:ext cx="7989900" cy="3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Sentiment reveals user intent.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Aspect-level analysis enables action.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Context is the main technical challenge.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Critical signal for applied NLP systems.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878" name="Google Shape;878;g3939f84b5ae_2_75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879" name="Google Shape;879;g3939f84b5ae_2_75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80" name="Google Shape;880;g3939f84b5ae_2_75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1" name="Google Shape;881;g3939f84b5ae_2_75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82" name="Google Shape;882;g3939f84b5ae_2_75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883" name="Google Shape;883;g3939f84b5ae_2_75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84" name="Google Shape;884;g3939f84b5ae_2_75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" name="Google Shape;885;g3939f84b5ae_2_758"/>
          <p:cNvGrpSpPr/>
          <p:nvPr/>
        </p:nvGrpSpPr>
        <p:grpSpPr>
          <a:xfrm>
            <a:off x="1117904" y="4263481"/>
            <a:ext cx="244475" cy="400015"/>
            <a:chOff x="0" y="0"/>
            <a:chExt cx="80174" cy="123748"/>
          </a:xfrm>
        </p:grpSpPr>
        <p:sp>
          <p:nvSpPr>
            <p:cNvPr id="886" name="Google Shape;886;g3939f84b5ae_2_7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87" name="Google Shape;887;g3939f84b5ae_2_7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8" name="Google Shape;888;g3939f84b5ae_2_758"/>
          <p:cNvGrpSpPr/>
          <p:nvPr/>
        </p:nvGrpSpPr>
        <p:grpSpPr>
          <a:xfrm>
            <a:off x="1118602" y="4827049"/>
            <a:ext cx="244475" cy="400015"/>
            <a:chOff x="0" y="0"/>
            <a:chExt cx="80174" cy="123748"/>
          </a:xfrm>
        </p:grpSpPr>
        <p:sp>
          <p:nvSpPr>
            <p:cNvPr id="889" name="Google Shape;889;g3939f84b5ae_2_7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90" name="Google Shape;890;g3939f84b5ae_2_7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1" name="Google Shape;891;g3939f84b5ae_2_758"/>
          <p:cNvGrpSpPr/>
          <p:nvPr/>
        </p:nvGrpSpPr>
        <p:grpSpPr>
          <a:xfrm>
            <a:off x="1118602" y="5466581"/>
            <a:ext cx="244475" cy="400015"/>
            <a:chOff x="0" y="0"/>
            <a:chExt cx="80174" cy="123748"/>
          </a:xfrm>
        </p:grpSpPr>
        <p:sp>
          <p:nvSpPr>
            <p:cNvPr id="892" name="Google Shape;892;g3939f84b5ae_2_7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93" name="Google Shape;893;g3939f84b5ae_2_7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4" name="Google Shape;894;g3939f84b5ae_2_758"/>
          <p:cNvGrpSpPr/>
          <p:nvPr/>
        </p:nvGrpSpPr>
        <p:grpSpPr>
          <a:xfrm>
            <a:off x="1116543" y="6159589"/>
            <a:ext cx="244475" cy="400015"/>
            <a:chOff x="0" y="0"/>
            <a:chExt cx="80174" cy="123748"/>
          </a:xfrm>
        </p:grpSpPr>
        <p:sp>
          <p:nvSpPr>
            <p:cNvPr id="895" name="Google Shape;895;g3939f84b5ae_2_7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896" name="Google Shape;896;g3939f84b5ae_2_7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7" name="Google Shape;897;g3939f84b5ae_2_758" title="ChatGPT Image 5 feb 2026, 10_18_37.png"/>
          <p:cNvPicPr preferRelativeResize="0"/>
          <p:nvPr/>
        </p:nvPicPr>
        <p:blipFill rotWithShape="1">
          <a:blip r:embed="rId5">
            <a:alphaModFix/>
          </a:blip>
          <a:srcRect b="38324" l="0" r="0" t="32519"/>
          <a:stretch/>
        </p:blipFill>
        <p:spPr>
          <a:xfrm>
            <a:off x="1056976" y="7213190"/>
            <a:ext cx="9921750" cy="192837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939f84b5ae_2_80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67" t="-52938"/>
            </a:stretch>
          </a:blipFill>
          <a:ln>
            <a:noFill/>
          </a:ln>
        </p:spPr>
      </p:sp>
      <p:grpSp>
        <p:nvGrpSpPr>
          <p:cNvPr id="903" name="Google Shape;903;g3939f84b5ae_2_803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904" name="Google Shape;904;g3939f84b5ae_2_803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05" name="Google Shape;905;g3939f84b5ae_2_803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6" name="Google Shape;906;g3939f84b5ae_2_803"/>
          <p:cNvGrpSpPr/>
          <p:nvPr/>
        </p:nvGrpSpPr>
        <p:grpSpPr>
          <a:xfrm>
            <a:off x="1116116" y="4377684"/>
            <a:ext cx="14378117" cy="667593"/>
            <a:chOff x="0" y="-9525"/>
            <a:chExt cx="2404287" cy="189900"/>
          </a:xfrm>
        </p:grpSpPr>
        <p:sp>
          <p:nvSpPr>
            <p:cNvPr id="907" name="Google Shape;907;g3939f84b5ae_2_803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08" name="Google Shape;908;g3939f84b5ae_2_803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75" lIns="76075" spcFirstLastPara="1" rIns="76075" wrap="square" tIns="760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95"/>
                <a:buFont typeface="Arial"/>
                <a:buNone/>
              </a:pPr>
              <a:r>
                <a:t/>
              </a:r>
              <a:endParaRPr b="0" i="0" sz="26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9" name="Google Shape;909;g3939f84b5ae_2_803"/>
          <p:cNvSpPr txBox="1"/>
          <p:nvPr/>
        </p:nvSpPr>
        <p:spPr>
          <a:xfrm>
            <a:off x="1232468" y="2317020"/>
            <a:ext cx="146016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5.1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123">
              <a:solidFill>
                <a:srgbClr val="AEAEAE"/>
              </a:solidFill>
              <a:highlight>
                <a:schemeClr val="lt1"/>
              </a:highlight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Core Task</a:t>
            </a: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5.3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nderstanding User Intent: Sentiment Analysis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5.4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Reducing Information Overload: Text Summarization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Information Retrieval: Question Answering Systems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Task Comparison and the Future of Applied NLP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10" name="Google Shape;910;g3939f84b5ae_2_80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1" name="Google Shape;911;g3939f84b5ae_2_803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939f84b5ae_2_816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917" name="Google Shape;917;g3939f84b5ae_2_816"/>
          <p:cNvSpPr txBox="1"/>
          <p:nvPr/>
        </p:nvSpPr>
        <p:spPr>
          <a:xfrm>
            <a:off x="1028700" y="2025600"/>
            <a:ext cx="151929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Reducing Information Overload: Text Summarization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18" name="Google Shape;918;g3939f84b5ae_2_816"/>
          <p:cNvSpPr txBox="1"/>
          <p:nvPr/>
        </p:nvSpPr>
        <p:spPr>
          <a:xfrm>
            <a:off x="1119468" y="3084355"/>
            <a:ext cx="85704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is Text Summarization?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19" name="Google Shape;919;g3939f84b5ae_2_816"/>
          <p:cNvSpPr txBox="1"/>
          <p:nvPr/>
        </p:nvSpPr>
        <p:spPr>
          <a:xfrm>
            <a:off x="1630387" y="4088060"/>
            <a:ext cx="7989900" cy="3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Task: compress long text into key information.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Preserves meaning while reducing length.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Essential for scale and decision speed.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Widely used in legal, news, intelligence.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920" name="Google Shape;920;g3939f84b5ae_2_81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921" name="Google Shape;921;g3939f84b5ae_2_81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22" name="Google Shape;922;g3939f84b5ae_2_81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3" name="Google Shape;923;g3939f84b5ae_2_81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24" name="Google Shape;924;g3939f84b5ae_2_81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925" name="Google Shape;925;g3939f84b5ae_2_81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26" name="Google Shape;926;g3939f84b5ae_2_81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7" name="Google Shape;927;g3939f84b5ae_2_816"/>
          <p:cNvGrpSpPr/>
          <p:nvPr/>
        </p:nvGrpSpPr>
        <p:grpSpPr>
          <a:xfrm>
            <a:off x="1158888" y="4052185"/>
            <a:ext cx="244475" cy="400015"/>
            <a:chOff x="0" y="0"/>
            <a:chExt cx="80174" cy="123748"/>
          </a:xfrm>
        </p:grpSpPr>
        <p:sp>
          <p:nvSpPr>
            <p:cNvPr id="928" name="Google Shape;928;g3939f84b5ae_2_8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29" name="Google Shape;929;g3939f84b5ae_2_81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0" name="Google Shape;930;g3939f84b5ae_2_816"/>
          <p:cNvGrpSpPr/>
          <p:nvPr/>
        </p:nvGrpSpPr>
        <p:grpSpPr>
          <a:xfrm>
            <a:off x="1159586" y="4615754"/>
            <a:ext cx="244475" cy="400015"/>
            <a:chOff x="0" y="0"/>
            <a:chExt cx="80174" cy="123748"/>
          </a:xfrm>
        </p:grpSpPr>
        <p:sp>
          <p:nvSpPr>
            <p:cNvPr id="931" name="Google Shape;931;g3939f84b5ae_2_8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32" name="Google Shape;932;g3939f84b5ae_2_81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3" name="Google Shape;933;g3939f84b5ae_2_816"/>
          <p:cNvGrpSpPr/>
          <p:nvPr/>
        </p:nvGrpSpPr>
        <p:grpSpPr>
          <a:xfrm>
            <a:off x="1159586" y="5255285"/>
            <a:ext cx="244475" cy="400015"/>
            <a:chOff x="0" y="0"/>
            <a:chExt cx="80174" cy="123748"/>
          </a:xfrm>
        </p:grpSpPr>
        <p:sp>
          <p:nvSpPr>
            <p:cNvPr id="934" name="Google Shape;934;g3939f84b5ae_2_8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35" name="Google Shape;935;g3939f84b5ae_2_81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" name="Google Shape;936;g3939f84b5ae_2_816"/>
          <p:cNvGrpSpPr/>
          <p:nvPr/>
        </p:nvGrpSpPr>
        <p:grpSpPr>
          <a:xfrm>
            <a:off x="1157527" y="5948294"/>
            <a:ext cx="244475" cy="400015"/>
            <a:chOff x="0" y="0"/>
            <a:chExt cx="80174" cy="123748"/>
          </a:xfrm>
        </p:grpSpPr>
        <p:sp>
          <p:nvSpPr>
            <p:cNvPr id="937" name="Google Shape;937;g3939f84b5ae_2_8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38" name="Google Shape;938;g3939f84b5ae_2_81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39" name="Google Shape;939;g3939f84b5ae_2_816" title="Diagram type_ Technical infographic schematic, text summarization compression. - visual selection.png"/>
          <p:cNvPicPr preferRelativeResize="0"/>
          <p:nvPr/>
        </p:nvPicPr>
        <p:blipFill rotWithShape="1">
          <a:blip r:embed="rId5">
            <a:alphaModFix/>
          </a:blip>
          <a:srcRect b="9057" l="0" r="0" t="0"/>
          <a:stretch/>
        </p:blipFill>
        <p:spPr>
          <a:xfrm>
            <a:off x="10910048" y="3084350"/>
            <a:ext cx="6349253" cy="453782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939f84b5ae_2_844"/>
          <p:cNvSpPr/>
          <p:nvPr/>
        </p:nvSpPr>
        <p:spPr>
          <a:xfrm>
            <a:off x="-160025" y="-52338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945" name="Google Shape;945;g3939f84b5ae_2_844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Reducing Information Overload: Text Summarization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6" name="Google Shape;946;g3939f84b5ae_2_844"/>
          <p:cNvSpPr txBox="1"/>
          <p:nvPr/>
        </p:nvSpPr>
        <p:spPr>
          <a:xfrm>
            <a:off x="1078484" y="3257247"/>
            <a:ext cx="85704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Extractive Summarization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7" name="Google Shape;947;g3939f84b5ae_2_844"/>
          <p:cNvSpPr txBox="1"/>
          <p:nvPr/>
        </p:nvSpPr>
        <p:spPr>
          <a:xfrm>
            <a:off x="1568911" y="4251997"/>
            <a:ext cx="7989900" cy="3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Task: compress long text into key information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Preserves meaning while reducing length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Essential for scale and decision speed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Widely used in legal, news, intelligence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948" name="Google Shape;948;g3939f84b5ae_2_84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949" name="Google Shape;949;g3939f84b5ae_2_84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50" name="Google Shape;950;g3939f84b5ae_2_84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1" name="Google Shape;951;g3939f84b5ae_2_84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52" name="Google Shape;952;g3939f84b5ae_2_84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953" name="Google Shape;953;g3939f84b5ae_2_84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54" name="Google Shape;954;g3939f84b5ae_2_84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5" name="Google Shape;955;g3939f84b5ae_2_844"/>
          <p:cNvGrpSpPr/>
          <p:nvPr/>
        </p:nvGrpSpPr>
        <p:grpSpPr>
          <a:xfrm>
            <a:off x="1117904" y="4175138"/>
            <a:ext cx="244475" cy="400015"/>
            <a:chOff x="0" y="0"/>
            <a:chExt cx="80174" cy="123748"/>
          </a:xfrm>
        </p:grpSpPr>
        <p:sp>
          <p:nvSpPr>
            <p:cNvPr id="956" name="Google Shape;956;g3939f84b5ae_2_8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57" name="Google Shape;957;g3939f84b5ae_2_8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8" name="Google Shape;958;g3939f84b5ae_2_844"/>
          <p:cNvGrpSpPr/>
          <p:nvPr/>
        </p:nvGrpSpPr>
        <p:grpSpPr>
          <a:xfrm>
            <a:off x="1118602" y="4738706"/>
            <a:ext cx="244475" cy="400015"/>
            <a:chOff x="0" y="0"/>
            <a:chExt cx="80174" cy="123748"/>
          </a:xfrm>
        </p:grpSpPr>
        <p:sp>
          <p:nvSpPr>
            <p:cNvPr id="959" name="Google Shape;959;g3939f84b5ae_2_8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60" name="Google Shape;960;g3939f84b5ae_2_8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1" name="Google Shape;961;g3939f84b5ae_2_844"/>
          <p:cNvGrpSpPr/>
          <p:nvPr/>
        </p:nvGrpSpPr>
        <p:grpSpPr>
          <a:xfrm>
            <a:off x="1118602" y="5378238"/>
            <a:ext cx="244475" cy="400015"/>
            <a:chOff x="0" y="0"/>
            <a:chExt cx="80174" cy="123748"/>
          </a:xfrm>
        </p:grpSpPr>
        <p:sp>
          <p:nvSpPr>
            <p:cNvPr id="962" name="Google Shape;962;g3939f84b5ae_2_8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63" name="Google Shape;963;g3939f84b5ae_2_8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4" name="Google Shape;964;g3939f84b5ae_2_844"/>
          <p:cNvGrpSpPr/>
          <p:nvPr/>
        </p:nvGrpSpPr>
        <p:grpSpPr>
          <a:xfrm>
            <a:off x="1116543" y="6071246"/>
            <a:ext cx="244475" cy="400015"/>
            <a:chOff x="0" y="0"/>
            <a:chExt cx="80174" cy="123748"/>
          </a:xfrm>
        </p:grpSpPr>
        <p:sp>
          <p:nvSpPr>
            <p:cNvPr id="965" name="Google Shape;965;g3939f84b5ae_2_8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66" name="Google Shape;966;g3939f84b5ae_2_8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67" name="Google Shape;967;g3939f84b5ae_2_844" title="Diagram type_ NLP annotation-style schematic, extractive summarization by sentence selection. - visual selection.png"/>
          <p:cNvPicPr preferRelativeResize="0"/>
          <p:nvPr/>
        </p:nvPicPr>
        <p:blipFill rotWithShape="1">
          <a:blip r:embed="rId5">
            <a:alphaModFix/>
          </a:blip>
          <a:srcRect b="11286" l="0" r="0" t="5842"/>
          <a:stretch/>
        </p:blipFill>
        <p:spPr>
          <a:xfrm>
            <a:off x="11693050" y="3524625"/>
            <a:ext cx="5566249" cy="41323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939f84b5ae_2_872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973" name="Google Shape;973;g3939f84b5ae_2_872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Reducing Information Overload: Text Summarization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74" name="Google Shape;974;g3939f84b5ae_2_872"/>
          <p:cNvSpPr txBox="1"/>
          <p:nvPr/>
        </p:nvSpPr>
        <p:spPr>
          <a:xfrm>
            <a:off x="1078484" y="3351359"/>
            <a:ext cx="8570400" cy="17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Abstractive Summarization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75" name="Google Shape;975;g3939f84b5ae_2_872"/>
          <p:cNvSpPr txBox="1"/>
          <p:nvPr/>
        </p:nvSpPr>
        <p:spPr>
          <a:xfrm>
            <a:off x="1568911" y="4448568"/>
            <a:ext cx="79899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Generates new sentences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Higher information density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More natural language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Risk of hallucination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976" name="Google Shape;976;g3939f84b5ae_2_87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977" name="Google Shape;977;g3939f84b5ae_2_87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78" name="Google Shape;978;g3939f84b5ae_2_87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9" name="Google Shape;979;g3939f84b5ae_2_87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0" name="Google Shape;980;g3939f84b5ae_2_87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981" name="Google Shape;981;g3939f84b5ae_2_87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82" name="Google Shape;982;g3939f84b5ae_2_87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3" name="Google Shape;983;g3939f84b5ae_2_872"/>
          <p:cNvGrpSpPr/>
          <p:nvPr/>
        </p:nvGrpSpPr>
        <p:grpSpPr>
          <a:xfrm>
            <a:off x="1117904" y="4371709"/>
            <a:ext cx="244475" cy="400015"/>
            <a:chOff x="0" y="0"/>
            <a:chExt cx="80174" cy="123748"/>
          </a:xfrm>
        </p:grpSpPr>
        <p:sp>
          <p:nvSpPr>
            <p:cNvPr id="984" name="Google Shape;984;g3939f84b5ae_2_8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85" name="Google Shape;985;g3939f84b5ae_2_8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6" name="Google Shape;986;g3939f84b5ae_2_872"/>
          <p:cNvGrpSpPr/>
          <p:nvPr/>
        </p:nvGrpSpPr>
        <p:grpSpPr>
          <a:xfrm>
            <a:off x="1118602" y="4935278"/>
            <a:ext cx="244475" cy="400015"/>
            <a:chOff x="0" y="0"/>
            <a:chExt cx="80174" cy="123748"/>
          </a:xfrm>
        </p:grpSpPr>
        <p:sp>
          <p:nvSpPr>
            <p:cNvPr id="987" name="Google Shape;987;g3939f84b5ae_2_8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88" name="Google Shape;988;g3939f84b5ae_2_8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9" name="Google Shape;989;g3939f84b5ae_2_872"/>
          <p:cNvGrpSpPr/>
          <p:nvPr/>
        </p:nvGrpSpPr>
        <p:grpSpPr>
          <a:xfrm>
            <a:off x="1118602" y="5574809"/>
            <a:ext cx="244475" cy="400015"/>
            <a:chOff x="0" y="0"/>
            <a:chExt cx="80174" cy="123748"/>
          </a:xfrm>
        </p:grpSpPr>
        <p:sp>
          <p:nvSpPr>
            <p:cNvPr id="990" name="Google Shape;990;g3939f84b5ae_2_8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91" name="Google Shape;991;g3939f84b5ae_2_8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2" name="Google Shape;992;g3939f84b5ae_2_872"/>
          <p:cNvGrpSpPr/>
          <p:nvPr/>
        </p:nvGrpSpPr>
        <p:grpSpPr>
          <a:xfrm>
            <a:off x="1116543" y="6267817"/>
            <a:ext cx="244475" cy="400015"/>
            <a:chOff x="0" y="0"/>
            <a:chExt cx="80174" cy="123748"/>
          </a:xfrm>
        </p:grpSpPr>
        <p:sp>
          <p:nvSpPr>
            <p:cNvPr id="993" name="Google Shape;993;g3939f84b5ae_2_8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94" name="Google Shape;994;g3939f84b5ae_2_8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95" name="Google Shape;995;g3939f84b5ae_2_872" title="_- visual selection (2).png"/>
          <p:cNvPicPr preferRelativeResize="0"/>
          <p:nvPr/>
        </p:nvPicPr>
        <p:blipFill rotWithShape="1">
          <a:blip r:embed="rId5">
            <a:alphaModFix/>
          </a:blip>
          <a:srcRect b="6646" l="0" r="1068" t="0"/>
          <a:stretch/>
        </p:blipFill>
        <p:spPr>
          <a:xfrm>
            <a:off x="11504600" y="3613424"/>
            <a:ext cx="5754700" cy="40082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939f84b5ae_2_900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001" name="Google Shape;1001;g3939f84b5ae_2_900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Reducing Information Overload: Text Summarization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02" name="Google Shape;1002;g3939f84b5ae_2_900"/>
          <p:cNvSpPr txBox="1"/>
          <p:nvPr/>
        </p:nvSpPr>
        <p:spPr>
          <a:xfrm>
            <a:off x="1028693" y="3516002"/>
            <a:ext cx="85704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Traditional Extractive Techniques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03" name="Google Shape;1003;g3939f84b5ae_2_900"/>
          <p:cNvSpPr txBox="1"/>
          <p:nvPr/>
        </p:nvSpPr>
        <p:spPr>
          <a:xfrm>
            <a:off x="1650879" y="4586244"/>
            <a:ext cx="7989900" cy="3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Graph-based ranking (TextRank)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Sentence similarity scoring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 deep semantics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Still useful for formal text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004" name="Google Shape;1004;g3939f84b5ae_2_90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005" name="Google Shape;1005;g3939f84b5ae_2_90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06" name="Google Shape;1006;g3939f84b5ae_2_90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7" name="Google Shape;1007;g3939f84b5ae_2_90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08" name="Google Shape;1008;g3939f84b5ae_2_90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009" name="Google Shape;1009;g3939f84b5ae_2_90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10" name="Google Shape;1010;g3939f84b5ae_2_90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1" name="Google Shape;1011;g3939f84b5ae_2_900"/>
          <p:cNvGrpSpPr/>
          <p:nvPr/>
        </p:nvGrpSpPr>
        <p:grpSpPr>
          <a:xfrm>
            <a:off x="1068113" y="4474876"/>
            <a:ext cx="244475" cy="400015"/>
            <a:chOff x="0" y="0"/>
            <a:chExt cx="80174" cy="123748"/>
          </a:xfrm>
        </p:grpSpPr>
        <p:sp>
          <p:nvSpPr>
            <p:cNvPr id="1012" name="Google Shape;1012;g3939f84b5ae_2_90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13" name="Google Shape;1013;g3939f84b5ae_2_90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4" name="Google Shape;1014;g3939f84b5ae_2_900"/>
          <p:cNvGrpSpPr/>
          <p:nvPr/>
        </p:nvGrpSpPr>
        <p:grpSpPr>
          <a:xfrm>
            <a:off x="1068811" y="5038445"/>
            <a:ext cx="244475" cy="400015"/>
            <a:chOff x="0" y="0"/>
            <a:chExt cx="80174" cy="123748"/>
          </a:xfrm>
        </p:grpSpPr>
        <p:sp>
          <p:nvSpPr>
            <p:cNvPr id="1015" name="Google Shape;1015;g3939f84b5ae_2_90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16" name="Google Shape;1016;g3939f84b5ae_2_90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7" name="Google Shape;1017;g3939f84b5ae_2_900"/>
          <p:cNvGrpSpPr/>
          <p:nvPr/>
        </p:nvGrpSpPr>
        <p:grpSpPr>
          <a:xfrm>
            <a:off x="1068811" y="5677976"/>
            <a:ext cx="244475" cy="400015"/>
            <a:chOff x="0" y="0"/>
            <a:chExt cx="80174" cy="123748"/>
          </a:xfrm>
        </p:grpSpPr>
        <p:sp>
          <p:nvSpPr>
            <p:cNvPr id="1018" name="Google Shape;1018;g3939f84b5ae_2_90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19" name="Google Shape;1019;g3939f84b5ae_2_90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0" name="Google Shape;1020;g3939f84b5ae_2_900"/>
          <p:cNvGrpSpPr/>
          <p:nvPr/>
        </p:nvGrpSpPr>
        <p:grpSpPr>
          <a:xfrm>
            <a:off x="1066752" y="6370984"/>
            <a:ext cx="244475" cy="400015"/>
            <a:chOff x="0" y="0"/>
            <a:chExt cx="80174" cy="123748"/>
          </a:xfrm>
        </p:grpSpPr>
        <p:sp>
          <p:nvSpPr>
            <p:cNvPr id="1021" name="Google Shape;1021;g3939f84b5ae_2_90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22" name="Google Shape;1022;g3939f84b5ae_2_90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23" name="Google Shape;1023;g3939f84b5ae_2_900" title="ChatGPT Image 5 feb 2026, 10_30_38.png"/>
          <p:cNvPicPr preferRelativeResize="0"/>
          <p:nvPr/>
        </p:nvPicPr>
        <p:blipFill rotWithShape="1">
          <a:blip r:embed="rId5">
            <a:alphaModFix/>
          </a:blip>
          <a:srcRect b="15985" l="12264" r="10551" t="13532"/>
          <a:stretch/>
        </p:blipFill>
        <p:spPr>
          <a:xfrm>
            <a:off x="10727575" y="3714462"/>
            <a:ext cx="6531725" cy="397622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939f84b5ae_2_928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029" name="Google Shape;1029;g3939f84b5ae_2_928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Reducing Information Overload: Text Summarization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30" name="Google Shape;1030;g3939f84b5ae_2_928"/>
          <p:cNvSpPr txBox="1"/>
          <p:nvPr/>
        </p:nvSpPr>
        <p:spPr>
          <a:xfrm>
            <a:off x="1119476" y="3550514"/>
            <a:ext cx="102591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Transformer-Based Summarization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31" name="Google Shape;1031;g3939f84b5ae_2_928"/>
          <p:cNvSpPr txBox="1"/>
          <p:nvPr/>
        </p:nvSpPr>
        <p:spPr>
          <a:xfrm>
            <a:off x="1589403" y="4504276"/>
            <a:ext cx="79899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Uses full-document context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Learns semantic importance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State-of-the-art performance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Dominant in production systems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032" name="Google Shape;1032;g3939f84b5ae_2_92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033" name="Google Shape;1033;g3939f84b5ae_2_92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34" name="Google Shape;1034;g3939f84b5ae_2_92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5" name="Google Shape;1035;g3939f84b5ae_2_92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36" name="Google Shape;1036;g3939f84b5ae_2_92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037" name="Google Shape;1037;g3939f84b5ae_2_92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38" name="Google Shape;1038;g3939f84b5ae_2_92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9" name="Google Shape;1039;g3939f84b5ae_2_928"/>
          <p:cNvGrpSpPr/>
          <p:nvPr/>
        </p:nvGrpSpPr>
        <p:grpSpPr>
          <a:xfrm>
            <a:off x="1158888" y="4468401"/>
            <a:ext cx="244475" cy="400015"/>
            <a:chOff x="0" y="0"/>
            <a:chExt cx="80174" cy="123748"/>
          </a:xfrm>
        </p:grpSpPr>
        <p:sp>
          <p:nvSpPr>
            <p:cNvPr id="1040" name="Google Shape;1040;g3939f84b5ae_2_9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41" name="Google Shape;1041;g3939f84b5ae_2_92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2" name="Google Shape;1042;g3939f84b5ae_2_928"/>
          <p:cNvGrpSpPr/>
          <p:nvPr/>
        </p:nvGrpSpPr>
        <p:grpSpPr>
          <a:xfrm>
            <a:off x="1159586" y="5031970"/>
            <a:ext cx="244475" cy="400015"/>
            <a:chOff x="0" y="0"/>
            <a:chExt cx="80174" cy="123748"/>
          </a:xfrm>
        </p:grpSpPr>
        <p:sp>
          <p:nvSpPr>
            <p:cNvPr id="1043" name="Google Shape;1043;g3939f84b5ae_2_9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44" name="Google Shape;1044;g3939f84b5ae_2_92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5" name="Google Shape;1045;g3939f84b5ae_2_928"/>
          <p:cNvGrpSpPr/>
          <p:nvPr/>
        </p:nvGrpSpPr>
        <p:grpSpPr>
          <a:xfrm>
            <a:off x="1159586" y="5671501"/>
            <a:ext cx="244475" cy="400015"/>
            <a:chOff x="0" y="0"/>
            <a:chExt cx="80174" cy="123748"/>
          </a:xfrm>
        </p:grpSpPr>
        <p:sp>
          <p:nvSpPr>
            <p:cNvPr id="1046" name="Google Shape;1046;g3939f84b5ae_2_9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47" name="Google Shape;1047;g3939f84b5ae_2_92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8" name="Google Shape;1048;g3939f84b5ae_2_928"/>
          <p:cNvGrpSpPr/>
          <p:nvPr/>
        </p:nvGrpSpPr>
        <p:grpSpPr>
          <a:xfrm>
            <a:off x="1157527" y="6364509"/>
            <a:ext cx="244475" cy="400015"/>
            <a:chOff x="0" y="0"/>
            <a:chExt cx="80174" cy="123748"/>
          </a:xfrm>
        </p:grpSpPr>
        <p:sp>
          <p:nvSpPr>
            <p:cNvPr id="1049" name="Google Shape;1049;g3939f84b5ae_2_9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50" name="Google Shape;1050;g3939f84b5ae_2_92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51" name="Google Shape;1051;g3939f84b5ae_2_928" title="ChatGPT Image 5 feb 2026, 10_32_29.png"/>
          <p:cNvPicPr preferRelativeResize="0"/>
          <p:nvPr/>
        </p:nvPicPr>
        <p:blipFill rotWithShape="1">
          <a:blip r:embed="rId5">
            <a:alphaModFix/>
          </a:blip>
          <a:srcRect b="21470" l="7403" r="6412" t="0"/>
          <a:stretch/>
        </p:blipFill>
        <p:spPr>
          <a:xfrm>
            <a:off x="11000325" y="3714453"/>
            <a:ext cx="6258973" cy="380240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939f84b5ae_2_956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057" name="Google Shape;1057;g3939f84b5ae_2_956"/>
          <p:cNvSpPr txBox="1"/>
          <p:nvPr/>
        </p:nvSpPr>
        <p:spPr>
          <a:xfrm>
            <a:off x="1028700" y="2025600"/>
            <a:ext cx="15192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Reducing Information Overload: Text Summarization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58" name="Google Shape;1058;g3939f84b5ae_2_956"/>
          <p:cNvSpPr txBox="1"/>
          <p:nvPr/>
        </p:nvSpPr>
        <p:spPr>
          <a:xfrm>
            <a:off x="1119476" y="3398114"/>
            <a:ext cx="102591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BART and T5 Models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59" name="Google Shape;1059;g3939f84b5ae_2_956"/>
          <p:cNvSpPr txBox="1"/>
          <p:nvPr/>
        </p:nvSpPr>
        <p:spPr>
          <a:xfrm>
            <a:off x="1589403" y="4351876"/>
            <a:ext cx="79899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</a:t>
            </a: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Encoder–Decoder architectures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Pre-trained for text reconstruction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Strong performance on long documents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Industry standard for summarization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060" name="Google Shape;1060;g3939f84b5ae_2_95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061" name="Google Shape;1061;g3939f84b5ae_2_95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62" name="Google Shape;1062;g3939f84b5ae_2_95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3" name="Google Shape;1063;g3939f84b5ae_2_95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64" name="Google Shape;1064;g3939f84b5ae_2_95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065" name="Google Shape;1065;g3939f84b5ae_2_95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66" name="Google Shape;1066;g3939f84b5ae_2_95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7" name="Google Shape;1067;g3939f84b5ae_2_956"/>
          <p:cNvGrpSpPr/>
          <p:nvPr/>
        </p:nvGrpSpPr>
        <p:grpSpPr>
          <a:xfrm>
            <a:off x="1158888" y="4316001"/>
            <a:ext cx="244475" cy="400015"/>
            <a:chOff x="0" y="0"/>
            <a:chExt cx="80174" cy="123748"/>
          </a:xfrm>
        </p:grpSpPr>
        <p:sp>
          <p:nvSpPr>
            <p:cNvPr id="1068" name="Google Shape;1068;g3939f84b5ae_2_95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69" name="Google Shape;1069;g3939f84b5ae_2_95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0" name="Google Shape;1070;g3939f84b5ae_2_956"/>
          <p:cNvGrpSpPr/>
          <p:nvPr/>
        </p:nvGrpSpPr>
        <p:grpSpPr>
          <a:xfrm>
            <a:off x="1159586" y="4879570"/>
            <a:ext cx="244475" cy="400015"/>
            <a:chOff x="0" y="0"/>
            <a:chExt cx="80174" cy="123748"/>
          </a:xfrm>
        </p:grpSpPr>
        <p:sp>
          <p:nvSpPr>
            <p:cNvPr id="1071" name="Google Shape;1071;g3939f84b5ae_2_95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72" name="Google Shape;1072;g3939f84b5ae_2_95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3" name="Google Shape;1073;g3939f84b5ae_2_956"/>
          <p:cNvGrpSpPr/>
          <p:nvPr/>
        </p:nvGrpSpPr>
        <p:grpSpPr>
          <a:xfrm>
            <a:off x="1159586" y="5519101"/>
            <a:ext cx="244475" cy="400015"/>
            <a:chOff x="0" y="0"/>
            <a:chExt cx="80174" cy="123748"/>
          </a:xfrm>
        </p:grpSpPr>
        <p:sp>
          <p:nvSpPr>
            <p:cNvPr id="1074" name="Google Shape;1074;g3939f84b5ae_2_95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75" name="Google Shape;1075;g3939f84b5ae_2_95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6" name="Google Shape;1076;g3939f84b5ae_2_956"/>
          <p:cNvGrpSpPr/>
          <p:nvPr/>
        </p:nvGrpSpPr>
        <p:grpSpPr>
          <a:xfrm>
            <a:off x="1157527" y="6212109"/>
            <a:ext cx="244475" cy="400015"/>
            <a:chOff x="0" y="0"/>
            <a:chExt cx="80174" cy="123748"/>
          </a:xfrm>
        </p:grpSpPr>
        <p:sp>
          <p:nvSpPr>
            <p:cNvPr id="1077" name="Google Shape;1077;g3939f84b5ae_2_95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78" name="Google Shape;1078;g3939f84b5ae_2_95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79" name="Google Shape;1079;g3939f84b5ae_2_956" title="ChatGPT Image 5 feb 2026, 10_35_17.png"/>
          <p:cNvPicPr preferRelativeResize="0"/>
          <p:nvPr/>
        </p:nvPicPr>
        <p:blipFill rotWithShape="1">
          <a:blip r:embed="rId5">
            <a:alphaModFix/>
          </a:blip>
          <a:srcRect b="9504" l="8343" r="7040" t="5634"/>
          <a:stretch/>
        </p:blipFill>
        <p:spPr>
          <a:xfrm>
            <a:off x="10796460" y="3710950"/>
            <a:ext cx="6462831" cy="432112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939f84b5ae_2_984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085" name="Google Shape;1085;g3939f84b5ae_2_984"/>
          <p:cNvSpPr txBox="1"/>
          <p:nvPr/>
        </p:nvSpPr>
        <p:spPr>
          <a:xfrm>
            <a:off x="1028700" y="2025600"/>
            <a:ext cx="151929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5.4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Reducing Information Overload: Text Summarization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86" name="Google Shape;1086;g3939f84b5ae_2_984"/>
          <p:cNvSpPr txBox="1"/>
          <p:nvPr/>
        </p:nvSpPr>
        <p:spPr>
          <a:xfrm>
            <a:off x="1119476" y="3386577"/>
            <a:ext cx="102591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Evaluation Metrics (ROUGE)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87" name="Google Shape;1087;g3939f84b5ae_2_984"/>
          <p:cNvSpPr txBox="1"/>
          <p:nvPr/>
        </p:nvSpPr>
        <p:spPr>
          <a:xfrm>
            <a:off x="1609895" y="4319848"/>
            <a:ext cx="7989900" cy="3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Measures overlap with human summaries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ROUGE-1, ROUGE-2, ROUGE-L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Focuses on recall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Does not ensure factuality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088" name="Google Shape;1088;g3939f84b5ae_2_98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089" name="Google Shape;1089;g3939f84b5ae_2_98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90" name="Google Shape;1090;g3939f84b5ae_2_98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1" name="Google Shape;1091;g3939f84b5ae_2_98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92" name="Google Shape;1092;g3939f84b5ae_2_98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093" name="Google Shape;1093;g3939f84b5ae_2_98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94" name="Google Shape;1094;g3939f84b5ae_2_98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5" name="Google Shape;1095;g3939f84b5ae_2_984"/>
          <p:cNvGrpSpPr/>
          <p:nvPr/>
        </p:nvGrpSpPr>
        <p:grpSpPr>
          <a:xfrm>
            <a:off x="1158888" y="4283973"/>
            <a:ext cx="244475" cy="400015"/>
            <a:chOff x="0" y="0"/>
            <a:chExt cx="80174" cy="123748"/>
          </a:xfrm>
        </p:grpSpPr>
        <p:sp>
          <p:nvSpPr>
            <p:cNvPr id="1096" name="Google Shape;1096;g3939f84b5ae_2_98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97" name="Google Shape;1097;g3939f84b5ae_2_98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8" name="Google Shape;1098;g3939f84b5ae_2_984"/>
          <p:cNvGrpSpPr/>
          <p:nvPr/>
        </p:nvGrpSpPr>
        <p:grpSpPr>
          <a:xfrm>
            <a:off x="1159586" y="4847541"/>
            <a:ext cx="244475" cy="400015"/>
            <a:chOff x="0" y="0"/>
            <a:chExt cx="80174" cy="123748"/>
          </a:xfrm>
        </p:grpSpPr>
        <p:sp>
          <p:nvSpPr>
            <p:cNvPr id="1099" name="Google Shape;1099;g3939f84b5ae_2_98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00" name="Google Shape;1100;g3939f84b5ae_2_98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1" name="Google Shape;1101;g3939f84b5ae_2_984"/>
          <p:cNvGrpSpPr/>
          <p:nvPr/>
        </p:nvGrpSpPr>
        <p:grpSpPr>
          <a:xfrm>
            <a:off x="1159586" y="5487073"/>
            <a:ext cx="244475" cy="400015"/>
            <a:chOff x="0" y="0"/>
            <a:chExt cx="80174" cy="123748"/>
          </a:xfrm>
        </p:grpSpPr>
        <p:sp>
          <p:nvSpPr>
            <p:cNvPr id="1102" name="Google Shape;1102;g3939f84b5ae_2_98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03" name="Google Shape;1103;g3939f84b5ae_2_98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4" name="Google Shape;1104;g3939f84b5ae_2_984"/>
          <p:cNvGrpSpPr/>
          <p:nvPr/>
        </p:nvGrpSpPr>
        <p:grpSpPr>
          <a:xfrm>
            <a:off x="1157527" y="6180081"/>
            <a:ext cx="244475" cy="400015"/>
            <a:chOff x="0" y="0"/>
            <a:chExt cx="80174" cy="123748"/>
          </a:xfrm>
        </p:grpSpPr>
        <p:sp>
          <p:nvSpPr>
            <p:cNvPr id="1105" name="Google Shape;1105;g3939f84b5ae_2_98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06" name="Google Shape;1106;g3939f84b5ae_2_98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7" name="Google Shape;1107;g3939f84b5ae_2_984" title="Diagram type_ Educational comparison schematic, summary evaluation visualization. - visual selection.png"/>
          <p:cNvPicPr preferRelativeResize="0"/>
          <p:nvPr/>
        </p:nvPicPr>
        <p:blipFill rotWithShape="1">
          <a:blip r:embed="rId5">
            <a:alphaModFix/>
          </a:blip>
          <a:srcRect b="7969" l="0" r="0" t="0"/>
          <a:stretch/>
        </p:blipFill>
        <p:spPr>
          <a:xfrm>
            <a:off x="9771825" y="3714450"/>
            <a:ext cx="7487474" cy="368307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939f84b5ae_2_1012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113" name="Google Shape;1113;g3939f84b5ae_2_1012"/>
          <p:cNvSpPr txBox="1"/>
          <p:nvPr/>
        </p:nvSpPr>
        <p:spPr>
          <a:xfrm>
            <a:off x="1028700" y="2025600"/>
            <a:ext cx="151929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Reducing Information Overload: Text Summarization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14" name="Google Shape;1114;g3939f84b5ae_2_1012"/>
          <p:cNvSpPr txBox="1"/>
          <p:nvPr/>
        </p:nvSpPr>
        <p:spPr>
          <a:xfrm>
            <a:off x="1078492" y="3284117"/>
            <a:ext cx="102591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Key Takeaways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15" name="Google Shape;1115;g3939f84b5ae_2_1012"/>
          <p:cNvSpPr txBox="1"/>
          <p:nvPr/>
        </p:nvSpPr>
        <p:spPr>
          <a:xfrm>
            <a:off x="1548419" y="4278864"/>
            <a:ext cx="79899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Summarization manages information overload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Extractive = safer, abstractive = denser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Transformers dominate modern systems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16" name="Google Shape;1116;g3939f84b5ae_2_101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117" name="Google Shape;1117;g3939f84b5ae_2_101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18" name="Google Shape;1118;g3939f84b5ae_2_101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9" name="Google Shape;1119;g3939f84b5ae_2_101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20" name="Google Shape;1120;g3939f84b5ae_2_101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121" name="Google Shape;1121;g3939f84b5ae_2_101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22" name="Google Shape;1122;g3939f84b5ae_2_101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3" name="Google Shape;1123;g3939f84b5ae_2_1012"/>
          <p:cNvGrpSpPr/>
          <p:nvPr/>
        </p:nvGrpSpPr>
        <p:grpSpPr>
          <a:xfrm>
            <a:off x="1117904" y="4283973"/>
            <a:ext cx="244475" cy="400015"/>
            <a:chOff x="0" y="0"/>
            <a:chExt cx="80174" cy="123748"/>
          </a:xfrm>
        </p:grpSpPr>
        <p:sp>
          <p:nvSpPr>
            <p:cNvPr id="1124" name="Google Shape;1124;g3939f84b5ae_2_101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25" name="Google Shape;1125;g3939f84b5ae_2_101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6" name="Google Shape;1126;g3939f84b5ae_2_1012"/>
          <p:cNvGrpSpPr/>
          <p:nvPr/>
        </p:nvGrpSpPr>
        <p:grpSpPr>
          <a:xfrm>
            <a:off x="1118602" y="4847541"/>
            <a:ext cx="244475" cy="400015"/>
            <a:chOff x="0" y="0"/>
            <a:chExt cx="80174" cy="123748"/>
          </a:xfrm>
        </p:grpSpPr>
        <p:sp>
          <p:nvSpPr>
            <p:cNvPr id="1127" name="Google Shape;1127;g3939f84b5ae_2_101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28" name="Google Shape;1128;g3939f84b5ae_2_101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9" name="Google Shape;1129;g3939f84b5ae_2_1012"/>
          <p:cNvGrpSpPr/>
          <p:nvPr/>
        </p:nvGrpSpPr>
        <p:grpSpPr>
          <a:xfrm>
            <a:off x="1118602" y="5487073"/>
            <a:ext cx="244475" cy="400015"/>
            <a:chOff x="0" y="0"/>
            <a:chExt cx="80174" cy="123748"/>
          </a:xfrm>
        </p:grpSpPr>
        <p:sp>
          <p:nvSpPr>
            <p:cNvPr id="1130" name="Google Shape;1130;g3939f84b5ae_2_101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31" name="Google Shape;1131;g3939f84b5ae_2_101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32" name="Google Shape;1132;g3939f84b5ae_2_1012" title="ChatGPT Image 5 feb 2026, 10_43_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90821" y="3428999"/>
            <a:ext cx="6327502" cy="421829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939f84b5ae_2_104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67" t="-52938"/>
            </a:stretch>
          </a:blipFill>
          <a:ln>
            <a:noFill/>
          </a:ln>
        </p:spPr>
      </p:sp>
      <p:grpSp>
        <p:nvGrpSpPr>
          <p:cNvPr id="1138" name="Google Shape;1138;g3939f84b5ae_2_1040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1139" name="Google Shape;1139;g3939f84b5ae_2_1040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40" name="Google Shape;1140;g3939f84b5ae_2_1040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1" name="Google Shape;1141;g3939f84b5ae_2_1040"/>
          <p:cNvGrpSpPr/>
          <p:nvPr/>
        </p:nvGrpSpPr>
        <p:grpSpPr>
          <a:xfrm>
            <a:off x="1259550" y="5092876"/>
            <a:ext cx="13748675" cy="667593"/>
            <a:chOff x="0" y="-9525"/>
            <a:chExt cx="2404287" cy="189900"/>
          </a:xfrm>
        </p:grpSpPr>
        <p:sp>
          <p:nvSpPr>
            <p:cNvPr id="1142" name="Google Shape;1142;g3939f84b5ae_2_1040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43" name="Google Shape;1143;g3939f84b5ae_2_1040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75" lIns="76075" spcFirstLastPara="1" rIns="76075" wrap="square" tIns="760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95"/>
                <a:buFont typeface="Arial"/>
                <a:buNone/>
              </a:pPr>
              <a:r>
                <a:t/>
              </a:r>
              <a:endParaRPr b="0" i="0" sz="26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4" name="Google Shape;1144;g3939f84b5ae_2_1040"/>
          <p:cNvSpPr txBox="1"/>
          <p:nvPr/>
        </p:nvSpPr>
        <p:spPr>
          <a:xfrm>
            <a:off x="1211975" y="2317025"/>
            <a:ext cx="139251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5.1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123">
              <a:solidFill>
                <a:srgbClr val="AEAEAE"/>
              </a:solidFill>
              <a:highlight>
                <a:schemeClr val="lt1"/>
              </a:highlight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Core Task</a:t>
            </a: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5.3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5.4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Reducing Information Overload: Text Summarization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5.5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Information Retrieval: Question Answering Systems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Task Comparison and the Future of Applied NLP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45" name="Google Shape;1145;g3939f84b5ae_2_104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6" name="Google Shape;1146;g3939f84b5ae_2_1040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939f84b5ae_2_1053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152" name="Google Shape;1152;g3939f84b5ae_2_1053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Information Retrieval: Question Answering Systems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53" name="Google Shape;1153;g3939f84b5ae_2_1053"/>
          <p:cNvSpPr txBox="1"/>
          <p:nvPr/>
        </p:nvSpPr>
        <p:spPr>
          <a:xfrm>
            <a:off x="1119476" y="3257250"/>
            <a:ext cx="10259100" cy="29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is Question Answering (QA)?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54" name="Google Shape;1154;g3939f84b5ae_2_1053"/>
          <p:cNvSpPr txBox="1"/>
          <p:nvPr/>
        </p:nvSpPr>
        <p:spPr>
          <a:xfrm>
            <a:off x="1629990" y="4009819"/>
            <a:ext cx="79899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Goes beyond keyword search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Requires language understanding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Core of modern AI assistants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55" name="Google Shape;1155;g3939f84b5ae_2_105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156" name="Google Shape;1156;g3939f84b5ae_2_105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57" name="Google Shape;1157;g3939f84b5ae_2_105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8" name="Google Shape;1158;g3939f84b5ae_2_105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59" name="Google Shape;1159;g3939f84b5ae_2_105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160" name="Google Shape;1160;g3939f84b5ae_2_105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61" name="Google Shape;1161;g3939f84b5ae_2_105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2" name="Google Shape;1162;g3939f84b5ae_2_1053"/>
          <p:cNvGrpSpPr/>
          <p:nvPr/>
        </p:nvGrpSpPr>
        <p:grpSpPr>
          <a:xfrm>
            <a:off x="1158888" y="4260293"/>
            <a:ext cx="244475" cy="400015"/>
            <a:chOff x="0" y="0"/>
            <a:chExt cx="80174" cy="123748"/>
          </a:xfrm>
        </p:grpSpPr>
        <p:sp>
          <p:nvSpPr>
            <p:cNvPr id="1163" name="Google Shape;1163;g3939f84b5ae_2_105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64" name="Google Shape;1164;g3939f84b5ae_2_105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5" name="Google Shape;1165;g3939f84b5ae_2_1053"/>
          <p:cNvGrpSpPr/>
          <p:nvPr/>
        </p:nvGrpSpPr>
        <p:grpSpPr>
          <a:xfrm>
            <a:off x="1159586" y="4823862"/>
            <a:ext cx="244475" cy="400015"/>
            <a:chOff x="0" y="0"/>
            <a:chExt cx="80174" cy="123748"/>
          </a:xfrm>
        </p:grpSpPr>
        <p:sp>
          <p:nvSpPr>
            <p:cNvPr id="1166" name="Google Shape;1166;g3939f84b5ae_2_105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67" name="Google Shape;1167;g3939f84b5ae_2_105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8" name="Google Shape;1168;g3939f84b5ae_2_1053"/>
          <p:cNvGrpSpPr/>
          <p:nvPr/>
        </p:nvGrpSpPr>
        <p:grpSpPr>
          <a:xfrm>
            <a:off x="1159586" y="5463393"/>
            <a:ext cx="244475" cy="400015"/>
            <a:chOff x="0" y="0"/>
            <a:chExt cx="80174" cy="123748"/>
          </a:xfrm>
        </p:grpSpPr>
        <p:sp>
          <p:nvSpPr>
            <p:cNvPr id="1169" name="Google Shape;1169;g3939f84b5ae_2_105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70" name="Google Shape;1170;g3939f84b5ae_2_105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71" name="Google Shape;1171;g3939f84b5ae_2_1053" title="Diagram type_ Enterprise AI question-answering pipeline schematic. - visual selection.png"/>
          <p:cNvPicPr preferRelativeResize="0"/>
          <p:nvPr/>
        </p:nvPicPr>
        <p:blipFill rotWithShape="1">
          <a:blip r:embed="rId5">
            <a:alphaModFix/>
          </a:blip>
          <a:srcRect b="11629" l="0" r="0" t="0"/>
          <a:stretch/>
        </p:blipFill>
        <p:spPr>
          <a:xfrm>
            <a:off x="11763550" y="3429000"/>
            <a:ext cx="5495750" cy="46137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939f84b5ae_2_1081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177" name="Google Shape;1177;g3939f84b5ae_2_1081"/>
          <p:cNvSpPr txBox="1"/>
          <p:nvPr/>
        </p:nvSpPr>
        <p:spPr>
          <a:xfrm>
            <a:off x="1028700" y="2025600"/>
            <a:ext cx="151929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Information Retrieval: Question Answering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78" name="Google Shape;1178;g3939f84b5ae_2_1081"/>
          <p:cNvSpPr txBox="1"/>
          <p:nvPr/>
        </p:nvSpPr>
        <p:spPr>
          <a:xfrm>
            <a:off x="1119476" y="3160558"/>
            <a:ext cx="10259100" cy="3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Extractive Question Answering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79" name="Google Shape;1179;g3939f84b5ae_2_1081"/>
          <p:cNvSpPr txBox="1"/>
          <p:nvPr/>
        </p:nvSpPr>
        <p:spPr>
          <a:xfrm>
            <a:off x="1599002" y="4179009"/>
            <a:ext cx="79899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Answer is a text span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Start and end token prediction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High factual precision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Limited to provided context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80" name="Google Shape;1180;g3939f84b5ae_2_108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181" name="Google Shape;1181;g3939f84b5ae_2_108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82" name="Google Shape;1182;g3939f84b5ae_2_108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3" name="Google Shape;1183;g3939f84b5ae_2_108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4" name="Google Shape;1184;g3939f84b5ae_2_108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185" name="Google Shape;1185;g3939f84b5ae_2_108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86" name="Google Shape;1186;g3939f84b5ae_2_108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7" name="Google Shape;1187;g3939f84b5ae_2_1081"/>
          <p:cNvGrpSpPr/>
          <p:nvPr/>
        </p:nvGrpSpPr>
        <p:grpSpPr>
          <a:xfrm>
            <a:off x="1158888" y="4143109"/>
            <a:ext cx="244475" cy="400015"/>
            <a:chOff x="0" y="0"/>
            <a:chExt cx="80174" cy="123748"/>
          </a:xfrm>
        </p:grpSpPr>
        <p:sp>
          <p:nvSpPr>
            <p:cNvPr id="1188" name="Google Shape;1188;g3939f84b5ae_2_108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89" name="Google Shape;1189;g3939f84b5ae_2_108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0" name="Google Shape;1190;g3939f84b5ae_2_1081"/>
          <p:cNvGrpSpPr/>
          <p:nvPr/>
        </p:nvGrpSpPr>
        <p:grpSpPr>
          <a:xfrm>
            <a:off x="1159586" y="4706678"/>
            <a:ext cx="244475" cy="400015"/>
            <a:chOff x="0" y="0"/>
            <a:chExt cx="80174" cy="123748"/>
          </a:xfrm>
        </p:grpSpPr>
        <p:sp>
          <p:nvSpPr>
            <p:cNvPr id="1191" name="Google Shape;1191;g3939f84b5ae_2_108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92" name="Google Shape;1192;g3939f84b5ae_2_108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3" name="Google Shape;1193;g3939f84b5ae_2_1081"/>
          <p:cNvGrpSpPr/>
          <p:nvPr/>
        </p:nvGrpSpPr>
        <p:grpSpPr>
          <a:xfrm>
            <a:off x="1159586" y="5346209"/>
            <a:ext cx="244475" cy="400015"/>
            <a:chOff x="0" y="0"/>
            <a:chExt cx="80174" cy="123748"/>
          </a:xfrm>
        </p:grpSpPr>
        <p:sp>
          <p:nvSpPr>
            <p:cNvPr id="1194" name="Google Shape;1194;g3939f84b5ae_2_108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95" name="Google Shape;1195;g3939f84b5ae_2_108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6" name="Google Shape;1196;g3939f84b5ae_2_1081"/>
          <p:cNvGrpSpPr/>
          <p:nvPr/>
        </p:nvGrpSpPr>
        <p:grpSpPr>
          <a:xfrm>
            <a:off x="1131784" y="5987731"/>
            <a:ext cx="244475" cy="400015"/>
            <a:chOff x="0" y="0"/>
            <a:chExt cx="80174" cy="123748"/>
          </a:xfrm>
        </p:grpSpPr>
        <p:sp>
          <p:nvSpPr>
            <p:cNvPr id="1197" name="Google Shape;1197;g3939f84b5ae_2_108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98" name="Google Shape;1198;g3939f84b5ae_2_108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99" name="Google Shape;1199;g3939f84b5ae_2_1081" title="ChatGPT Image 5 feb 2026, 10_48_05.png"/>
          <p:cNvPicPr preferRelativeResize="0"/>
          <p:nvPr/>
        </p:nvPicPr>
        <p:blipFill rotWithShape="1">
          <a:blip r:embed="rId5">
            <a:alphaModFix/>
          </a:blip>
          <a:srcRect b="0" l="11805" r="9018" t="0"/>
          <a:stretch/>
        </p:blipFill>
        <p:spPr>
          <a:xfrm>
            <a:off x="11735800" y="3281925"/>
            <a:ext cx="5523498" cy="465082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939f84b5ae_2_1109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205" name="Google Shape;1205;g3939f84b5ae_2_1109"/>
          <p:cNvSpPr txBox="1"/>
          <p:nvPr/>
        </p:nvSpPr>
        <p:spPr>
          <a:xfrm>
            <a:off x="1028700" y="2025600"/>
            <a:ext cx="151929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Information Retrieval: Question Answering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06" name="Google Shape;1206;g3939f84b5ae_2_1109"/>
          <p:cNvSpPr txBox="1"/>
          <p:nvPr/>
        </p:nvSpPr>
        <p:spPr>
          <a:xfrm>
            <a:off x="1119476" y="3301422"/>
            <a:ext cx="10259100" cy="4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SQuAD Paradigm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07" name="Google Shape;1207;g3939f84b5ae_2_1109"/>
          <p:cNvSpPr txBox="1"/>
          <p:nvPr/>
        </p:nvSpPr>
        <p:spPr>
          <a:xfrm>
            <a:off x="1558018" y="4275701"/>
            <a:ext cx="7989900" cy="3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Benchmark dataset for extractive QA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Context + Question → Span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Enabled large-scale QA training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Foundation for enterprise FAQ systems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208" name="Google Shape;1208;g3939f84b5ae_2_110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209" name="Google Shape;1209;g3939f84b5ae_2_110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10" name="Google Shape;1210;g3939f84b5ae_2_110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1" name="Google Shape;1211;g3939f84b5ae_2_110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12" name="Google Shape;1212;g3939f84b5ae_2_110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213" name="Google Shape;1213;g3939f84b5ae_2_110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14" name="Google Shape;1214;g3939f84b5ae_2_110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5" name="Google Shape;1215;g3939f84b5ae_2_1109"/>
          <p:cNvGrpSpPr/>
          <p:nvPr/>
        </p:nvGrpSpPr>
        <p:grpSpPr>
          <a:xfrm>
            <a:off x="1158888" y="4239801"/>
            <a:ext cx="244475" cy="400015"/>
            <a:chOff x="0" y="0"/>
            <a:chExt cx="80174" cy="123748"/>
          </a:xfrm>
        </p:grpSpPr>
        <p:sp>
          <p:nvSpPr>
            <p:cNvPr id="1216" name="Google Shape;1216;g3939f84b5ae_2_110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17" name="Google Shape;1217;g3939f84b5ae_2_110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8" name="Google Shape;1218;g3939f84b5ae_2_1109"/>
          <p:cNvGrpSpPr/>
          <p:nvPr/>
        </p:nvGrpSpPr>
        <p:grpSpPr>
          <a:xfrm>
            <a:off x="1159586" y="4803370"/>
            <a:ext cx="244475" cy="400015"/>
            <a:chOff x="0" y="0"/>
            <a:chExt cx="80174" cy="123748"/>
          </a:xfrm>
        </p:grpSpPr>
        <p:sp>
          <p:nvSpPr>
            <p:cNvPr id="1219" name="Google Shape;1219;g3939f84b5ae_2_110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20" name="Google Shape;1220;g3939f84b5ae_2_110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1" name="Google Shape;1221;g3939f84b5ae_2_1109"/>
          <p:cNvGrpSpPr/>
          <p:nvPr/>
        </p:nvGrpSpPr>
        <p:grpSpPr>
          <a:xfrm>
            <a:off x="1159586" y="5442901"/>
            <a:ext cx="244475" cy="400015"/>
            <a:chOff x="0" y="0"/>
            <a:chExt cx="80174" cy="123748"/>
          </a:xfrm>
        </p:grpSpPr>
        <p:sp>
          <p:nvSpPr>
            <p:cNvPr id="1222" name="Google Shape;1222;g3939f84b5ae_2_110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23" name="Google Shape;1223;g3939f84b5ae_2_110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4" name="Google Shape;1224;g3939f84b5ae_2_1109"/>
          <p:cNvGrpSpPr/>
          <p:nvPr/>
        </p:nvGrpSpPr>
        <p:grpSpPr>
          <a:xfrm>
            <a:off x="1131784" y="6084423"/>
            <a:ext cx="244475" cy="400015"/>
            <a:chOff x="0" y="0"/>
            <a:chExt cx="80174" cy="123748"/>
          </a:xfrm>
        </p:grpSpPr>
        <p:sp>
          <p:nvSpPr>
            <p:cNvPr id="1225" name="Google Shape;1225;g3939f84b5ae_2_110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26" name="Google Shape;1226;g3939f84b5ae_2_110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27" name="Google Shape;1227;g3939f84b5ae_2_1109" title="ChatGPT Image 5 feb 2026, 10_49_41.png"/>
          <p:cNvPicPr preferRelativeResize="0"/>
          <p:nvPr/>
        </p:nvPicPr>
        <p:blipFill rotWithShape="1">
          <a:blip r:embed="rId5">
            <a:alphaModFix/>
          </a:blip>
          <a:srcRect b="9565" l="0" r="0" t="14458"/>
          <a:stretch/>
        </p:blipFill>
        <p:spPr>
          <a:xfrm>
            <a:off x="8855065" y="3301424"/>
            <a:ext cx="8404236" cy="425692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939f84b5ae_2_1137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233" name="Google Shape;1233;g3939f84b5ae_2_1137"/>
          <p:cNvSpPr txBox="1"/>
          <p:nvPr/>
        </p:nvSpPr>
        <p:spPr>
          <a:xfrm>
            <a:off x="1028700" y="2025600"/>
            <a:ext cx="151929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5.5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Information Retrieval: Question Answering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34" name="Google Shape;1234;g3939f84b5ae_2_1137"/>
          <p:cNvSpPr txBox="1"/>
          <p:nvPr/>
        </p:nvSpPr>
        <p:spPr>
          <a:xfrm>
            <a:off x="1058000" y="3181657"/>
            <a:ext cx="10259100" cy="4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Generative Question Answering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35" name="Google Shape;1235;g3939f84b5ae_2_1137"/>
          <p:cNvSpPr txBox="1"/>
          <p:nvPr/>
        </p:nvSpPr>
        <p:spPr>
          <a:xfrm>
            <a:off x="1537526" y="4135445"/>
            <a:ext cx="79899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Benchmark dataset for extractive QA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Context + Question → Span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Enabled large-scale QA training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Foundation for enterprise FAQ systems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236" name="Google Shape;1236;g3939f84b5ae_2_113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237" name="Google Shape;1237;g3939f84b5ae_2_113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38" name="Google Shape;1238;g3939f84b5ae_2_113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9" name="Google Shape;1239;g3939f84b5ae_2_113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40" name="Google Shape;1240;g3939f84b5ae_2_113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241" name="Google Shape;1241;g3939f84b5ae_2_113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42" name="Google Shape;1242;g3939f84b5ae_2_113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3" name="Google Shape;1243;g3939f84b5ae_2_1137"/>
          <p:cNvGrpSpPr/>
          <p:nvPr/>
        </p:nvGrpSpPr>
        <p:grpSpPr>
          <a:xfrm>
            <a:off x="1097412" y="4058561"/>
            <a:ext cx="244475" cy="400015"/>
            <a:chOff x="0" y="0"/>
            <a:chExt cx="80174" cy="123748"/>
          </a:xfrm>
        </p:grpSpPr>
        <p:sp>
          <p:nvSpPr>
            <p:cNvPr id="1244" name="Google Shape;1244;g3939f84b5ae_2_11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45" name="Google Shape;1245;g3939f84b5ae_2_11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6" name="Google Shape;1246;g3939f84b5ae_2_1137"/>
          <p:cNvGrpSpPr/>
          <p:nvPr/>
        </p:nvGrpSpPr>
        <p:grpSpPr>
          <a:xfrm>
            <a:off x="1098110" y="4622129"/>
            <a:ext cx="244475" cy="400015"/>
            <a:chOff x="0" y="0"/>
            <a:chExt cx="80174" cy="123748"/>
          </a:xfrm>
        </p:grpSpPr>
        <p:sp>
          <p:nvSpPr>
            <p:cNvPr id="1247" name="Google Shape;1247;g3939f84b5ae_2_11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48" name="Google Shape;1248;g3939f84b5ae_2_11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9" name="Google Shape;1249;g3939f84b5ae_2_1137"/>
          <p:cNvGrpSpPr/>
          <p:nvPr/>
        </p:nvGrpSpPr>
        <p:grpSpPr>
          <a:xfrm>
            <a:off x="1098110" y="5261661"/>
            <a:ext cx="244475" cy="400015"/>
            <a:chOff x="0" y="0"/>
            <a:chExt cx="80174" cy="123748"/>
          </a:xfrm>
        </p:grpSpPr>
        <p:sp>
          <p:nvSpPr>
            <p:cNvPr id="1250" name="Google Shape;1250;g3939f84b5ae_2_11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51" name="Google Shape;1251;g3939f84b5ae_2_11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2" name="Google Shape;1252;g3939f84b5ae_2_1137"/>
          <p:cNvGrpSpPr/>
          <p:nvPr/>
        </p:nvGrpSpPr>
        <p:grpSpPr>
          <a:xfrm>
            <a:off x="1070308" y="5903182"/>
            <a:ext cx="244475" cy="400015"/>
            <a:chOff x="0" y="0"/>
            <a:chExt cx="80174" cy="123748"/>
          </a:xfrm>
        </p:grpSpPr>
        <p:sp>
          <p:nvSpPr>
            <p:cNvPr id="1253" name="Google Shape;1253;g3939f84b5ae_2_11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54" name="Google Shape;1254;g3939f84b5ae_2_11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55" name="Google Shape;1255;g3939f84b5ae_2_1137" title="Diagram type_ Decoder-only architecture schematic, generative QA vs extractive QA contrast. - visual selection.png"/>
          <p:cNvPicPr preferRelativeResize="0"/>
          <p:nvPr/>
        </p:nvPicPr>
        <p:blipFill rotWithShape="1">
          <a:blip r:embed="rId5">
            <a:alphaModFix/>
          </a:blip>
          <a:srcRect b="9148" l="0" r="0" t="0"/>
          <a:stretch/>
        </p:blipFill>
        <p:spPr>
          <a:xfrm>
            <a:off x="10175550" y="3478049"/>
            <a:ext cx="6985099" cy="41331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3939f84b5ae_2_1165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261" name="Google Shape;1261;g3939f84b5ae_2_1165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Information Retrieval: Question Answering System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62" name="Google Shape;1262;g3939f84b5ae_2_1165"/>
          <p:cNvSpPr txBox="1"/>
          <p:nvPr/>
        </p:nvSpPr>
        <p:spPr>
          <a:xfrm>
            <a:off x="1119475" y="3260438"/>
            <a:ext cx="91458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Knowledge-Based Question Answering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63" name="Google Shape;1263;g3939f84b5ae_2_1165"/>
          <p:cNvSpPr txBox="1"/>
          <p:nvPr/>
        </p:nvSpPr>
        <p:spPr>
          <a:xfrm>
            <a:off x="1566210" y="4944763"/>
            <a:ext cx="79899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Uses structured databases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Converts language to queries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Deterministic answers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High reliability systems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264" name="Google Shape;1264;g3939f84b5ae_2_116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265" name="Google Shape;1265;g3939f84b5ae_2_116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66" name="Google Shape;1266;g3939f84b5ae_2_116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7" name="Google Shape;1267;g3939f84b5ae_2_116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68" name="Google Shape;1268;g3939f84b5ae_2_116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269" name="Google Shape;1269;g3939f84b5ae_2_116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70" name="Google Shape;1270;g3939f84b5ae_2_116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1" name="Google Shape;1271;g3939f84b5ae_2_1165"/>
          <p:cNvGrpSpPr/>
          <p:nvPr/>
        </p:nvGrpSpPr>
        <p:grpSpPr>
          <a:xfrm>
            <a:off x="1105604" y="4908863"/>
            <a:ext cx="244475" cy="400015"/>
            <a:chOff x="0" y="0"/>
            <a:chExt cx="80174" cy="123748"/>
          </a:xfrm>
        </p:grpSpPr>
        <p:sp>
          <p:nvSpPr>
            <p:cNvPr id="1272" name="Google Shape;1272;g3939f84b5ae_2_116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73" name="Google Shape;1273;g3939f84b5ae_2_116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4" name="Google Shape;1274;g3939f84b5ae_2_1165"/>
          <p:cNvGrpSpPr/>
          <p:nvPr/>
        </p:nvGrpSpPr>
        <p:grpSpPr>
          <a:xfrm>
            <a:off x="1106302" y="5472431"/>
            <a:ext cx="244475" cy="400015"/>
            <a:chOff x="0" y="0"/>
            <a:chExt cx="80174" cy="123748"/>
          </a:xfrm>
        </p:grpSpPr>
        <p:sp>
          <p:nvSpPr>
            <p:cNvPr id="1275" name="Google Shape;1275;g3939f84b5ae_2_116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76" name="Google Shape;1276;g3939f84b5ae_2_116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7" name="Google Shape;1277;g3939f84b5ae_2_1165"/>
          <p:cNvGrpSpPr/>
          <p:nvPr/>
        </p:nvGrpSpPr>
        <p:grpSpPr>
          <a:xfrm>
            <a:off x="1106302" y="6111963"/>
            <a:ext cx="244475" cy="400015"/>
            <a:chOff x="0" y="0"/>
            <a:chExt cx="80174" cy="123748"/>
          </a:xfrm>
        </p:grpSpPr>
        <p:sp>
          <p:nvSpPr>
            <p:cNvPr id="1278" name="Google Shape;1278;g3939f84b5ae_2_116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79" name="Google Shape;1279;g3939f84b5ae_2_116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0" name="Google Shape;1280;g3939f84b5ae_2_1165"/>
          <p:cNvGrpSpPr/>
          <p:nvPr/>
        </p:nvGrpSpPr>
        <p:grpSpPr>
          <a:xfrm>
            <a:off x="1078500" y="6753485"/>
            <a:ext cx="244475" cy="400015"/>
            <a:chOff x="0" y="0"/>
            <a:chExt cx="80174" cy="123748"/>
          </a:xfrm>
        </p:grpSpPr>
        <p:sp>
          <p:nvSpPr>
            <p:cNvPr id="1281" name="Google Shape;1281;g3939f84b5ae_2_116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82" name="Google Shape;1282;g3939f84b5ae_2_116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83" name="Google Shape;1283;g3939f84b5ae_2_1165" title="ChatGPT Image 5 feb 2026, 08_30_23.png"/>
          <p:cNvPicPr preferRelativeResize="0"/>
          <p:nvPr/>
        </p:nvPicPr>
        <p:blipFill rotWithShape="1">
          <a:blip r:embed="rId5">
            <a:alphaModFix/>
          </a:blip>
          <a:srcRect b="13948" l="0" r="0" t="0"/>
          <a:stretch/>
        </p:blipFill>
        <p:spPr>
          <a:xfrm>
            <a:off x="10476470" y="3714450"/>
            <a:ext cx="6782830" cy="389114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939f84b5ae_2_1194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289" name="Google Shape;1289;g3939f84b5ae_2_1194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Information Retrieval: Question Answering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90" name="Google Shape;1290;g3939f84b5ae_2_1194"/>
          <p:cNvSpPr txBox="1"/>
          <p:nvPr/>
        </p:nvSpPr>
        <p:spPr>
          <a:xfrm>
            <a:off x="1037507" y="3348174"/>
            <a:ext cx="9145800" cy="17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Retrieval-Augmented Generation (RAG)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91" name="Google Shape;1291;g3939f84b5ae_2_1194"/>
          <p:cNvSpPr txBox="1"/>
          <p:nvPr/>
        </p:nvSpPr>
        <p:spPr>
          <a:xfrm>
            <a:off x="1504727" y="4824390"/>
            <a:ext cx="67827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Industry-standard QA architecture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Combines retrieval + generation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Uses private documents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Reduces hallucinations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292" name="Google Shape;1292;g3939f84b5ae_2_119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293" name="Google Shape;1293;g3939f84b5ae_2_119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94" name="Google Shape;1294;g3939f84b5ae_2_119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g3939f84b5ae_2_119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96" name="Google Shape;1296;g3939f84b5ae_2_119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297" name="Google Shape;1297;g3939f84b5ae_2_119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98" name="Google Shape;1298;g3939f84b5ae_2_119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9" name="Google Shape;1299;g3939f84b5ae_2_1194"/>
          <p:cNvGrpSpPr/>
          <p:nvPr/>
        </p:nvGrpSpPr>
        <p:grpSpPr>
          <a:xfrm>
            <a:off x="1064620" y="4829475"/>
            <a:ext cx="244475" cy="400015"/>
            <a:chOff x="0" y="0"/>
            <a:chExt cx="80174" cy="123748"/>
          </a:xfrm>
        </p:grpSpPr>
        <p:sp>
          <p:nvSpPr>
            <p:cNvPr id="1300" name="Google Shape;1300;g3939f84b5ae_2_119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01" name="Google Shape;1301;g3939f84b5ae_2_119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2" name="Google Shape;1302;g3939f84b5ae_2_1194"/>
          <p:cNvGrpSpPr/>
          <p:nvPr/>
        </p:nvGrpSpPr>
        <p:grpSpPr>
          <a:xfrm>
            <a:off x="1061218" y="5426255"/>
            <a:ext cx="244475" cy="400015"/>
            <a:chOff x="0" y="0"/>
            <a:chExt cx="80174" cy="123748"/>
          </a:xfrm>
        </p:grpSpPr>
        <p:sp>
          <p:nvSpPr>
            <p:cNvPr id="1303" name="Google Shape;1303;g3939f84b5ae_2_119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04" name="Google Shape;1304;g3939f84b5ae_2_119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5" name="Google Shape;1305;g3939f84b5ae_2_1194"/>
          <p:cNvGrpSpPr/>
          <p:nvPr/>
        </p:nvGrpSpPr>
        <p:grpSpPr>
          <a:xfrm>
            <a:off x="1064614" y="6030677"/>
            <a:ext cx="244475" cy="400015"/>
            <a:chOff x="0" y="0"/>
            <a:chExt cx="80174" cy="123748"/>
          </a:xfrm>
        </p:grpSpPr>
        <p:sp>
          <p:nvSpPr>
            <p:cNvPr id="1306" name="Google Shape;1306;g3939f84b5ae_2_119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07" name="Google Shape;1307;g3939f84b5ae_2_119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8" name="Google Shape;1308;g3939f84b5ae_2_1194"/>
          <p:cNvGrpSpPr/>
          <p:nvPr/>
        </p:nvGrpSpPr>
        <p:grpSpPr>
          <a:xfrm>
            <a:off x="1064612" y="6635118"/>
            <a:ext cx="244475" cy="400015"/>
            <a:chOff x="0" y="0"/>
            <a:chExt cx="80174" cy="123748"/>
          </a:xfrm>
        </p:grpSpPr>
        <p:sp>
          <p:nvSpPr>
            <p:cNvPr id="1309" name="Google Shape;1309;g3939f84b5ae_2_119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10" name="Google Shape;1310;g3939f84b5ae_2_119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11" name="Google Shape;1311;g3939f84b5ae_2_1194" title="ChatGPT Image 5 feb 2026, 11_22_30.png"/>
          <p:cNvPicPr preferRelativeResize="0"/>
          <p:nvPr/>
        </p:nvPicPr>
        <p:blipFill rotWithShape="1">
          <a:blip r:embed="rId5">
            <a:alphaModFix/>
          </a:blip>
          <a:srcRect b="12149" l="0" r="0" t="0"/>
          <a:stretch/>
        </p:blipFill>
        <p:spPr>
          <a:xfrm>
            <a:off x="10175950" y="3714450"/>
            <a:ext cx="7083348" cy="41486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939f84b5ae_2_1225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317" name="Google Shape;1317;g3939f84b5ae_2_1225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Information Retrieval: Question Answering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18" name="Google Shape;1318;g3939f84b5ae_2_1225"/>
          <p:cNvSpPr txBox="1"/>
          <p:nvPr/>
        </p:nvSpPr>
        <p:spPr>
          <a:xfrm>
            <a:off x="1043275" y="3409650"/>
            <a:ext cx="9145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Vector Databases in QA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19" name="Google Shape;1319;g3939f84b5ae_2_1225"/>
          <p:cNvSpPr txBox="1"/>
          <p:nvPr/>
        </p:nvSpPr>
        <p:spPr>
          <a:xfrm>
            <a:off x="1565057" y="4406300"/>
            <a:ext cx="67827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Exact Match (EM)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F1-Score (span overlap)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Faithfulness (RAG-specific)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Citation correctness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320" name="Google Shape;1320;g3939f84b5ae_2_122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321" name="Google Shape;1321;g3939f84b5ae_2_122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22" name="Google Shape;1322;g3939f84b5ae_2_122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3" name="Google Shape;1323;g3939f84b5ae_2_122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24" name="Google Shape;1324;g3939f84b5ae_2_122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325" name="Google Shape;1325;g3939f84b5ae_2_122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26" name="Google Shape;1326;g3939f84b5ae_2_122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7" name="Google Shape;1327;g3939f84b5ae_2_1225"/>
          <p:cNvGrpSpPr/>
          <p:nvPr/>
        </p:nvGrpSpPr>
        <p:grpSpPr>
          <a:xfrm>
            <a:off x="1104457" y="4329417"/>
            <a:ext cx="244475" cy="400015"/>
            <a:chOff x="0" y="0"/>
            <a:chExt cx="80174" cy="123748"/>
          </a:xfrm>
        </p:grpSpPr>
        <p:sp>
          <p:nvSpPr>
            <p:cNvPr id="1328" name="Google Shape;1328;g3939f84b5ae_2_122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29" name="Google Shape;1329;g3939f84b5ae_2_122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0" name="Google Shape;1330;g3939f84b5ae_2_1225"/>
          <p:cNvGrpSpPr/>
          <p:nvPr/>
        </p:nvGrpSpPr>
        <p:grpSpPr>
          <a:xfrm>
            <a:off x="1104456" y="4950828"/>
            <a:ext cx="244475" cy="400015"/>
            <a:chOff x="0" y="0"/>
            <a:chExt cx="80174" cy="123748"/>
          </a:xfrm>
        </p:grpSpPr>
        <p:sp>
          <p:nvSpPr>
            <p:cNvPr id="1331" name="Google Shape;1331;g3939f84b5ae_2_122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32" name="Google Shape;1332;g3939f84b5ae_2_122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3" name="Google Shape;1333;g3939f84b5ae_2_1225"/>
          <p:cNvGrpSpPr/>
          <p:nvPr/>
        </p:nvGrpSpPr>
        <p:grpSpPr>
          <a:xfrm>
            <a:off x="1104464" y="5572251"/>
            <a:ext cx="244475" cy="400015"/>
            <a:chOff x="0" y="0"/>
            <a:chExt cx="80174" cy="123748"/>
          </a:xfrm>
        </p:grpSpPr>
        <p:sp>
          <p:nvSpPr>
            <p:cNvPr id="1334" name="Google Shape;1334;g3939f84b5ae_2_122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35" name="Google Shape;1335;g3939f84b5ae_2_122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6" name="Google Shape;1336;g3939f84b5ae_2_1225"/>
          <p:cNvGrpSpPr/>
          <p:nvPr/>
        </p:nvGrpSpPr>
        <p:grpSpPr>
          <a:xfrm>
            <a:off x="1104462" y="6193684"/>
            <a:ext cx="244475" cy="400015"/>
            <a:chOff x="0" y="0"/>
            <a:chExt cx="80174" cy="123748"/>
          </a:xfrm>
        </p:grpSpPr>
        <p:sp>
          <p:nvSpPr>
            <p:cNvPr id="1337" name="Google Shape;1337;g3939f84b5ae_2_122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38" name="Google Shape;1338;g3939f84b5ae_2_122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39" name="Google Shape;1339;g3939f84b5ae_2_1225" title="ChatGPT Image 5 feb 2026, 11_26_2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6501" y="3409651"/>
            <a:ext cx="6422799" cy="428187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939f84b5ae_2_1253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345" name="Google Shape;1345;g3939f84b5ae_2_1253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5.5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Information Retrieval: Question Answering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46" name="Google Shape;1346;g3939f84b5ae_2_1253"/>
          <p:cNvSpPr txBox="1"/>
          <p:nvPr/>
        </p:nvSpPr>
        <p:spPr>
          <a:xfrm>
            <a:off x="1057999" y="3312958"/>
            <a:ext cx="91458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Evaluation Metrics for QA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47" name="Google Shape;1347;g3939f84b5ae_2_1253"/>
          <p:cNvSpPr txBox="1"/>
          <p:nvPr/>
        </p:nvSpPr>
        <p:spPr>
          <a:xfrm>
            <a:off x="1494625" y="4289116"/>
            <a:ext cx="67827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Customer support automation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Technical documentation search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</a:t>
            </a: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</a:t>
            </a: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gal and medical assistants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Enterprise knowledge access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348" name="Google Shape;1348;g3939f84b5ae_2_125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349" name="Google Shape;1349;g3939f84b5ae_2_125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50" name="Google Shape;1350;g3939f84b5ae_2_125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1" name="Google Shape;1351;g3939f84b5ae_2_125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52" name="Google Shape;1352;g3939f84b5ae_2_125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353" name="Google Shape;1353;g3939f84b5ae_2_125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54" name="Google Shape;1354;g3939f84b5ae_2_125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5" name="Google Shape;1355;g3939f84b5ae_2_1253"/>
          <p:cNvGrpSpPr/>
          <p:nvPr/>
        </p:nvGrpSpPr>
        <p:grpSpPr>
          <a:xfrm>
            <a:off x="1037908" y="4231301"/>
            <a:ext cx="244475" cy="400015"/>
            <a:chOff x="0" y="0"/>
            <a:chExt cx="80174" cy="123748"/>
          </a:xfrm>
        </p:grpSpPr>
        <p:sp>
          <p:nvSpPr>
            <p:cNvPr id="1356" name="Google Shape;1356;g3939f84b5ae_2_125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57" name="Google Shape;1357;g3939f84b5ae_2_125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8" name="Google Shape;1358;g3939f84b5ae_2_1253"/>
          <p:cNvGrpSpPr/>
          <p:nvPr/>
        </p:nvGrpSpPr>
        <p:grpSpPr>
          <a:xfrm>
            <a:off x="1037907" y="4870496"/>
            <a:ext cx="244475" cy="400015"/>
            <a:chOff x="0" y="0"/>
            <a:chExt cx="80174" cy="123748"/>
          </a:xfrm>
        </p:grpSpPr>
        <p:sp>
          <p:nvSpPr>
            <p:cNvPr id="1359" name="Google Shape;1359;g3939f84b5ae_2_125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60" name="Google Shape;1360;g3939f84b5ae_2_125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1" name="Google Shape;1361;g3939f84b5ae_2_1253"/>
          <p:cNvGrpSpPr/>
          <p:nvPr/>
        </p:nvGrpSpPr>
        <p:grpSpPr>
          <a:xfrm>
            <a:off x="1037916" y="5509674"/>
            <a:ext cx="244475" cy="400015"/>
            <a:chOff x="0" y="0"/>
            <a:chExt cx="80174" cy="123748"/>
          </a:xfrm>
        </p:grpSpPr>
        <p:sp>
          <p:nvSpPr>
            <p:cNvPr id="1362" name="Google Shape;1362;g3939f84b5ae_2_125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63" name="Google Shape;1363;g3939f84b5ae_2_125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4" name="Google Shape;1364;g3939f84b5ae_2_1253"/>
          <p:cNvGrpSpPr/>
          <p:nvPr/>
        </p:nvGrpSpPr>
        <p:grpSpPr>
          <a:xfrm>
            <a:off x="1037913" y="6148884"/>
            <a:ext cx="244475" cy="400015"/>
            <a:chOff x="0" y="0"/>
            <a:chExt cx="80174" cy="123748"/>
          </a:xfrm>
        </p:grpSpPr>
        <p:sp>
          <p:nvSpPr>
            <p:cNvPr id="1365" name="Google Shape;1365;g3939f84b5ae_2_125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66" name="Google Shape;1366;g3939f84b5ae_2_125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67" name="Google Shape;1367;g3939f84b5ae_2_1253" title="ChatGPT Image 5 feb 2026, 11_35_3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69875" y="3584575"/>
            <a:ext cx="5989425" cy="39929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939f84b5ae_2_1283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373" name="Google Shape;1373;g3939f84b5ae_2_1283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Information Retrieval: Question Answering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74" name="Google Shape;1374;g3939f84b5ae_2_1283"/>
          <p:cNvSpPr txBox="1"/>
          <p:nvPr/>
        </p:nvSpPr>
        <p:spPr>
          <a:xfrm>
            <a:off x="1063249" y="3274075"/>
            <a:ext cx="78585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Key Takeaways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75" name="Google Shape;1375;g3939f84b5ae_2_1283"/>
          <p:cNvSpPr txBox="1"/>
          <p:nvPr/>
        </p:nvSpPr>
        <p:spPr>
          <a:xfrm>
            <a:off x="1483589" y="4456850"/>
            <a:ext cx="67827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Customer support automation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Technical documentation search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Legal and medical assistants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Enterprise knowledge access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376" name="Google Shape;1376;g3939f84b5ae_2_128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377" name="Google Shape;1377;g3939f84b5ae_2_128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78" name="Google Shape;1378;g3939f84b5ae_2_128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9" name="Google Shape;1379;g3939f84b5ae_2_128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80" name="Google Shape;1380;g3939f84b5ae_2_128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381" name="Google Shape;1381;g3939f84b5ae_2_128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82" name="Google Shape;1382;g3939f84b5ae_2_128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3" name="Google Shape;1383;g3939f84b5ae_2_1283"/>
          <p:cNvGrpSpPr/>
          <p:nvPr/>
        </p:nvGrpSpPr>
        <p:grpSpPr>
          <a:xfrm>
            <a:off x="1063250" y="4409208"/>
            <a:ext cx="244475" cy="400015"/>
            <a:chOff x="0" y="0"/>
            <a:chExt cx="80174" cy="123748"/>
          </a:xfrm>
        </p:grpSpPr>
        <p:sp>
          <p:nvSpPr>
            <p:cNvPr id="1384" name="Google Shape;1384;g3939f84b5ae_2_12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85" name="Google Shape;1385;g3939f84b5ae_2_12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6" name="Google Shape;1386;g3939f84b5ae_2_1283"/>
          <p:cNvGrpSpPr/>
          <p:nvPr/>
        </p:nvGrpSpPr>
        <p:grpSpPr>
          <a:xfrm>
            <a:off x="1063249" y="5035502"/>
            <a:ext cx="244475" cy="400015"/>
            <a:chOff x="0" y="0"/>
            <a:chExt cx="80174" cy="123748"/>
          </a:xfrm>
        </p:grpSpPr>
        <p:sp>
          <p:nvSpPr>
            <p:cNvPr id="1387" name="Google Shape;1387;g3939f84b5ae_2_12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88" name="Google Shape;1388;g3939f84b5ae_2_12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9" name="Google Shape;1389;g3939f84b5ae_2_1283"/>
          <p:cNvGrpSpPr/>
          <p:nvPr/>
        </p:nvGrpSpPr>
        <p:grpSpPr>
          <a:xfrm>
            <a:off x="1063258" y="5661795"/>
            <a:ext cx="244475" cy="400015"/>
            <a:chOff x="0" y="0"/>
            <a:chExt cx="80174" cy="123748"/>
          </a:xfrm>
        </p:grpSpPr>
        <p:sp>
          <p:nvSpPr>
            <p:cNvPr id="1390" name="Google Shape;1390;g3939f84b5ae_2_12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91" name="Google Shape;1391;g3939f84b5ae_2_12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2" name="Google Shape;1392;g3939f84b5ae_2_1283"/>
          <p:cNvGrpSpPr/>
          <p:nvPr/>
        </p:nvGrpSpPr>
        <p:grpSpPr>
          <a:xfrm>
            <a:off x="1063255" y="6288084"/>
            <a:ext cx="244475" cy="400015"/>
            <a:chOff x="0" y="0"/>
            <a:chExt cx="80174" cy="123748"/>
          </a:xfrm>
        </p:grpSpPr>
        <p:sp>
          <p:nvSpPr>
            <p:cNvPr id="1393" name="Google Shape;1393;g3939f84b5ae_2_12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94" name="Google Shape;1394;g3939f84b5ae_2_12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95" name="Google Shape;1395;g3939f84b5ae_2_1283" title="ChatGPT Image 5 feb 2026, 11_42_4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6600" y="3344090"/>
            <a:ext cx="6782700" cy="452181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3939f84b5ae_2_13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67" t="-52938"/>
            </a:stretch>
          </a:blipFill>
          <a:ln>
            <a:noFill/>
          </a:ln>
        </p:spPr>
      </p:sp>
      <p:grpSp>
        <p:nvGrpSpPr>
          <p:cNvPr id="1401" name="Google Shape;1401;g3939f84b5ae_2_1317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1402" name="Google Shape;1402;g3939f84b5ae_2_1317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03" name="Google Shape;1403;g3939f84b5ae_2_1317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4" name="Google Shape;1404;g3939f84b5ae_2_1317"/>
          <p:cNvGrpSpPr/>
          <p:nvPr/>
        </p:nvGrpSpPr>
        <p:grpSpPr>
          <a:xfrm>
            <a:off x="1156571" y="5764420"/>
            <a:ext cx="13748675" cy="667593"/>
            <a:chOff x="0" y="-9525"/>
            <a:chExt cx="2404287" cy="189900"/>
          </a:xfrm>
        </p:grpSpPr>
        <p:sp>
          <p:nvSpPr>
            <p:cNvPr id="1405" name="Google Shape;1405;g3939f84b5ae_2_1317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06" name="Google Shape;1406;g3939f84b5ae_2_1317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75" lIns="76075" spcFirstLastPara="1" rIns="76075" wrap="square" tIns="760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95"/>
                <a:buFont typeface="Arial"/>
                <a:buNone/>
              </a:pPr>
              <a:r>
                <a:t/>
              </a:r>
              <a:endParaRPr b="0" i="0" sz="26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7" name="Google Shape;1407;g3939f84b5ae_2_1317"/>
          <p:cNvSpPr txBox="1"/>
          <p:nvPr/>
        </p:nvSpPr>
        <p:spPr>
          <a:xfrm>
            <a:off x="1211975" y="2317025"/>
            <a:ext cx="140988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5.1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Applied NLP Tasks</a:t>
            </a:r>
            <a:endParaRPr sz="4123">
              <a:solidFill>
                <a:srgbClr val="AEAEAE"/>
              </a:solidFill>
              <a:highlight>
                <a:schemeClr val="lt1"/>
              </a:highlight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Core Task</a:t>
            </a: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5.3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Understanding User Intent: Sentiment Analysis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5.4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Reducing Information Overload: Text Summarization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Information Retrieval: Question Answering Systems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5.6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Task Comparison and the Future of Applied NLP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08" name="Google Shape;1408;g3939f84b5ae_2_131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9" name="Google Shape;1409;g3939f84b5ae_2_1317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3939f84b5ae_2_1330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415" name="Google Shape;1415;g3939f84b5ae_2_1330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5.6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Task Comparison and the Future of Applied NLP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16" name="Google Shape;1416;g3939f84b5ae_2_1330"/>
          <p:cNvSpPr txBox="1"/>
          <p:nvPr/>
        </p:nvSpPr>
        <p:spPr>
          <a:xfrm>
            <a:off x="944909" y="3133800"/>
            <a:ext cx="82377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is Question Answering?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17" name="Google Shape;1417;g3939f84b5ae_2_1330"/>
          <p:cNvSpPr txBox="1"/>
          <p:nvPr/>
        </p:nvSpPr>
        <p:spPr>
          <a:xfrm>
            <a:off x="1449918" y="4215662"/>
            <a:ext cx="67827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Customer support automation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Technical documentation search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Legal and medical assistants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Enterprise knowledge access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18" name="Google Shape;1418;g3939f84b5ae_2_133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19" name="Google Shape;1419;g3939f84b5ae_2_133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20" name="Google Shape;1420;g3939f84b5ae_2_133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1" name="Google Shape;1421;g3939f84b5ae_2_133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22" name="Google Shape;1422;g3939f84b5ae_2_133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23" name="Google Shape;1423;g3939f84b5ae_2_133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24" name="Google Shape;1424;g3939f84b5ae_2_133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5" name="Google Shape;1425;g3939f84b5ae_2_1330"/>
          <p:cNvGrpSpPr/>
          <p:nvPr/>
        </p:nvGrpSpPr>
        <p:grpSpPr>
          <a:xfrm>
            <a:off x="1030302" y="4179763"/>
            <a:ext cx="244475" cy="400015"/>
            <a:chOff x="0" y="0"/>
            <a:chExt cx="80174" cy="123748"/>
          </a:xfrm>
        </p:grpSpPr>
        <p:sp>
          <p:nvSpPr>
            <p:cNvPr id="1426" name="Google Shape;1426;g3939f84b5ae_2_133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27" name="Google Shape;1427;g3939f84b5ae_2_133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8" name="Google Shape;1428;g3939f84b5ae_2_1330"/>
          <p:cNvGrpSpPr/>
          <p:nvPr/>
        </p:nvGrpSpPr>
        <p:grpSpPr>
          <a:xfrm>
            <a:off x="1031001" y="4793857"/>
            <a:ext cx="244475" cy="400015"/>
            <a:chOff x="0" y="0"/>
            <a:chExt cx="80174" cy="123748"/>
          </a:xfrm>
        </p:grpSpPr>
        <p:sp>
          <p:nvSpPr>
            <p:cNvPr id="1429" name="Google Shape;1429;g3939f84b5ae_2_133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30" name="Google Shape;1430;g3939f84b5ae_2_133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1" name="Google Shape;1431;g3939f84b5ae_2_1330"/>
          <p:cNvGrpSpPr/>
          <p:nvPr/>
        </p:nvGrpSpPr>
        <p:grpSpPr>
          <a:xfrm>
            <a:off x="1026885" y="5407946"/>
            <a:ext cx="244475" cy="400015"/>
            <a:chOff x="0" y="0"/>
            <a:chExt cx="80174" cy="123748"/>
          </a:xfrm>
        </p:grpSpPr>
        <p:sp>
          <p:nvSpPr>
            <p:cNvPr id="1432" name="Google Shape;1432;g3939f84b5ae_2_133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33" name="Google Shape;1433;g3939f84b5ae_2_133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4" name="Google Shape;1434;g3939f84b5ae_2_1330"/>
          <p:cNvGrpSpPr/>
          <p:nvPr/>
        </p:nvGrpSpPr>
        <p:grpSpPr>
          <a:xfrm>
            <a:off x="1026882" y="6022020"/>
            <a:ext cx="244475" cy="400015"/>
            <a:chOff x="0" y="0"/>
            <a:chExt cx="80174" cy="123748"/>
          </a:xfrm>
        </p:grpSpPr>
        <p:sp>
          <p:nvSpPr>
            <p:cNvPr id="1435" name="Google Shape;1435;g3939f84b5ae_2_133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36" name="Google Shape;1436;g3939f84b5ae_2_133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37" name="Google Shape;1437;g3939f84b5ae_2_1330" title="ChatGPT Image 5 feb 2026, 12_03_31.png"/>
          <p:cNvPicPr preferRelativeResize="0"/>
          <p:nvPr/>
        </p:nvPicPr>
        <p:blipFill rotWithShape="1">
          <a:blip r:embed="rId5">
            <a:alphaModFix/>
          </a:blip>
          <a:srcRect b="18639" l="0" r="0" t="0"/>
          <a:stretch/>
        </p:blipFill>
        <p:spPr>
          <a:xfrm>
            <a:off x="10016725" y="3545674"/>
            <a:ext cx="7242574" cy="392845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939f84b5ae_2_1358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443" name="Google Shape;1443;g3939f84b5ae_2_1358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</a:t>
            </a: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5.6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Task Comparison and the Future of Applied NLP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44" name="Google Shape;1444;g3939f84b5ae_2_1358"/>
          <p:cNvSpPr txBox="1"/>
          <p:nvPr/>
        </p:nvSpPr>
        <p:spPr>
          <a:xfrm>
            <a:off x="1091541" y="3133800"/>
            <a:ext cx="78585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Extractive vs Generative QA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45" name="Google Shape;1445;g3939f84b5ae_2_1358"/>
          <p:cNvSpPr txBox="1"/>
          <p:nvPr/>
        </p:nvSpPr>
        <p:spPr>
          <a:xfrm>
            <a:off x="1590782" y="5736200"/>
            <a:ext cx="67827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Extractive: answer is a text span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High factual precision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Used in legal and technical domains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Generative: produces new text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More fluent, higher hallucination risk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46" name="Google Shape;1446;g3939f84b5ae_2_135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47" name="Google Shape;1447;g3939f84b5ae_2_135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48" name="Google Shape;1448;g3939f84b5ae_2_135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9" name="Google Shape;1449;g3939f84b5ae_2_135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50" name="Google Shape;1450;g3939f84b5ae_2_135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51" name="Google Shape;1451;g3939f84b5ae_2_135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52" name="Google Shape;1452;g3939f84b5ae_2_135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3" name="Google Shape;1453;g3939f84b5ae_2_1358"/>
          <p:cNvGrpSpPr/>
          <p:nvPr/>
        </p:nvGrpSpPr>
        <p:grpSpPr>
          <a:xfrm>
            <a:off x="1095665" y="6898253"/>
            <a:ext cx="244475" cy="400015"/>
            <a:chOff x="0" y="0"/>
            <a:chExt cx="80174" cy="123748"/>
          </a:xfrm>
        </p:grpSpPr>
        <p:sp>
          <p:nvSpPr>
            <p:cNvPr id="1454" name="Google Shape;1454;g3939f84b5ae_2_13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55" name="Google Shape;1455;g3939f84b5ae_2_13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6" name="Google Shape;1456;g3939f84b5ae_2_1358"/>
          <p:cNvGrpSpPr/>
          <p:nvPr/>
        </p:nvGrpSpPr>
        <p:grpSpPr>
          <a:xfrm>
            <a:off x="1088354" y="7514031"/>
            <a:ext cx="244475" cy="400015"/>
            <a:chOff x="0" y="0"/>
            <a:chExt cx="80174" cy="123748"/>
          </a:xfrm>
        </p:grpSpPr>
        <p:sp>
          <p:nvSpPr>
            <p:cNvPr id="1457" name="Google Shape;1457;g3939f84b5ae_2_13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58" name="Google Shape;1458;g3939f84b5ae_2_13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9" name="Google Shape;1459;g3939f84b5ae_2_1358"/>
          <p:cNvGrpSpPr/>
          <p:nvPr/>
        </p:nvGrpSpPr>
        <p:grpSpPr>
          <a:xfrm>
            <a:off x="1086295" y="8181296"/>
            <a:ext cx="244475" cy="400015"/>
            <a:chOff x="0" y="0"/>
            <a:chExt cx="80174" cy="123748"/>
          </a:xfrm>
        </p:grpSpPr>
        <p:sp>
          <p:nvSpPr>
            <p:cNvPr id="1460" name="Google Shape;1460;g3939f84b5ae_2_13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61" name="Google Shape;1461;g3939f84b5ae_2_13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62" name="Google Shape;1462;g3939f84b5ae_2_1358" title="ChatGPT Image 5 feb 2026, 12_14_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19600" y="3392250"/>
            <a:ext cx="6539700" cy="43598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63" name="Google Shape;1463;g3939f84b5ae_2_1358"/>
          <p:cNvGrpSpPr/>
          <p:nvPr/>
        </p:nvGrpSpPr>
        <p:grpSpPr>
          <a:xfrm>
            <a:off x="1091540" y="6292504"/>
            <a:ext cx="244475" cy="400015"/>
            <a:chOff x="0" y="0"/>
            <a:chExt cx="80174" cy="123748"/>
          </a:xfrm>
        </p:grpSpPr>
        <p:sp>
          <p:nvSpPr>
            <p:cNvPr id="1464" name="Google Shape;1464;g3939f84b5ae_2_13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65" name="Google Shape;1465;g3939f84b5ae_2_13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6" name="Google Shape;1466;g3939f84b5ae_2_1358"/>
          <p:cNvGrpSpPr/>
          <p:nvPr/>
        </p:nvGrpSpPr>
        <p:grpSpPr>
          <a:xfrm>
            <a:off x="1096797" y="5735688"/>
            <a:ext cx="244475" cy="400015"/>
            <a:chOff x="0" y="0"/>
            <a:chExt cx="80174" cy="123748"/>
          </a:xfrm>
        </p:grpSpPr>
        <p:sp>
          <p:nvSpPr>
            <p:cNvPr id="1467" name="Google Shape;1467;g3939f84b5ae_2_13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68" name="Google Shape;1468;g3939f84b5ae_2_13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9" name="Google Shape;1469;g3939f84b5ae_2_1358"/>
          <p:cNvSpPr txBox="1"/>
          <p:nvPr/>
        </p:nvSpPr>
        <p:spPr>
          <a:xfrm>
            <a:off x="1065791" y="4057568"/>
            <a:ext cx="75258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QA systems operate under two main paradigms: extracting exact answers from text or generating new answers using language models.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3939f84b5ae_2_1426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475" name="Google Shape;1475;g3939f84b5ae_2_1426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</a:t>
            </a: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5.6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Task Comparison and the Future of Applied NLP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76" name="Google Shape;1476;g3939f84b5ae_2_1426"/>
          <p:cNvSpPr txBox="1"/>
          <p:nvPr/>
        </p:nvSpPr>
        <p:spPr>
          <a:xfrm>
            <a:off x="903925" y="3133800"/>
            <a:ext cx="86505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Retrieval-Augmented Generation (RAG)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77" name="Google Shape;1477;g3939f84b5ae_2_1426"/>
          <p:cNvSpPr txBox="1"/>
          <p:nvPr/>
        </p:nvSpPr>
        <p:spPr>
          <a:xfrm>
            <a:off x="1388453" y="6121824"/>
            <a:ext cx="8031300" cy="3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Industry standard for QA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Uses vector search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Injects retrieved text into prompts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Reduces hallucinations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private data QA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78" name="Google Shape;1478;g3939f84b5ae_2_142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79" name="Google Shape;1479;g3939f84b5ae_2_142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80" name="Google Shape;1480;g3939f84b5ae_2_142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1" name="Google Shape;1481;g3939f84b5ae_2_142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2" name="Google Shape;1482;g3939f84b5ae_2_142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83" name="Google Shape;1483;g3939f84b5ae_2_142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84" name="Google Shape;1484;g3939f84b5ae_2_142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5" name="Google Shape;1485;g3939f84b5ae_2_1426"/>
          <p:cNvGrpSpPr/>
          <p:nvPr/>
        </p:nvGrpSpPr>
        <p:grpSpPr>
          <a:xfrm>
            <a:off x="908049" y="7284401"/>
            <a:ext cx="244475" cy="400015"/>
            <a:chOff x="0" y="0"/>
            <a:chExt cx="80174" cy="123748"/>
          </a:xfrm>
        </p:grpSpPr>
        <p:sp>
          <p:nvSpPr>
            <p:cNvPr id="1486" name="Google Shape;1486;g3939f84b5ae_2_14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87" name="Google Shape;1487;g3939f84b5ae_2_142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8" name="Google Shape;1488;g3939f84b5ae_2_1426"/>
          <p:cNvGrpSpPr/>
          <p:nvPr/>
        </p:nvGrpSpPr>
        <p:grpSpPr>
          <a:xfrm>
            <a:off x="880246" y="7900180"/>
            <a:ext cx="244475" cy="400015"/>
            <a:chOff x="0" y="0"/>
            <a:chExt cx="80174" cy="123748"/>
          </a:xfrm>
        </p:grpSpPr>
        <p:sp>
          <p:nvSpPr>
            <p:cNvPr id="1489" name="Google Shape;1489;g3939f84b5ae_2_14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90" name="Google Shape;1490;g3939f84b5ae_2_142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1" name="Google Shape;1491;g3939f84b5ae_2_1426"/>
          <p:cNvGrpSpPr/>
          <p:nvPr/>
        </p:nvGrpSpPr>
        <p:grpSpPr>
          <a:xfrm>
            <a:off x="878187" y="8567445"/>
            <a:ext cx="244475" cy="400015"/>
            <a:chOff x="0" y="0"/>
            <a:chExt cx="80174" cy="123748"/>
          </a:xfrm>
        </p:grpSpPr>
        <p:sp>
          <p:nvSpPr>
            <p:cNvPr id="1492" name="Google Shape;1492;g3939f84b5ae_2_14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93" name="Google Shape;1493;g3939f84b5ae_2_142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4" name="Google Shape;1494;g3939f84b5ae_2_1426"/>
          <p:cNvGrpSpPr/>
          <p:nvPr/>
        </p:nvGrpSpPr>
        <p:grpSpPr>
          <a:xfrm>
            <a:off x="903924" y="6678653"/>
            <a:ext cx="244475" cy="400015"/>
            <a:chOff x="0" y="0"/>
            <a:chExt cx="80174" cy="123748"/>
          </a:xfrm>
        </p:grpSpPr>
        <p:sp>
          <p:nvSpPr>
            <p:cNvPr id="1495" name="Google Shape;1495;g3939f84b5ae_2_14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96" name="Google Shape;1496;g3939f84b5ae_2_142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7" name="Google Shape;1497;g3939f84b5ae_2_1426"/>
          <p:cNvGrpSpPr/>
          <p:nvPr/>
        </p:nvGrpSpPr>
        <p:grpSpPr>
          <a:xfrm>
            <a:off x="929673" y="6121836"/>
            <a:ext cx="244475" cy="400015"/>
            <a:chOff x="0" y="0"/>
            <a:chExt cx="80174" cy="123748"/>
          </a:xfrm>
        </p:grpSpPr>
        <p:sp>
          <p:nvSpPr>
            <p:cNvPr id="1498" name="Google Shape;1498;g3939f84b5ae_2_14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99" name="Google Shape;1499;g3939f84b5ae_2_142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00" name="Google Shape;1500;g3939f84b5ae_2_1426" title="ChatGPT Image 5 feb 2026, 12_17_06.png"/>
          <p:cNvPicPr preferRelativeResize="0"/>
          <p:nvPr/>
        </p:nvPicPr>
        <p:blipFill rotWithShape="1">
          <a:blip r:embed="rId5">
            <a:alphaModFix/>
          </a:blip>
          <a:srcRect b="15368" l="0" r="0" t="16297"/>
          <a:stretch/>
        </p:blipFill>
        <p:spPr>
          <a:xfrm>
            <a:off x="9885275" y="4241850"/>
            <a:ext cx="7286627" cy="331962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1" name="Google Shape;1501;g3939f84b5ae_2_1426"/>
          <p:cNvSpPr txBox="1"/>
          <p:nvPr/>
        </p:nvSpPr>
        <p:spPr>
          <a:xfrm>
            <a:off x="806723" y="4653025"/>
            <a:ext cx="7781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Retrieval-Augmented Generation (RAG) combines document retrieval with generative models to produce answers grounded in real data.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3939f84b5ae_2_1457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507" name="Google Shape;1507;g3939f84b5ae_2_1457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</a:t>
            </a: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5.6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Task Comparison and the Future of Applied NLP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08" name="Google Shape;1508;g3939f84b5ae_2_1457"/>
          <p:cNvSpPr txBox="1"/>
          <p:nvPr/>
        </p:nvSpPr>
        <p:spPr>
          <a:xfrm>
            <a:off x="1082585" y="3195276"/>
            <a:ext cx="96444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Evaluation and Production Use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09" name="Google Shape;1509;g3939f84b5ae_2_1457"/>
          <p:cNvSpPr txBox="1"/>
          <p:nvPr/>
        </p:nvSpPr>
        <p:spPr>
          <a:xfrm>
            <a:off x="1576069" y="4976366"/>
            <a:ext cx="80313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Exact Match (EM)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F1-score (span overlap)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Faithfulness (RAG answers)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Enterprise QA systems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Trust and explainability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510" name="Google Shape;1510;g3939f84b5ae_2_145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511" name="Google Shape;1511;g3939f84b5ae_2_145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12" name="Google Shape;1512;g3939f84b5ae_2_145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3" name="Google Shape;1513;g3939f84b5ae_2_145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14" name="Google Shape;1514;g3939f84b5ae_2_145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515" name="Google Shape;1515;g3939f84b5ae_2_145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16" name="Google Shape;1516;g3939f84b5ae_2_145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7" name="Google Shape;1517;g3939f84b5ae_2_1457"/>
          <p:cNvGrpSpPr/>
          <p:nvPr/>
        </p:nvGrpSpPr>
        <p:grpSpPr>
          <a:xfrm>
            <a:off x="1086709" y="6537954"/>
            <a:ext cx="244475" cy="400015"/>
            <a:chOff x="0" y="0"/>
            <a:chExt cx="80174" cy="123748"/>
          </a:xfrm>
        </p:grpSpPr>
        <p:sp>
          <p:nvSpPr>
            <p:cNvPr id="1518" name="Google Shape;1518;g3939f84b5ae_2_145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19" name="Google Shape;1519;g3939f84b5ae_2_145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0" name="Google Shape;1520;g3939f84b5ae_2_1457"/>
          <p:cNvGrpSpPr/>
          <p:nvPr/>
        </p:nvGrpSpPr>
        <p:grpSpPr>
          <a:xfrm>
            <a:off x="1058906" y="7153732"/>
            <a:ext cx="244475" cy="400015"/>
            <a:chOff x="0" y="0"/>
            <a:chExt cx="80174" cy="123748"/>
          </a:xfrm>
        </p:grpSpPr>
        <p:sp>
          <p:nvSpPr>
            <p:cNvPr id="1521" name="Google Shape;1521;g3939f84b5ae_2_145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22" name="Google Shape;1522;g3939f84b5ae_2_145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3" name="Google Shape;1523;g3939f84b5ae_2_1457"/>
          <p:cNvGrpSpPr/>
          <p:nvPr/>
        </p:nvGrpSpPr>
        <p:grpSpPr>
          <a:xfrm>
            <a:off x="1056847" y="7743767"/>
            <a:ext cx="244475" cy="400015"/>
            <a:chOff x="0" y="0"/>
            <a:chExt cx="80174" cy="123748"/>
          </a:xfrm>
        </p:grpSpPr>
        <p:sp>
          <p:nvSpPr>
            <p:cNvPr id="1524" name="Google Shape;1524;g3939f84b5ae_2_145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25" name="Google Shape;1525;g3939f84b5ae_2_145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6" name="Google Shape;1526;g3939f84b5ae_2_1457"/>
          <p:cNvGrpSpPr/>
          <p:nvPr/>
        </p:nvGrpSpPr>
        <p:grpSpPr>
          <a:xfrm>
            <a:off x="1082584" y="5880719"/>
            <a:ext cx="244475" cy="400015"/>
            <a:chOff x="0" y="0"/>
            <a:chExt cx="80174" cy="123748"/>
          </a:xfrm>
        </p:grpSpPr>
        <p:sp>
          <p:nvSpPr>
            <p:cNvPr id="1527" name="Google Shape;1527;g3939f84b5ae_2_145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28" name="Google Shape;1528;g3939f84b5ae_2_145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9" name="Google Shape;1529;g3939f84b5ae_2_1457"/>
          <p:cNvGrpSpPr/>
          <p:nvPr/>
        </p:nvGrpSpPr>
        <p:grpSpPr>
          <a:xfrm>
            <a:off x="1108333" y="5220930"/>
            <a:ext cx="244475" cy="400015"/>
            <a:chOff x="0" y="0"/>
            <a:chExt cx="80174" cy="123748"/>
          </a:xfrm>
        </p:grpSpPr>
        <p:sp>
          <p:nvSpPr>
            <p:cNvPr id="1530" name="Google Shape;1530;g3939f84b5ae_2_145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31" name="Google Shape;1531;g3939f84b5ae_2_145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32" name="Google Shape;1532;g3939f84b5ae_2_1457" title="ChatGPT Image 5 feb 2026, 12_18_28.png"/>
          <p:cNvPicPr preferRelativeResize="0"/>
          <p:nvPr/>
        </p:nvPicPr>
        <p:blipFill rotWithShape="1">
          <a:blip r:embed="rId5">
            <a:alphaModFix/>
          </a:blip>
          <a:srcRect b="19178" l="3670" r="0" t="24080"/>
          <a:stretch/>
        </p:blipFill>
        <p:spPr>
          <a:xfrm>
            <a:off x="9607374" y="4412088"/>
            <a:ext cx="7710324" cy="302782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3" name="Google Shape;1533;g3939f84b5ae_2_1457"/>
          <p:cNvSpPr txBox="1"/>
          <p:nvPr/>
        </p:nvSpPr>
        <p:spPr>
          <a:xfrm>
            <a:off x="1015851" y="4095751"/>
            <a:ext cx="78843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Reliable QA systems must be evaluated not only for correctness, but also for trust and factual grounding.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3939f84b5ae_2_1488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539" name="Google Shape;1539;g3939f84b5ae_2_1488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40" name="Google Shape;1540;g3939f84b5ae_2_1488"/>
          <p:cNvSpPr txBox="1"/>
          <p:nvPr/>
        </p:nvSpPr>
        <p:spPr>
          <a:xfrm>
            <a:off x="878175" y="2018475"/>
            <a:ext cx="146127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Resources &amp; Academic References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41" name="Google Shape;1541;g3939f84b5ae_2_1488"/>
          <p:cNvSpPr txBox="1"/>
          <p:nvPr/>
        </p:nvSpPr>
        <p:spPr>
          <a:xfrm>
            <a:off x="1319936" y="3130918"/>
            <a:ext cx="77604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Core Benchmarks &amp; Tasks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Wang et al. (2018) — GLUE: A Multi-Task Benchmark for Natural Language Understanding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4"/>
              </a:rPr>
              <a:t>https://arxiv.org/abs/1804.07461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Wang et al. (2019) — SuperGLUE: A Stickier Benchmark for General-Purpose Language Understanding Systems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5"/>
              </a:rPr>
              <a:t>https://arxiv.org/abs/1905.00537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Rajpurkar et al. (2016) — SQuAD: 100,000+ Questions for Machine Comprehension of Text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6"/>
              </a:rPr>
              <a:t>https://arxiv.org/abs/1606.05250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542" name="Google Shape;1542;g3939f84b5ae_2_148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543" name="Google Shape;1543;g3939f84b5ae_2_148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44" name="Google Shape;1544;g3939f84b5ae_2_148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5" name="Google Shape;1545;g3939f84b5ae_2_148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46" name="Google Shape;1546;g3939f84b5ae_2_148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547" name="Google Shape;1547;g3939f84b5ae_2_148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48" name="Google Shape;1548;g3939f84b5ae_2_148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9" name="Google Shape;1549;g3939f84b5ae_2_1488"/>
          <p:cNvGrpSpPr/>
          <p:nvPr/>
        </p:nvGrpSpPr>
        <p:grpSpPr>
          <a:xfrm>
            <a:off x="911515" y="3057583"/>
            <a:ext cx="244475" cy="400015"/>
            <a:chOff x="0" y="0"/>
            <a:chExt cx="80174" cy="123748"/>
          </a:xfrm>
        </p:grpSpPr>
        <p:sp>
          <p:nvSpPr>
            <p:cNvPr id="1550" name="Google Shape;1550;g3939f84b5ae_2_148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51" name="Google Shape;1551;g3939f84b5ae_2_148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2" name="Google Shape;1552;g3939f84b5ae_2_1488"/>
          <p:cNvSpPr txBox="1"/>
          <p:nvPr/>
        </p:nvSpPr>
        <p:spPr>
          <a:xfrm>
            <a:off x="9590700" y="3014525"/>
            <a:ext cx="7668600" cy="3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Classification &amp; Zero-Shot Learning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Cortes &amp; Vapnik (1995) — Support-Vector Networks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8"/>
              </a:rPr>
              <a:t>https://link.springer.com/article/10.1007/BF00994018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Yin et al. (2019) — Benchmarking Zero-shot Text Classification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9"/>
              </a:rPr>
              <a:t>https://arxiv.org/abs/1909.00161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553" name="Google Shape;1553;g3939f84b5ae_2_1488"/>
          <p:cNvGrpSpPr/>
          <p:nvPr/>
        </p:nvGrpSpPr>
        <p:grpSpPr>
          <a:xfrm>
            <a:off x="9235956" y="3040795"/>
            <a:ext cx="244475" cy="400015"/>
            <a:chOff x="0" y="0"/>
            <a:chExt cx="80174" cy="123748"/>
          </a:xfrm>
        </p:grpSpPr>
        <p:sp>
          <p:nvSpPr>
            <p:cNvPr id="1554" name="Google Shape;1554;g3939f84b5ae_2_148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55" name="Google Shape;1555;g3939f84b5ae_2_148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3939f84b5ae_2_1535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561" name="Google Shape;1561;g3939f84b5ae_2_1535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62" name="Google Shape;1562;g3939f84b5ae_2_1535"/>
          <p:cNvSpPr txBox="1"/>
          <p:nvPr/>
        </p:nvSpPr>
        <p:spPr>
          <a:xfrm>
            <a:off x="878175" y="2018475"/>
            <a:ext cx="146127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Resources &amp; Academic References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63" name="Google Shape;1563;g3939f84b5ae_2_1535"/>
          <p:cNvSpPr txBox="1"/>
          <p:nvPr/>
        </p:nvSpPr>
        <p:spPr>
          <a:xfrm>
            <a:off x="1315701" y="3101650"/>
            <a:ext cx="73137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Sentiment Analysis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Pang &amp; Lee (2008) — Opinion Mining and Sentiment Analysis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4"/>
              </a:rPr>
              <a:t>https://www.cs.cornell.edu/home/llee/omsa/omsa.pd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Pontiki et al. (2014) — SemEval-2014 Task 4: Aspect-Based Sentiment Analysis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5"/>
              </a:rPr>
              <a:t>https://aclanthology.org/S14-2004.pdf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564" name="Google Shape;1564;g3939f84b5ae_2_153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565" name="Google Shape;1565;g3939f84b5ae_2_153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66" name="Google Shape;1566;g3939f84b5ae_2_153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7" name="Google Shape;1567;g3939f84b5ae_2_153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68" name="Google Shape;1568;g3939f84b5ae_2_153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569" name="Google Shape;1569;g3939f84b5ae_2_153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70" name="Google Shape;1570;g3939f84b5ae_2_153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1" name="Google Shape;1571;g3939f84b5ae_2_1535"/>
          <p:cNvGrpSpPr/>
          <p:nvPr/>
        </p:nvGrpSpPr>
        <p:grpSpPr>
          <a:xfrm>
            <a:off x="896791" y="3037091"/>
            <a:ext cx="244475" cy="400015"/>
            <a:chOff x="0" y="0"/>
            <a:chExt cx="80174" cy="123748"/>
          </a:xfrm>
        </p:grpSpPr>
        <p:sp>
          <p:nvSpPr>
            <p:cNvPr id="1572" name="Google Shape;1572;g3939f84b5ae_2_153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73" name="Google Shape;1573;g3939f84b5ae_2_153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4" name="Google Shape;1574;g3939f84b5ae_2_1535"/>
          <p:cNvSpPr txBox="1"/>
          <p:nvPr/>
        </p:nvSpPr>
        <p:spPr>
          <a:xfrm>
            <a:off x="9406275" y="3014525"/>
            <a:ext cx="7853100" cy="58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</a:t>
            </a: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ext Summarization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Barzilay &amp; Elhadad (1997) — Using Lexical Chains for Text Summarization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7"/>
              </a:rPr>
              <a:t>https://aclanthology.org/P97-1002.pdf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Lewis et al. (2019) — BART: Denoising Sequence-to-Sequence Pre-training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8"/>
              </a:rPr>
              <a:t>https://arxiv.org/abs/1910.13461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Raffel et al. (2019) — Exploring the Limits of Transfer Learning with a Unified Text-to-Text Transformer (T5)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9"/>
              </a:rPr>
              <a:t>https://arxiv.org/abs/1910.10683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575" name="Google Shape;1575;g3939f84b5ae_2_1535"/>
          <p:cNvGrpSpPr/>
          <p:nvPr/>
        </p:nvGrpSpPr>
        <p:grpSpPr>
          <a:xfrm>
            <a:off x="9092512" y="3040795"/>
            <a:ext cx="244475" cy="400015"/>
            <a:chOff x="0" y="0"/>
            <a:chExt cx="80174" cy="123748"/>
          </a:xfrm>
        </p:grpSpPr>
        <p:sp>
          <p:nvSpPr>
            <p:cNvPr id="1576" name="Google Shape;1576;g3939f84b5ae_2_153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77" name="Google Shape;1577;g3939f84b5ae_2_153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3939f84b5ae_2_1556"/>
          <p:cNvSpPr/>
          <p:nvPr/>
        </p:nvSpPr>
        <p:spPr>
          <a:xfrm>
            <a:off x="-160025" y="-216275"/>
            <a:ext cx="18608040" cy="104927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583" name="Google Shape;1583;g3939f84b5ae_2_1556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4" name="Google Shape;1584;g3939f84b5ae_2_1556"/>
          <p:cNvSpPr txBox="1"/>
          <p:nvPr/>
        </p:nvSpPr>
        <p:spPr>
          <a:xfrm>
            <a:off x="878175" y="2018475"/>
            <a:ext cx="146127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Resources &amp; Academic References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5" name="Google Shape;1585;g3939f84b5ae_2_1556"/>
          <p:cNvSpPr txBox="1"/>
          <p:nvPr/>
        </p:nvSpPr>
        <p:spPr>
          <a:xfrm>
            <a:off x="1356698" y="3122144"/>
            <a:ext cx="66171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Question Answering &amp; RAG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Lewis et al. (2020) — Retrieval-Augmented Generation for Knowledge-Intensive NLP Tasks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4"/>
              </a:rPr>
              <a:t>https://arxiv.org/abs/2005.11401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586" name="Google Shape;1586;g3939f84b5ae_2_155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587" name="Google Shape;1587;g3939f84b5ae_2_155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88" name="Google Shape;1588;g3939f84b5ae_2_155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9" name="Google Shape;1589;g3939f84b5ae_2_155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90" name="Google Shape;1590;g3939f84b5ae_2_155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591" name="Google Shape;1591;g3939f84b5ae_2_155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92" name="Google Shape;1592;g3939f84b5ae_2_155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3" name="Google Shape;1593;g3939f84b5ae_2_1556"/>
          <p:cNvGrpSpPr/>
          <p:nvPr/>
        </p:nvGrpSpPr>
        <p:grpSpPr>
          <a:xfrm>
            <a:off x="917283" y="3057583"/>
            <a:ext cx="244475" cy="400015"/>
            <a:chOff x="0" y="0"/>
            <a:chExt cx="80174" cy="123748"/>
          </a:xfrm>
        </p:grpSpPr>
        <p:sp>
          <p:nvSpPr>
            <p:cNvPr id="1594" name="Google Shape;1594;g3939f84b5ae_2_155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95" name="Google Shape;1595;g3939f84b5ae_2_155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6" name="Google Shape;1596;g3939f84b5ae_2_1556"/>
          <p:cNvSpPr txBox="1"/>
          <p:nvPr/>
        </p:nvSpPr>
        <p:spPr>
          <a:xfrm>
            <a:off x="9426775" y="3014525"/>
            <a:ext cx="7832400" cy="5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Ethics &amp; Future of Applied NLP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Bender et al. (2021) — On the Dangers of Stochastic Parrots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6"/>
              </a:rPr>
              <a:t>https://dl.acm.org/doi/pdf/10.1145/3442188.3445922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Bommasani et al. (2021) — On the Opportunities and Risks of Foundation Models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7"/>
              </a:rPr>
              <a:t>https://arxiv.org/abs/2108.07258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597" name="Google Shape;1597;g3939f84b5ae_2_1556"/>
          <p:cNvGrpSpPr/>
          <p:nvPr/>
        </p:nvGrpSpPr>
        <p:grpSpPr>
          <a:xfrm>
            <a:off x="9092512" y="3040795"/>
            <a:ext cx="244475" cy="400015"/>
            <a:chOff x="0" y="0"/>
            <a:chExt cx="80174" cy="123748"/>
          </a:xfrm>
        </p:grpSpPr>
        <p:sp>
          <p:nvSpPr>
            <p:cNvPr id="1598" name="Google Shape;1598;g3939f84b5ae_2_155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99" name="Google Shape;1599;g3939f84b5ae_2_155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