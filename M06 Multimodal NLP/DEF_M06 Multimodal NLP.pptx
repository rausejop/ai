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0287000" cx="18288000"/>
  <p:notesSz cx="6858000" cy="9144000"/>
  <p:embeddedFontLst>
    <p:embeddedFont>
      <p:font typeface="Jos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hqH06o6lKa/VijHWmjJIsRvl/i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ost-bold.fntdata"/><Relationship Id="rId30" Type="http://schemas.openxmlformats.org/officeDocument/2006/relationships/font" Target="fonts/Jost-regular.fntdata"/><Relationship Id="rId11" Type="http://schemas.openxmlformats.org/officeDocument/2006/relationships/slide" Target="slides/slide6.xml"/><Relationship Id="rId33" Type="http://schemas.openxmlformats.org/officeDocument/2006/relationships/font" Target="fonts/Jost-boldItalic.fntdata"/><Relationship Id="rId10" Type="http://schemas.openxmlformats.org/officeDocument/2006/relationships/slide" Target="slides/slide5.xml"/><Relationship Id="rId32" Type="http://schemas.openxmlformats.org/officeDocument/2006/relationships/font" Target="fonts/Jo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0d3625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c60d36257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691fa32a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c691fa32ac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691fa32a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c691fa32ac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691fa32a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c691fa32ac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691fa32a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c691fa32ac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691fa32a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c691fa32ac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691fa32ac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c691fa32ac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691fa32ac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3c691fa32ac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691fa32a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c691fa32ac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691fa32ac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3c691fa32ac_0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691fa32a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g3c691fa32ac_0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691fa32ac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g3c691fa32ac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691fa32ac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g3c691fa32ac_0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691fa32ac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g3c691fa32ac_0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c691fa32ac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g3c691fa32ac_0_3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691fa32ac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3c691fa32ac_0_3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c691fa32ac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3c691fa32ac_0_4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c691fa32ac_0_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c691fa32ac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691fa32ac_0_5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c691fa32ac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6" name="Google Shape;59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72" t="-52938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1259550" y="4477258"/>
            <a:ext cx="133134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92"/>
              <a:buFont typeface="Arial"/>
              <a:buNone/>
            </a:pPr>
            <a:r>
              <a:rPr b="1" i="0" lang="en-US" sz="1459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descr="Bandera de España - Wikipedia, la enciclopedia libre" id="87" name="Google Shape;87;p1"/>
          <p:cNvSpPr/>
          <p:nvPr/>
        </p:nvSpPr>
        <p:spPr>
          <a:xfrm>
            <a:off x="457426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575332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16" l="0" r="0" t="0"/>
            </a:stretch>
          </a:blipFill>
          <a:ln>
            <a:noFill/>
          </a:ln>
        </p:spPr>
      </p:sp>
      <p:sp>
        <p:nvSpPr>
          <p:cNvPr descr="Bandera de Jordania - Wikipedia, la enciclopedia libre" id="89" name="Google Shape;89;p1"/>
          <p:cNvSpPr/>
          <p:nvPr/>
        </p:nvSpPr>
        <p:spPr>
          <a:xfrm>
            <a:off x="6935692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17924" t="0"/>
            </a:stretch>
          </a:blip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1259550" y="7954400"/>
            <a:ext cx="8989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Advanced NLP &amp; Large Language Models (LLMs)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72" t="-52938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140400" y="5464625"/>
            <a:ext cx="5872986" cy="720872"/>
            <a:chOff x="0" y="-9525"/>
            <a:chExt cx="1443136" cy="18986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443136" cy="180338"/>
            </a:xfrm>
            <a:custGeom>
              <a:rect b="b" l="l" r="r" t="t"/>
              <a:pathLst>
                <a:path extrusionOk="0" h="180338" w="1443136">
                  <a:moveTo>
                    <a:pt x="0" y="0"/>
                  </a:moveTo>
                  <a:lnTo>
                    <a:pt x="1443136" y="0"/>
                  </a:lnTo>
                  <a:lnTo>
                    <a:pt x="1443136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9525"/>
              <a:ext cx="1443136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1259561" y="2047829"/>
            <a:ext cx="10060500" cy="6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M01: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Text Preprocessing</a:t>
            </a:r>
            <a:endParaRPr b="0" i="0" sz="1400" u="none" cap="none" strike="noStrike">
              <a:solidFill>
                <a:srgbClr val="AEAE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M02:</a:t>
            </a:r>
            <a:r>
              <a:rPr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Word and Sentence Embeddings</a:t>
            </a:r>
            <a:endParaRPr i="0" sz="1400" u="none" cap="none" strike="noStrike">
              <a:solidFill>
                <a:srgbClr val="AEAEAE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M03: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 Architectures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M04: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Entity-Centric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M05: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Applied NLP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M06: </a:t>
            </a:r>
            <a:r>
              <a:rPr b="1" i="0" lang="en-US" sz="4123" u="none" cap="none" strike="noStrik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Multimodal NLP</a:t>
            </a:r>
            <a:endParaRPr b="1" i="0" sz="14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M07: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 Fundamentals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M08: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Prompt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M09: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&amp; 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M10: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&amp; Real-World Projects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4" t="-52934"/>
            </a:stretch>
          </a:blipFill>
          <a:ln>
            <a:noFill/>
          </a:ln>
        </p:spPr>
      </p:sp>
      <p:sp>
        <p:nvSpPr>
          <p:cNvPr id="113" name="Google Shape;113;p4"/>
          <p:cNvSpPr txBox="1"/>
          <p:nvPr/>
        </p:nvSpPr>
        <p:spPr>
          <a:xfrm>
            <a:off x="1028700" y="2425176"/>
            <a:ext cx="140943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44"/>
              <a:buFont typeface="Arial"/>
              <a:buNone/>
            </a:pPr>
            <a:r>
              <a:rPr b="1" i="0" lang="en-US" sz="894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TEXT PREPROCESSING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028700" y="5172775"/>
            <a:ext cx="139545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1"/>
              <a:buFont typeface="Arial"/>
              <a:buNone/>
            </a:pPr>
            <a:r>
              <a:rPr lang="en-US" sz="621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Multimodal NLP</a:t>
            </a:r>
            <a:endParaRPr sz="621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1028700" y="1028700"/>
            <a:ext cx="5383245" cy="1023295"/>
            <a:chOff x="0" y="0"/>
            <a:chExt cx="1417800" cy="269508"/>
          </a:xfrm>
        </p:grpSpPr>
        <p:sp>
          <p:nvSpPr>
            <p:cNvPr id="116" name="Google Shape;116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7" name="Google Shape;117;p4"/>
            <p:cNvSpPr txBox="1"/>
            <p:nvPr/>
          </p:nvSpPr>
          <p:spPr>
            <a:xfrm>
              <a:off x="0" y="0"/>
              <a:ext cx="1417800" cy="2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MODULE M01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4"/>
          <p:cNvGrpSpPr/>
          <p:nvPr/>
        </p:nvGrpSpPr>
        <p:grpSpPr>
          <a:xfrm>
            <a:off x="1028700" y="3796780"/>
            <a:ext cx="5383245" cy="1023295"/>
            <a:chOff x="0" y="0"/>
            <a:chExt cx="1417800" cy="269508"/>
          </a:xfrm>
        </p:grpSpPr>
        <p:sp>
          <p:nvSpPr>
            <p:cNvPr id="119" name="Google Shape;119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0" name="Google Shape;120;p4"/>
            <p:cNvSpPr txBox="1"/>
            <p:nvPr/>
          </p:nvSpPr>
          <p:spPr>
            <a:xfrm>
              <a:off x="0" y="0"/>
              <a:ext cx="1417800" cy="2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CHAPTER M0</a:t>
              </a:r>
              <a:r>
                <a:rPr b="1" lang="en-US" sz="44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72" t="-52938"/>
            </a:stretch>
          </a:blipFill>
          <a:ln>
            <a:noFill/>
          </a:ln>
        </p:spPr>
      </p:sp>
      <p:grpSp>
        <p:nvGrpSpPr>
          <p:cNvPr id="127" name="Google Shape;127;p3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9" name="Google Shape;129;p3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1160375" y="1999375"/>
            <a:ext cx="13163712" cy="720872"/>
            <a:chOff x="0" y="-9525"/>
            <a:chExt cx="2404287" cy="189863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2" name="Google Shape;132;p3"/>
            <p:cNvSpPr txBox="1"/>
            <p:nvPr/>
          </p:nvSpPr>
          <p:spPr>
            <a:xfrm>
              <a:off x="0" y="-9525"/>
              <a:ext cx="2404287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3"/>
          <p:cNvSpPr txBox="1"/>
          <p:nvPr/>
        </p:nvSpPr>
        <p:spPr>
          <a:xfrm>
            <a:off x="1259550" y="2047825"/>
            <a:ext cx="14902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6.1 Introduction to Multimodal and Cross-Modal NLP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6.2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CLIP: Bridging Vision and Language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Whisper: Unified Speech Processing (ASR)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Knowledge-Augmented Text Enrichment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the Future of Unified AI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60d362576_0_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4" l="0" r="-56474" t="-52934"/>
            </a:stretch>
          </a:blipFill>
          <a:ln>
            <a:noFill/>
          </a:ln>
        </p:spPr>
      </p:sp>
      <p:sp>
        <p:nvSpPr>
          <p:cNvPr id="141" name="Google Shape;141;g3c60d362576_0_10"/>
          <p:cNvSpPr txBox="1"/>
          <p:nvPr/>
        </p:nvSpPr>
        <p:spPr>
          <a:xfrm>
            <a:off x="1028700" y="2025600"/>
            <a:ext cx="15192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Multimodal and Cross-Modal NLP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2" name="Google Shape;142;g3c60d362576_0_10"/>
          <p:cNvSpPr txBox="1"/>
          <p:nvPr/>
        </p:nvSpPr>
        <p:spPr>
          <a:xfrm>
            <a:off x="1028700" y="3196472"/>
            <a:ext cx="141183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Multimodal vs Cross-Modal AI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3" name="Google Shape;143;g3c60d362576_0_10"/>
          <p:cNvSpPr txBox="1"/>
          <p:nvPr/>
        </p:nvSpPr>
        <p:spPr>
          <a:xfrm>
            <a:off x="1463225" y="4308975"/>
            <a:ext cx="7407900" cy="4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Multimodal AI: simultaneous processing of multiple modalities.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Cross-modal AI: translation between modalities (text ↔ image ↔ audio).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Core challenge: semantic alignment across heterogeneous data.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Unified latent space enables modality-agnostic reasoning.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4" name="Google Shape;144;g3c60d362576_0_1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5" name="Google Shape;145;g3c60d362576_0_1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6" name="Google Shape;146;g3c60d362576_0_1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g3c60d362576_0_1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g3c60d362576_0_1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49" name="Google Shape;149;g3c60d362576_0_1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0" name="Google Shape;150;g3c60d362576_0_1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1" name="Google Shape;151;g3c60d362576_0_10" title="Diagram type_ Multimodal latent space visualization, research-style embedding diagram. - visual selection.png"/>
          <p:cNvPicPr preferRelativeResize="0"/>
          <p:nvPr/>
        </p:nvPicPr>
        <p:blipFill rotWithShape="1">
          <a:blip r:embed="rId5">
            <a:alphaModFix/>
          </a:blip>
          <a:srcRect b="10219" l="2064" r="3685" t="5185"/>
          <a:stretch/>
        </p:blipFill>
        <p:spPr>
          <a:xfrm>
            <a:off x="9668900" y="3344100"/>
            <a:ext cx="7590400" cy="38485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2" name="Google Shape;152;g3c60d362576_0_10"/>
          <p:cNvGrpSpPr/>
          <p:nvPr/>
        </p:nvGrpSpPr>
        <p:grpSpPr>
          <a:xfrm>
            <a:off x="1044800" y="4308969"/>
            <a:ext cx="226949" cy="588026"/>
            <a:chOff x="0" y="0"/>
            <a:chExt cx="80174" cy="123748"/>
          </a:xfrm>
        </p:grpSpPr>
        <p:sp>
          <p:nvSpPr>
            <p:cNvPr id="153" name="Google Shape;153;g3c60d362576_0_1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4" name="Google Shape;154;g3c60d362576_0_1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g3c60d362576_0_10"/>
          <p:cNvGrpSpPr/>
          <p:nvPr/>
        </p:nvGrpSpPr>
        <p:grpSpPr>
          <a:xfrm>
            <a:off x="1044800" y="5243219"/>
            <a:ext cx="226949" cy="588026"/>
            <a:chOff x="0" y="0"/>
            <a:chExt cx="80174" cy="123748"/>
          </a:xfrm>
        </p:grpSpPr>
        <p:sp>
          <p:nvSpPr>
            <p:cNvPr id="156" name="Google Shape;156;g3c60d362576_0_1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7" name="Google Shape;157;g3c60d362576_0_1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g3c60d362576_0_10"/>
          <p:cNvGrpSpPr/>
          <p:nvPr/>
        </p:nvGrpSpPr>
        <p:grpSpPr>
          <a:xfrm>
            <a:off x="1044800" y="6177469"/>
            <a:ext cx="226949" cy="588026"/>
            <a:chOff x="0" y="0"/>
            <a:chExt cx="80174" cy="123748"/>
          </a:xfrm>
        </p:grpSpPr>
        <p:sp>
          <p:nvSpPr>
            <p:cNvPr id="159" name="Google Shape;159;g3c60d362576_0_1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0" name="Google Shape;160;g3c60d362576_0_1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g3c60d362576_0_10"/>
          <p:cNvGrpSpPr/>
          <p:nvPr/>
        </p:nvGrpSpPr>
        <p:grpSpPr>
          <a:xfrm>
            <a:off x="1044800" y="7111719"/>
            <a:ext cx="226949" cy="588026"/>
            <a:chOff x="0" y="0"/>
            <a:chExt cx="80174" cy="123748"/>
          </a:xfrm>
        </p:grpSpPr>
        <p:sp>
          <p:nvSpPr>
            <p:cNvPr id="162" name="Google Shape;162;g3c60d362576_0_1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3" name="Google Shape;163;g3c60d362576_0_1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691fa32ac_0_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169" name="Google Shape;169;g3c691fa32ac_0_19"/>
          <p:cNvSpPr txBox="1"/>
          <p:nvPr/>
        </p:nvSpPr>
        <p:spPr>
          <a:xfrm>
            <a:off x="1028700" y="2025600"/>
            <a:ext cx="15192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6.1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Introduction to Multimodal and Cross-Modal NLP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70" name="Google Shape;170;g3c691fa32ac_0_19"/>
          <p:cNvSpPr txBox="1"/>
          <p:nvPr/>
        </p:nvSpPr>
        <p:spPr>
          <a:xfrm>
            <a:off x="1028700" y="3196472"/>
            <a:ext cx="141183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Alignment Problem 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&amp; Unified Representations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71" name="Google Shape;171;g3c691fa32ac_0_19"/>
          <p:cNvSpPr txBox="1"/>
          <p:nvPr/>
        </p:nvSpPr>
        <p:spPr>
          <a:xfrm>
            <a:off x="1463225" y="4918575"/>
            <a:ext cx="7407900" cy="4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Modalities differ in structure, scale, and noise characteristics.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Alignment achieved via contrastive learning and cross-attention.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Semantic similarity replaces symbolic matching.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Foundation of generalizable multimodal intelligence.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72" name="Google Shape;172;g3c691fa32ac_0_1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73" name="Google Shape;173;g3c691fa32ac_0_1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4" name="Google Shape;174;g3c691fa32ac_0_1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g3c691fa32ac_0_1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6" name="Google Shape;176;g3c691fa32ac_0_1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177" name="Google Shape;177;g3c691fa32ac_0_1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8" name="Google Shape;178;g3c691fa32ac_0_1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g3c691fa32ac_0_19"/>
          <p:cNvGrpSpPr/>
          <p:nvPr/>
        </p:nvGrpSpPr>
        <p:grpSpPr>
          <a:xfrm>
            <a:off x="1044800" y="4918569"/>
            <a:ext cx="226949" cy="588026"/>
            <a:chOff x="0" y="0"/>
            <a:chExt cx="80174" cy="123748"/>
          </a:xfrm>
        </p:grpSpPr>
        <p:sp>
          <p:nvSpPr>
            <p:cNvPr id="180" name="Google Shape;180;g3c691fa32ac_0_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1" name="Google Shape;181;g3c691fa32ac_0_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g3c691fa32ac_0_19"/>
          <p:cNvGrpSpPr/>
          <p:nvPr/>
        </p:nvGrpSpPr>
        <p:grpSpPr>
          <a:xfrm>
            <a:off x="1044800" y="5852819"/>
            <a:ext cx="226949" cy="588026"/>
            <a:chOff x="0" y="0"/>
            <a:chExt cx="80174" cy="123748"/>
          </a:xfrm>
        </p:grpSpPr>
        <p:sp>
          <p:nvSpPr>
            <p:cNvPr id="183" name="Google Shape;183;g3c691fa32ac_0_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4" name="Google Shape;184;g3c691fa32ac_0_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g3c691fa32ac_0_19"/>
          <p:cNvGrpSpPr/>
          <p:nvPr/>
        </p:nvGrpSpPr>
        <p:grpSpPr>
          <a:xfrm>
            <a:off x="1044800" y="6787069"/>
            <a:ext cx="226949" cy="588026"/>
            <a:chOff x="0" y="0"/>
            <a:chExt cx="80174" cy="123748"/>
          </a:xfrm>
        </p:grpSpPr>
        <p:sp>
          <p:nvSpPr>
            <p:cNvPr id="186" name="Google Shape;186;g3c691fa32ac_0_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7" name="Google Shape;187;g3c691fa32ac_0_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g3c691fa32ac_0_19"/>
          <p:cNvGrpSpPr/>
          <p:nvPr/>
        </p:nvGrpSpPr>
        <p:grpSpPr>
          <a:xfrm>
            <a:off x="1044800" y="7721319"/>
            <a:ext cx="226949" cy="588026"/>
            <a:chOff x="0" y="0"/>
            <a:chExt cx="80174" cy="123748"/>
          </a:xfrm>
        </p:grpSpPr>
        <p:sp>
          <p:nvSpPr>
            <p:cNvPr id="189" name="Google Shape;189;g3c691fa32ac_0_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90" name="Google Shape;190;g3c691fa32ac_0_1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g3c691fa32ac_0_19" title="Diagram type_ Multimodal alignment schematic, technical system diagram. - visual selection.png"/>
          <p:cNvPicPr preferRelativeResize="0"/>
          <p:nvPr/>
        </p:nvPicPr>
        <p:blipFill rotWithShape="1">
          <a:blip r:embed="rId5">
            <a:alphaModFix/>
          </a:blip>
          <a:srcRect b="7461" l="2018" r="0" t="4657"/>
          <a:stretch/>
        </p:blipFill>
        <p:spPr>
          <a:xfrm>
            <a:off x="10763425" y="3091500"/>
            <a:ext cx="6495875" cy="47922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691fa32ac_0_4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67" t="-52938"/>
            </a:stretch>
          </a:blipFill>
          <a:ln>
            <a:noFill/>
          </a:ln>
        </p:spPr>
      </p:sp>
      <p:grpSp>
        <p:nvGrpSpPr>
          <p:cNvPr id="197" name="Google Shape;197;g3c691fa32ac_0_47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198" name="Google Shape;198;g3c691fa32ac_0_47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99" name="Google Shape;199;g3c691fa32ac_0_47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g3c691fa32ac_0_47"/>
          <p:cNvGrpSpPr/>
          <p:nvPr/>
        </p:nvGrpSpPr>
        <p:grpSpPr>
          <a:xfrm>
            <a:off x="1160375" y="2685175"/>
            <a:ext cx="10271595" cy="720993"/>
            <a:chOff x="0" y="-9525"/>
            <a:chExt cx="2404287" cy="189900"/>
          </a:xfrm>
        </p:grpSpPr>
        <p:sp>
          <p:nvSpPr>
            <p:cNvPr id="201" name="Google Shape;201;g3c691fa32ac_0_47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2" name="Google Shape;202;g3c691fa32ac_0_47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g3c691fa32ac_0_47"/>
          <p:cNvSpPr txBox="1"/>
          <p:nvPr/>
        </p:nvSpPr>
        <p:spPr>
          <a:xfrm>
            <a:off x="1259550" y="2047825"/>
            <a:ext cx="14902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Multimodal and Cross-Modal NLP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6.2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CLIP: Bridging Vision and Language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6.3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Whisper: Unified Speech Processing (ASR)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Knowledge-Augmented Text Enrichment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the Future of Unified AI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04" name="Google Shape;204;g3c691fa32ac_0_4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g3c691fa32ac_0_47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691fa32ac_0_6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11" name="Google Shape;211;g3c691fa32ac_0_60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6.2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CLIP: Bridging Vision and Language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2" name="Google Shape;212;g3c691fa32ac_0_60"/>
          <p:cNvSpPr txBox="1"/>
          <p:nvPr/>
        </p:nvSpPr>
        <p:spPr>
          <a:xfrm>
            <a:off x="1028700" y="3196475"/>
            <a:ext cx="7929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Vision–Language Bridging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g3c691fa32ac_0_60"/>
          <p:cNvSpPr txBox="1"/>
          <p:nvPr/>
        </p:nvSpPr>
        <p:spPr>
          <a:xfrm>
            <a:off x="1463225" y="4308975"/>
            <a:ext cx="7407900" cy="4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CLIP trained on 400M image–text pairs via contrastive learning.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Separate image (ViT) and text (Transformer) encoders.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Produces unified multimodal embedding space.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Enables zero-shot image classification via natural language.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14" name="Google Shape;214;g3c691fa32ac_0_6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15" name="Google Shape;215;g3c691fa32ac_0_6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6" name="Google Shape;216;g3c691fa32ac_0_6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g3c691fa32ac_0_6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8" name="Google Shape;218;g3c691fa32ac_0_6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19" name="Google Shape;219;g3c691fa32ac_0_6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20" name="Google Shape;220;g3c691fa32ac_0_6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g3c691fa32ac_0_60"/>
          <p:cNvGrpSpPr/>
          <p:nvPr/>
        </p:nvGrpSpPr>
        <p:grpSpPr>
          <a:xfrm>
            <a:off x="1044800" y="4308969"/>
            <a:ext cx="226949" cy="588026"/>
            <a:chOff x="0" y="0"/>
            <a:chExt cx="80174" cy="123748"/>
          </a:xfrm>
        </p:grpSpPr>
        <p:sp>
          <p:nvSpPr>
            <p:cNvPr id="222" name="Google Shape;222;g3c691fa32ac_0_6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23" name="Google Shape;223;g3c691fa32ac_0_6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g3c691fa32ac_0_60"/>
          <p:cNvGrpSpPr/>
          <p:nvPr/>
        </p:nvGrpSpPr>
        <p:grpSpPr>
          <a:xfrm>
            <a:off x="1044800" y="6823630"/>
            <a:ext cx="226949" cy="588026"/>
            <a:chOff x="0" y="0"/>
            <a:chExt cx="80174" cy="123748"/>
          </a:xfrm>
        </p:grpSpPr>
        <p:sp>
          <p:nvSpPr>
            <p:cNvPr id="225" name="Google Shape;225;g3c691fa32ac_0_6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26" name="Google Shape;226;g3c691fa32ac_0_6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7" name="Google Shape;227;g3c691fa32ac_0_60" title="ChatGPT Image 5 feb 2026, 12_45_50.png"/>
          <p:cNvPicPr preferRelativeResize="0"/>
          <p:nvPr/>
        </p:nvPicPr>
        <p:blipFill rotWithShape="1">
          <a:blip r:embed="rId5">
            <a:alphaModFix/>
          </a:blip>
          <a:srcRect b="8394" l="7219" r="3645" t="5152"/>
          <a:stretch/>
        </p:blipFill>
        <p:spPr>
          <a:xfrm>
            <a:off x="10847000" y="3344100"/>
            <a:ext cx="6412301" cy="414642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28" name="Google Shape;228;g3c691fa32ac_0_60"/>
          <p:cNvGrpSpPr/>
          <p:nvPr/>
        </p:nvGrpSpPr>
        <p:grpSpPr>
          <a:xfrm>
            <a:off x="1044800" y="5243219"/>
            <a:ext cx="226949" cy="588026"/>
            <a:chOff x="0" y="0"/>
            <a:chExt cx="80174" cy="123748"/>
          </a:xfrm>
        </p:grpSpPr>
        <p:sp>
          <p:nvSpPr>
            <p:cNvPr id="229" name="Google Shape;229;g3c691fa32ac_0_6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0" name="Google Shape;230;g3c691fa32ac_0_6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g3c691fa32ac_0_60"/>
          <p:cNvGrpSpPr/>
          <p:nvPr/>
        </p:nvGrpSpPr>
        <p:grpSpPr>
          <a:xfrm>
            <a:off x="1028713" y="6123801"/>
            <a:ext cx="259162" cy="400015"/>
            <a:chOff x="0" y="0"/>
            <a:chExt cx="80174" cy="123748"/>
          </a:xfrm>
        </p:grpSpPr>
        <p:sp>
          <p:nvSpPr>
            <p:cNvPr id="232" name="Google Shape;232;g3c691fa32ac_0_6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3" name="Google Shape;233;g3c691fa32ac_0_6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691fa32ac_0_9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39" name="Google Shape;239;g3c691fa32ac_0_91"/>
          <p:cNvSpPr txBox="1"/>
          <p:nvPr/>
        </p:nvSpPr>
        <p:spPr>
          <a:xfrm>
            <a:off x="1028700" y="3196475"/>
            <a:ext cx="98349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Separate Text and Image Encoders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40" name="Google Shape;240;g3c691fa32ac_0_9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41" name="Google Shape;241;g3c691fa32ac_0_9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2" name="Google Shape;242;g3c691fa32ac_0_9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g3c691fa32ac_0_9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4" name="Google Shape;244;g3c691fa32ac_0_9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45" name="Google Shape;245;g3c691fa32ac_0_9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6" name="Google Shape;246;g3c691fa32ac_0_9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g3c691fa32ac_0_91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6.2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CLIP: Bridging Vision and Language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248" name="Google Shape;248;g3c691fa32ac_0_91" title="Separate Text and Image Encoders - visual selection (1).png"/>
          <p:cNvPicPr preferRelativeResize="0"/>
          <p:nvPr/>
        </p:nvPicPr>
        <p:blipFill rotWithShape="1">
          <a:blip r:embed="rId5">
            <a:alphaModFix/>
          </a:blip>
          <a:srcRect b="12847" l="0" r="0" t="5426"/>
          <a:stretch/>
        </p:blipFill>
        <p:spPr>
          <a:xfrm>
            <a:off x="1028700" y="4300200"/>
            <a:ext cx="10169199" cy="50300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691fa32ac_0_1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54" name="Google Shape;254;g3c691fa32ac_0_120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6.2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CLIP: Bridging Vision and Language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5" name="Google Shape;255;g3c691fa32ac_0_120"/>
          <p:cNvSpPr txBox="1"/>
          <p:nvPr/>
        </p:nvSpPr>
        <p:spPr>
          <a:xfrm>
            <a:off x="1028700" y="3196475"/>
            <a:ext cx="73116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CLIP in Practice: Zero-Shot 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&amp; Generative Guidance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6" name="Google Shape;256;g3c691fa32ac_0_120"/>
          <p:cNvSpPr txBox="1"/>
          <p:nvPr/>
        </p:nvSpPr>
        <p:spPr>
          <a:xfrm>
            <a:off x="1463225" y="4875796"/>
            <a:ext cx="7407900" cy="4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Zero-shot image classification without task-specific training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Natural language prompts act as dynamic labels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Backbone for image retrieval at scale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Semantic guidance engine for text-to-image generation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57" name="Google Shape;257;g3c691fa32ac_0_12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58" name="Google Shape;258;g3c691fa32ac_0_12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59" name="Google Shape;259;g3c691fa32ac_0_12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g3c691fa32ac_0_12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g3c691fa32ac_0_12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62" name="Google Shape;262;g3c691fa32ac_0_12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3" name="Google Shape;263;g3c691fa32ac_0_12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g3c691fa32ac_0_120"/>
          <p:cNvGrpSpPr/>
          <p:nvPr/>
        </p:nvGrpSpPr>
        <p:grpSpPr>
          <a:xfrm>
            <a:off x="1044800" y="4892501"/>
            <a:ext cx="226949" cy="588026"/>
            <a:chOff x="0" y="0"/>
            <a:chExt cx="80174" cy="123748"/>
          </a:xfrm>
        </p:grpSpPr>
        <p:sp>
          <p:nvSpPr>
            <p:cNvPr id="265" name="Google Shape;265;g3c691fa32ac_0_1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6" name="Google Shape;266;g3c691fa32ac_0_12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g3c691fa32ac_0_120"/>
          <p:cNvGrpSpPr/>
          <p:nvPr/>
        </p:nvGrpSpPr>
        <p:grpSpPr>
          <a:xfrm>
            <a:off x="1044800" y="7040969"/>
            <a:ext cx="226949" cy="588026"/>
            <a:chOff x="0" y="0"/>
            <a:chExt cx="80174" cy="123748"/>
          </a:xfrm>
        </p:grpSpPr>
        <p:sp>
          <p:nvSpPr>
            <p:cNvPr id="268" name="Google Shape;268;g3c691fa32ac_0_1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9" name="Google Shape;269;g3c691fa32ac_0_12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g3c691fa32ac_0_120"/>
          <p:cNvGrpSpPr/>
          <p:nvPr/>
        </p:nvGrpSpPr>
        <p:grpSpPr>
          <a:xfrm>
            <a:off x="1028688" y="6384021"/>
            <a:ext cx="259162" cy="400015"/>
            <a:chOff x="0" y="0"/>
            <a:chExt cx="80174" cy="123748"/>
          </a:xfrm>
        </p:grpSpPr>
        <p:sp>
          <p:nvSpPr>
            <p:cNvPr id="271" name="Google Shape;271;g3c691fa32ac_0_1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2" name="Google Shape;272;g3c691fa32ac_0_12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g3c691fa32ac_0_120"/>
          <p:cNvGrpSpPr/>
          <p:nvPr/>
        </p:nvGrpSpPr>
        <p:grpSpPr>
          <a:xfrm>
            <a:off x="1028688" y="5750701"/>
            <a:ext cx="259162" cy="400015"/>
            <a:chOff x="0" y="0"/>
            <a:chExt cx="80174" cy="123748"/>
          </a:xfrm>
        </p:grpSpPr>
        <p:sp>
          <p:nvSpPr>
            <p:cNvPr id="274" name="Google Shape;274;g3c691fa32ac_0_1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75" name="Google Shape;275;g3c691fa32ac_0_12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6" name="Google Shape;276;g3c691fa32ac_0_120" title="ChatGPT Image 5 feb 2026, 12_52_18.png"/>
          <p:cNvPicPr preferRelativeResize="0"/>
          <p:nvPr/>
        </p:nvPicPr>
        <p:blipFill rotWithShape="1">
          <a:blip r:embed="rId5">
            <a:alphaModFix/>
          </a:blip>
          <a:srcRect b="16777" l="3953" r="3897" t="10117"/>
          <a:stretch/>
        </p:blipFill>
        <p:spPr>
          <a:xfrm>
            <a:off x="9634193" y="3196475"/>
            <a:ext cx="7625107" cy="403259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691fa32ac_0_16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282" name="Google Shape;282;g3c691fa32ac_0_168"/>
          <p:cNvSpPr txBox="1"/>
          <p:nvPr/>
        </p:nvSpPr>
        <p:spPr>
          <a:xfrm>
            <a:off x="1028700" y="3196475"/>
            <a:ext cx="123918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Applications: Image Retrieval and Captioning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83" name="Google Shape;283;g3c691fa32ac_0_16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84" name="Google Shape;284;g3c691fa32ac_0_16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5" name="Google Shape;285;g3c691fa32ac_0_16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g3c691fa32ac_0_16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7" name="Google Shape;287;g3c691fa32ac_0_168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288" name="Google Shape;288;g3c691fa32ac_0_16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9" name="Google Shape;289;g3c691fa32ac_0_168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" name="Google Shape;290;g3c691fa32ac_0_168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6.2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CLIP: Bridging Vision and Language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291" name="Google Shape;291;g3c691fa32ac_0_168" title="Applications_ Image Retrieval and Captioning - visual selection.png"/>
          <p:cNvPicPr preferRelativeResize="0"/>
          <p:nvPr/>
        </p:nvPicPr>
        <p:blipFill rotWithShape="1">
          <a:blip r:embed="rId5">
            <a:alphaModFix/>
          </a:blip>
          <a:srcRect b="21160" l="0" r="0" t="7736"/>
          <a:stretch/>
        </p:blipFill>
        <p:spPr>
          <a:xfrm>
            <a:off x="1028700" y="4114500"/>
            <a:ext cx="11605430" cy="3951825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691fa32ac_0_18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67" t="-52938"/>
            </a:stretch>
          </a:blipFill>
          <a:ln>
            <a:noFill/>
          </a:ln>
        </p:spPr>
      </p:sp>
      <p:grpSp>
        <p:nvGrpSpPr>
          <p:cNvPr id="297" name="Google Shape;297;g3c691fa32ac_0_183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298" name="Google Shape;298;g3c691fa32ac_0_18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99" name="Google Shape;299;g3c691fa32ac_0_183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g3c691fa32ac_0_183"/>
          <p:cNvGrpSpPr/>
          <p:nvPr/>
        </p:nvGrpSpPr>
        <p:grpSpPr>
          <a:xfrm>
            <a:off x="1160375" y="3387675"/>
            <a:ext cx="11909155" cy="720993"/>
            <a:chOff x="0" y="-9525"/>
            <a:chExt cx="2404287" cy="189900"/>
          </a:xfrm>
        </p:grpSpPr>
        <p:sp>
          <p:nvSpPr>
            <p:cNvPr id="301" name="Google Shape;301;g3c691fa32ac_0_18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2" name="Google Shape;302;g3c691fa32ac_0_183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g3c691fa32ac_0_183"/>
          <p:cNvSpPr txBox="1"/>
          <p:nvPr/>
        </p:nvSpPr>
        <p:spPr>
          <a:xfrm>
            <a:off x="1259550" y="2047825"/>
            <a:ext cx="14902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Multimodal and Cross-Modal NLP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CLIP: Bridging Vision and Language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6.3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Whisper: Unified Speech Processing (ASR)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Knowledge-Augmented Text Enrichment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the Future of Unified AI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4" name="Google Shape;304;g3c691fa32ac_0_18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g3c691fa32ac_0_18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691fa32ac_0_19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11" name="Google Shape;311;g3c691fa32ac_0_196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Whisper: Unified Speech Processing (ASR)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12" name="Google Shape;312;g3c691fa32ac_0_196"/>
          <p:cNvSpPr txBox="1"/>
          <p:nvPr/>
        </p:nvSpPr>
        <p:spPr>
          <a:xfrm>
            <a:off x="1028700" y="3196475"/>
            <a:ext cx="101025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Whisper: Robust Speech-to-Text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13" name="Google Shape;313;g3c691fa32ac_0_196"/>
          <p:cNvSpPr txBox="1"/>
          <p:nvPr/>
        </p:nvSpPr>
        <p:spPr>
          <a:xfrm>
            <a:off x="1463225" y="4308975"/>
            <a:ext cx="74079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Whisper trained on 680k hours of noisy, multilingual audio.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Encoder-decoder Transformer over log-mel spectrograms.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Handles transcription, translation, and language detection.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Industry-leading robustness to noise and accents.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14" name="Google Shape;314;g3c691fa32ac_0_19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15" name="Google Shape;315;g3c691fa32ac_0_19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16" name="Google Shape;316;g3c691fa32ac_0_19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" name="Google Shape;317;g3c691fa32ac_0_19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8" name="Google Shape;318;g3c691fa32ac_0_196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19" name="Google Shape;319;g3c691fa32ac_0_19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0" name="Google Shape;320;g3c691fa32ac_0_196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g3c691fa32ac_0_196"/>
          <p:cNvGrpSpPr/>
          <p:nvPr/>
        </p:nvGrpSpPr>
        <p:grpSpPr>
          <a:xfrm>
            <a:off x="1044800" y="4308969"/>
            <a:ext cx="226949" cy="588026"/>
            <a:chOff x="0" y="0"/>
            <a:chExt cx="80174" cy="123748"/>
          </a:xfrm>
        </p:grpSpPr>
        <p:sp>
          <p:nvSpPr>
            <p:cNvPr id="322" name="Google Shape;322;g3c691fa32ac_0_19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3" name="Google Shape;323;g3c691fa32ac_0_19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g3c691fa32ac_0_196"/>
          <p:cNvGrpSpPr/>
          <p:nvPr/>
        </p:nvGrpSpPr>
        <p:grpSpPr>
          <a:xfrm>
            <a:off x="1044800" y="6823630"/>
            <a:ext cx="226949" cy="588026"/>
            <a:chOff x="0" y="0"/>
            <a:chExt cx="80174" cy="123748"/>
          </a:xfrm>
        </p:grpSpPr>
        <p:sp>
          <p:nvSpPr>
            <p:cNvPr id="325" name="Google Shape;325;g3c691fa32ac_0_19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6" name="Google Shape;326;g3c691fa32ac_0_19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g3c691fa32ac_0_196"/>
          <p:cNvGrpSpPr/>
          <p:nvPr/>
        </p:nvGrpSpPr>
        <p:grpSpPr>
          <a:xfrm>
            <a:off x="1044800" y="5243219"/>
            <a:ext cx="226949" cy="588026"/>
            <a:chOff x="0" y="0"/>
            <a:chExt cx="80174" cy="123748"/>
          </a:xfrm>
        </p:grpSpPr>
        <p:sp>
          <p:nvSpPr>
            <p:cNvPr id="328" name="Google Shape;328;g3c691fa32ac_0_19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29" name="Google Shape;329;g3c691fa32ac_0_19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g3c691fa32ac_0_196"/>
          <p:cNvGrpSpPr/>
          <p:nvPr/>
        </p:nvGrpSpPr>
        <p:grpSpPr>
          <a:xfrm>
            <a:off x="1028713" y="6123801"/>
            <a:ext cx="259162" cy="400015"/>
            <a:chOff x="0" y="0"/>
            <a:chExt cx="80174" cy="123748"/>
          </a:xfrm>
        </p:grpSpPr>
        <p:sp>
          <p:nvSpPr>
            <p:cNvPr id="331" name="Google Shape;331;g3c691fa32ac_0_19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2" name="Google Shape;332;g3c691fa32ac_0_196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3" name="Google Shape;333;g3c691fa32ac_0_196" title="_- visual selection (3).png"/>
          <p:cNvPicPr preferRelativeResize="0"/>
          <p:nvPr/>
        </p:nvPicPr>
        <p:blipFill rotWithShape="1">
          <a:blip r:embed="rId5">
            <a:alphaModFix/>
          </a:blip>
          <a:srcRect b="5729" l="0" r="0" t="4608"/>
          <a:stretch/>
        </p:blipFill>
        <p:spPr>
          <a:xfrm>
            <a:off x="11331600" y="3303450"/>
            <a:ext cx="5927699" cy="44576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691fa32ac_0_2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39" name="Google Shape;339;g3c691fa32ac_0_224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6.3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Whisper: Unified Speech Processing (ASR)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40" name="Google Shape;340;g3c691fa32ac_0_224"/>
          <p:cNvSpPr txBox="1"/>
          <p:nvPr/>
        </p:nvSpPr>
        <p:spPr>
          <a:xfrm>
            <a:off x="1028700" y="3196475"/>
            <a:ext cx="101025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Speech as a Multimodal Signal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41" name="Google Shape;341;g3c691fa32ac_0_224"/>
          <p:cNvSpPr txBox="1"/>
          <p:nvPr/>
        </p:nvSpPr>
        <p:spPr>
          <a:xfrm>
            <a:off x="1463225" y="4308975"/>
            <a:ext cx="74079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Speech contains linguistic + paralinguistic information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Noise robustness enables real-world deployment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Precise timestamps unlock captions and multimodal agents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Speech becomes first-class AI input modality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42" name="Google Shape;342;g3c691fa32ac_0_22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43" name="Google Shape;343;g3c691fa32ac_0_22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44" name="Google Shape;344;g3c691fa32ac_0_22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g3c691fa32ac_0_22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6" name="Google Shape;346;g3c691fa32ac_0_224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47" name="Google Shape;347;g3c691fa32ac_0_22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48" name="Google Shape;348;g3c691fa32ac_0_224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g3c691fa32ac_0_224"/>
          <p:cNvGrpSpPr/>
          <p:nvPr/>
        </p:nvGrpSpPr>
        <p:grpSpPr>
          <a:xfrm>
            <a:off x="1044800" y="4308969"/>
            <a:ext cx="226949" cy="588026"/>
            <a:chOff x="0" y="0"/>
            <a:chExt cx="80174" cy="123748"/>
          </a:xfrm>
        </p:grpSpPr>
        <p:sp>
          <p:nvSpPr>
            <p:cNvPr id="350" name="Google Shape;350;g3c691fa32ac_0_2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1" name="Google Shape;351;g3c691fa32ac_0_22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g3c691fa32ac_0_224"/>
          <p:cNvGrpSpPr/>
          <p:nvPr/>
        </p:nvGrpSpPr>
        <p:grpSpPr>
          <a:xfrm>
            <a:off x="1044800" y="5862798"/>
            <a:ext cx="226949" cy="588026"/>
            <a:chOff x="0" y="0"/>
            <a:chExt cx="80174" cy="123748"/>
          </a:xfrm>
        </p:grpSpPr>
        <p:sp>
          <p:nvSpPr>
            <p:cNvPr id="353" name="Google Shape;353;g3c691fa32ac_0_2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4" name="Google Shape;354;g3c691fa32ac_0_22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g3c691fa32ac_0_224"/>
          <p:cNvGrpSpPr/>
          <p:nvPr/>
        </p:nvGrpSpPr>
        <p:grpSpPr>
          <a:xfrm>
            <a:off x="1028688" y="6742101"/>
            <a:ext cx="259162" cy="400015"/>
            <a:chOff x="0" y="0"/>
            <a:chExt cx="80174" cy="123748"/>
          </a:xfrm>
        </p:grpSpPr>
        <p:sp>
          <p:nvSpPr>
            <p:cNvPr id="356" name="Google Shape;356;g3c691fa32ac_0_2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7" name="Google Shape;357;g3c691fa32ac_0_22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g3c691fa32ac_0_224"/>
          <p:cNvGrpSpPr/>
          <p:nvPr/>
        </p:nvGrpSpPr>
        <p:grpSpPr>
          <a:xfrm>
            <a:off x="1028688" y="5188221"/>
            <a:ext cx="259162" cy="400015"/>
            <a:chOff x="0" y="0"/>
            <a:chExt cx="80174" cy="123748"/>
          </a:xfrm>
        </p:grpSpPr>
        <p:sp>
          <p:nvSpPr>
            <p:cNvPr id="359" name="Google Shape;359;g3c691fa32ac_0_2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0" name="Google Shape;360;g3c691fa32ac_0_224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1" name="Google Shape;361;g3c691fa32ac_0_224" title="Title_ Why Speech Matters for AI - visual selection.png"/>
          <p:cNvPicPr preferRelativeResize="0"/>
          <p:nvPr/>
        </p:nvPicPr>
        <p:blipFill rotWithShape="1">
          <a:blip r:embed="rId5">
            <a:alphaModFix/>
          </a:blip>
          <a:srcRect b="10728" l="0" r="0" t="4798"/>
          <a:stretch/>
        </p:blipFill>
        <p:spPr>
          <a:xfrm>
            <a:off x="9467296" y="3196475"/>
            <a:ext cx="7792003" cy="426175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691fa32ac_0_2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67" t="-52938"/>
            </a:stretch>
          </a:blipFill>
          <a:ln>
            <a:noFill/>
          </a:ln>
        </p:spPr>
      </p:sp>
      <p:grpSp>
        <p:nvGrpSpPr>
          <p:cNvPr id="367" name="Google Shape;367;g3c691fa32ac_0_257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368" name="Google Shape;368;g3c691fa32ac_0_257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9" name="Google Shape;369;g3c691fa32ac_0_257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0" name="Google Shape;370;g3c691fa32ac_0_257"/>
          <p:cNvGrpSpPr/>
          <p:nvPr/>
        </p:nvGrpSpPr>
        <p:grpSpPr>
          <a:xfrm>
            <a:off x="1160375" y="4090175"/>
            <a:ext cx="11173924" cy="720993"/>
            <a:chOff x="0" y="-9525"/>
            <a:chExt cx="2404287" cy="189900"/>
          </a:xfrm>
        </p:grpSpPr>
        <p:sp>
          <p:nvSpPr>
            <p:cNvPr id="371" name="Google Shape;371;g3c691fa32ac_0_257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2" name="Google Shape;372;g3c691fa32ac_0_257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" name="Google Shape;373;g3c691fa32ac_0_257"/>
          <p:cNvSpPr txBox="1"/>
          <p:nvPr/>
        </p:nvSpPr>
        <p:spPr>
          <a:xfrm>
            <a:off x="1259550" y="2047825"/>
            <a:ext cx="14902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Multimodal and Cross-Modal NLP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CLIP: Bridging Vision and Language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6.3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Whisper: Unified Speech Processing (ASR)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6.4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Knowledge-Augmented Text Enrichment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6.5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the Future of Unified AI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74" name="Google Shape;374;g3c691fa32ac_0_25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5" name="Google Shape;375;g3c691fa32ac_0_257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691fa32ac_0_27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381" name="Google Shape;381;g3c691fa32ac_0_270"/>
          <p:cNvSpPr txBox="1"/>
          <p:nvPr/>
        </p:nvSpPr>
        <p:spPr>
          <a:xfrm>
            <a:off x="1028700" y="2025600"/>
            <a:ext cx="131604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Knowledge-Augmented Text Enrichment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2" name="Google Shape;382;g3c691fa32ac_0_270"/>
          <p:cNvSpPr txBox="1"/>
          <p:nvPr/>
        </p:nvSpPr>
        <p:spPr>
          <a:xfrm>
            <a:off x="1028700" y="3196475"/>
            <a:ext cx="110214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Knowledge Graphs as the 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Anchor of Truth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3" name="Google Shape;383;g3c691fa32ac_0_270"/>
          <p:cNvSpPr txBox="1"/>
          <p:nvPr/>
        </p:nvSpPr>
        <p:spPr>
          <a:xfrm>
            <a:off x="1463225" y="4909217"/>
            <a:ext cx="7407900" cy="57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Knowledge Graphs represent facts as entities and relations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Triples (subject–predicate–object) form deterministic truth layer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Neural models lack factual persistence without KGs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KGs enable explainability and verification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g3c691fa32ac_0_27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85" name="Google Shape;385;g3c691fa32ac_0_27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6" name="Google Shape;386;g3c691fa32ac_0_27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g3c691fa32ac_0_27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8" name="Google Shape;388;g3c691fa32ac_0_270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389" name="Google Shape;389;g3c691fa32ac_0_27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0" name="Google Shape;390;g3c691fa32ac_0_270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" name="Google Shape;391;g3c691fa32ac_0_270"/>
          <p:cNvGrpSpPr/>
          <p:nvPr/>
        </p:nvGrpSpPr>
        <p:grpSpPr>
          <a:xfrm>
            <a:off x="1044800" y="4925922"/>
            <a:ext cx="226949" cy="588026"/>
            <a:chOff x="0" y="0"/>
            <a:chExt cx="80174" cy="123748"/>
          </a:xfrm>
        </p:grpSpPr>
        <p:sp>
          <p:nvSpPr>
            <p:cNvPr id="392" name="Google Shape;392;g3c691fa32ac_0_27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3" name="Google Shape;393;g3c691fa32ac_0_27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g3c691fa32ac_0_270"/>
          <p:cNvGrpSpPr/>
          <p:nvPr/>
        </p:nvGrpSpPr>
        <p:grpSpPr>
          <a:xfrm>
            <a:off x="1044800" y="5829170"/>
            <a:ext cx="226949" cy="588026"/>
            <a:chOff x="0" y="0"/>
            <a:chExt cx="80174" cy="123748"/>
          </a:xfrm>
        </p:grpSpPr>
        <p:sp>
          <p:nvSpPr>
            <p:cNvPr id="395" name="Google Shape;395;g3c691fa32ac_0_27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6" name="Google Shape;396;g3c691fa32ac_0_27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g3c691fa32ac_0_270"/>
          <p:cNvGrpSpPr/>
          <p:nvPr/>
        </p:nvGrpSpPr>
        <p:grpSpPr>
          <a:xfrm>
            <a:off x="1028688" y="7624387"/>
            <a:ext cx="259162" cy="400015"/>
            <a:chOff x="0" y="0"/>
            <a:chExt cx="80174" cy="123748"/>
          </a:xfrm>
        </p:grpSpPr>
        <p:sp>
          <p:nvSpPr>
            <p:cNvPr id="398" name="Google Shape;398;g3c691fa32ac_0_27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9" name="Google Shape;399;g3c691fa32ac_0_27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" name="Google Shape;400;g3c691fa32ac_0_270"/>
          <p:cNvGrpSpPr/>
          <p:nvPr/>
        </p:nvGrpSpPr>
        <p:grpSpPr>
          <a:xfrm>
            <a:off x="1044800" y="6732398"/>
            <a:ext cx="226949" cy="588026"/>
            <a:chOff x="0" y="0"/>
            <a:chExt cx="80174" cy="123748"/>
          </a:xfrm>
        </p:grpSpPr>
        <p:sp>
          <p:nvSpPr>
            <p:cNvPr id="401" name="Google Shape;401;g3c691fa32ac_0_27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2" name="Google Shape;402;g3c691fa32ac_0_270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3" name="Google Shape;403;g3c691fa32ac_0_270" title="ChatGPT Image 5 feb 2026, 12_57_24.png"/>
          <p:cNvPicPr preferRelativeResize="0"/>
          <p:nvPr/>
        </p:nvPicPr>
        <p:blipFill rotWithShape="1">
          <a:blip r:embed="rId5">
            <a:alphaModFix/>
          </a:blip>
          <a:srcRect b="6360" l="0" r="0" t="5175"/>
          <a:stretch/>
        </p:blipFill>
        <p:spPr>
          <a:xfrm>
            <a:off x="9773412" y="3359650"/>
            <a:ext cx="7485876" cy="441512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691fa32ac_0_30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09" name="Google Shape;409;g3c691fa32ac_0_301"/>
          <p:cNvSpPr txBox="1"/>
          <p:nvPr/>
        </p:nvSpPr>
        <p:spPr>
          <a:xfrm>
            <a:off x="1028700" y="2025600"/>
            <a:ext cx="131604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6.4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Knowledge-Augmented Text Enrichment</a:t>
            </a:r>
            <a:endParaRPr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10" name="Google Shape;410;g3c691fa32ac_0_301"/>
          <p:cNvSpPr txBox="1"/>
          <p:nvPr/>
        </p:nvSpPr>
        <p:spPr>
          <a:xfrm>
            <a:off x="1028700" y="3196475"/>
            <a:ext cx="85983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Knowledge-Augmented 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Generation &amp; Graph-RA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11" name="Google Shape;411;g3c691fa32ac_0_301"/>
          <p:cNvSpPr txBox="1"/>
          <p:nvPr/>
        </p:nvSpPr>
        <p:spPr>
          <a:xfrm>
            <a:off x="1463225" y="4909217"/>
            <a:ext cx="7407900" cy="28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KG embeddings bridge symbolic graphs and neural vectors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Graph retrieval replaces raw text retrieval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Sub-graph grounding reduces hallucinations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Gold standard for regulated domains (law, medicine)</a:t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2" name="Google Shape;412;g3c691fa32ac_0_30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13" name="Google Shape;413;g3c691fa32ac_0_30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4" name="Google Shape;414;g3c691fa32ac_0_30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" name="Google Shape;415;g3c691fa32ac_0_30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6" name="Google Shape;416;g3c691fa32ac_0_30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17" name="Google Shape;417;g3c691fa32ac_0_30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8" name="Google Shape;418;g3c691fa32ac_0_30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g3c691fa32ac_0_301"/>
          <p:cNvGrpSpPr/>
          <p:nvPr/>
        </p:nvGrpSpPr>
        <p:grpSpPr>
          <a:xfrm>
            <a:off x="1044800" y="4925922"/>
            <a:ext cx="226949" cy="588026"/>
            <a:chOff x="0" y="0"/>
            <a:chExt cx="80174" cy="123748"/>
          </a:xfrm>
        </p:grpSpPr>
        <p:sp>
          <p:nvSpPr>
            <p:cNvPr id="420" name="Google Shape;420;g3c691fa32ac_0_30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1" name="Google Shape;421;g3c691fa32ac_0_30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g3c691fa32ac_0_301"/>
          <p:cNvGrpSpPr/>
          <p:nvPr/>
        </p:nvGrpSpPr>
        <p:grpSpPr>
          <a:xfrm>
            <a:off x="1028688" y="5769516"/>
            <a:ext cx="259162" cy="400015"/>
            <a:chOff x="0" y="0"/>
            <a:chExt cx="80174" cy="123748"/>
          </a:xfrm>
        </p:grpSpPr>
        <p:sp>
          <p:nvSpPr>
            <p:cNvPr id="423" name="Google Shape;423;g3c691fa32ac_0_30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4" name="Google Shape;424;g3c691fa32ac_0_30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g3c691fa32ac_0_301"/>
          <p:cNvGrpSpPr/>
          <p:nvPr/>
        </p:nvGrpSpPr>
        <p:grpSpPr>
          <a:xfrm>
            <a:off x="1044800" y="7075047"/>
            <a:ext cx="226949" cy="588026"/>
            <a:chOff x="0" y="0"/>
            <a:chExt cx="80174" cy="123748"/>
          </a:xfrm>
        </p:grpSpPr>
        <p:sp>
          <p:nvSpPr>
            <p:cNvPr id="426" name="Google Shape;426;g3c691fa32ac_0_30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7" name="Google Shape;427;g3c691fa32ac_0_30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" name="Google Shape;428;g3c691fa32ac_0_301"/>
          <p:cNvGrpSpPr/>
          <p:nvPr/>
        </p:nvGrpSpPr>
        <p:grpSpPr>
          <a:xfrm>
            <a:off x="1028688" y="6406512"/>
            <a:ext cx="259162" cy="400015"/>
            <a:chOff x="0" y="0"/>
            <a:chExt cx="80174" cy="123748"/>
          </a:xfrm>
        </p:grpSpPr>
        <p:sp>
          <p:nvSpPr>
            <p:cNvPr id="429" name="Google Shape;429;g3c691fa32ac_0_30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0" name="Google Shape;430;g3c691fa32ac_0_30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1" name="Google Shape;431;g3c691fa32ac_0_301" title="ChatGPT Image 5 feb 2026, 12_59_54.png"/>
          <p:cNvPicPr preferRelativeResize="0"/>
          <p:nvPr/>
        </p:nvPicPr>
        <p:blipFill rotWithShape="1">
          <a:blip r:embed="rId5">
            <a:alphaModFix/>
          </a:blip>
          <a:srcRect b="19839" l="0" r="0" t="0"/>
          <a:stretch/>
        </p:blipFill>
        <p:spPr>
          <a:xfrm>
            <a:off x="9272025" y="3394575"/>
            <a:ext cx="7987273" cy="42685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691fa32ac_0_3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67" t="-52938"/>
            </a:stretch>
          </a:blipFill>
          <a:ln>
            <a:noFill/>
          </a:ln>
        </p:spPr>
      </p:sp>
      <p:grpSp>
        <p:nvGrpSpPr>
          <p:cNvPr id="437" name="Google Shape;437;g3c691fa32ac_0_332"/>
          <p:cNvGrpSpPr/>
          <p:nvPr/>
        </p:nvGrpSpPr>
        <p:grpSpPr>
          <a:xfrm>
            <a:off x="1259561" y="710571"/>
            <a:ext cx="3086120" cy="600290"/>
            <a:chOff x="0" y="-9525"/>
            <a:chExt cx="812800" cy="158100"/>
          </a:xfrm>
        </p:grpSpPr>
        <p:sp>
          <p:nvSpPr>
            <p:cNvPr id="438" name="Google Shape;438;g3c691fa32ac_0_332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9" name="Google Shape;439;g3c691fa32ac_0_332"/>
            <p:cNvSpPr txBox="1"/>
            <p:nvPr/>
          </p:nvSpPr>
          <p:spPr>
            <a:xfrm>
              <a:off x="0" y="-9525"/>
              <a:ext cx="812700" cy="1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g3c691fa32ac_0_332"/>
          <p:cNvGrpSpPr/>
          <p:nvPr/>
        </p:nvGrpSpPr>
        <p:grpSpPr>
          <a:xfrm>
            <a:off x="1160375" y="4759275"/>
            <a:ext cx="10655800" cy="720974"/>
            <a:chOff x="0" y="-9525"/>
            <a:chExt cx="2404287" cy="189900"/>
          </a:xfrm>
        </p:grpSpPr>
        <p:sp>
          <p:nvSpPr>
            <p:cNvPr id="441" name="Google Shape;441;g3c691fa32ac_0_332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2" name="Google Shape;442;g3c691fa32ac_0_332"/>
            <p:cNvSpPr txBox="1"/>
            <p:nvPr/>
          </p:nvSpPr>
          <p:spPr>
            <a:xfrm>
              <a:off x="0" y="-9525"/>
              <a:ext cx="2404200" cy="1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g3c691fa32ac_0_332"/>
          <p:cNvSpPr txBox="1"/>
          <p:nvPr/>
        </p:nvSpPr>
        <p:spPr>
          <a:xfrm>
            <a:off x="1259550" y="2047825"/>
            <a:ext cx="149022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6.1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Introduction to Multimodal and Cross-Modal NLP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6.2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CLIP: Bridging Vision and Language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6.3 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Whisper: Unified Speech Processing (ASR)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6.4</a:t>
            </a:r>
            <a:r>
              <a:rPr lang="en-US" sz="4123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Knowledge-Augmented Text Enrichment</a:t>
            </a:r>
            <a:endParaRPr sz="4123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6.5</a:t>
            </a:r>
            <a:r>
              <a:rPr b="1" lang="en-US" sz="4123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Summary and the Future of Unified AI</a:t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sz="4123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3"/>
              <a:buFont typeface="Arial"/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44" name="Google Shape;444;g3c691fa32ac_0_33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5" name="Google Shape;445;g3c691fa32ac_0_332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4"/>
              <a:buFont typeface="Arial"/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691fa32ac_0_34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51" name="Google Shape;451;g3c691fa32ac_0_345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Summary and the Future of Unified AI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2" name="Google Shape;452;g3c691fa32ac_0_345"/>
          <p:cNvSpPr txBox="1"/>
          <p:nvPr/>
        </p:nvSpPr>
        <p:spPr>
          <a:xfrm>
            <a:off x="1028700" y="3196475"/>
            <a:ext cx="8314500" cy="1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From Modular Pipelines to Unified Models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t/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53" name="Google Shape;453;g3c691fa32ac_0_345"/>
          <p:cNvSpPr txBox="1"/>
          <p:nvPr/>
        </p:nvSpPr>
        <p:spPr>
          <a:xfrm>
            <a:off x="1463225" y="4825664"/>
            <a:ext cx="74079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Speech contains linguistic + paralinguistic information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Noise robustness enables real-world deployment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Precise timestamps unlock captions and multimodal agents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Speech becomes first-class AI input modality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54" name="Google Shape;454;g3c691fa32ac_0_34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55" name="Google Shape;455;g3c691fa32ac_0_34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6" name="Google Shape;456;g3c691fa32ac_0_34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7" name="Google Shape;457;g3c691fa32ac_0_34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8" name="Google Shape;458;g3c691fa32ac_0_345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59" name="Google Shape;459;g3c691fa32ac_0_34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0" name="Google Shape;460;g3c691fa32ac_0_345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g3c691fa32ac_0_345"/>
          <p:cNvGrpSpPr/>
          <p:nvPr/>
        </p:nvGrpSpPr>
        <p:grpSpPr>
          <a:xfrm>
            <a:off x="1044800" y="4825658"/>
            <a:ext cx="226949" cy="588026"/>
            <a:chOff x="0" y="0"/>
            <a:chExt cx="80174" cy="123748"/>
          </a:xfrm>
        </p:grpSpPr>
        <p:sp>
          <p:nvSpPr>
            <p:cNvPr id="462" name="Google Shape;462;g3c691fa32ac_0_34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3" name="Google Shape;463;g3c691fa32ac_0_34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g3c691fa32ac_0_345"/>
          <p:cNvGrpSpPr/>
          <p:nvPr/>
        </p:nvGrpSpPr>
        <p:grpSpPr>
          <a:xfrm>
            <a:off x="1044800" y="6379488"/>
            <a:ext cx="226949" cy="588026"/>
            <a:chOff x="0" y="0"/>
            <a:chExt cx="80174" cy="123748"/>
          </a:xfrm>
        </p:grpSpPr>
        <p:sp>
          <p:nvSpPr>
            <p:cNvPr id="465" name="Google Shape;465;g3c691fa32ac_0_34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6" name="Google Shape;466;g3c691fa32ac_0_34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g3c691fa32ac_0_345"/>
          <p:cNvGrpSpPr/>
          <p:nvPr/>
        </p:nvGrpSpPr>
        <p:grpSpPr>
          <a:xfrm>
            <a:off x="1028688" y="7258791"/>
            <a:ext cx="259162" cy="400015"/>
            <a:chOff x="0" y="0"/>
            <a:chExt cx="80174" cy="123748"/>
          </a:xfrm>
        </p:grpSpPr>
        <p:sp>
          <p:nvSpPr>
            <p:cNvPr id="468" name="Google Shape;468;g3c691fa32ac_0_34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9" name="Google Shape;469;g3c691fa32ac_0_34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0" name="Google Shape;470;g3c691fa32ac_0_345"/>
          <p:cNvGrpSpPr/>
          <p:nvPr/>
        </p:nvGrpSpPr>
        <p:grpSpPr>
          <a:xfrm>
            <a:off x="1028688" y="5704910"/>
            <a:ext cx="259162" cy="400015"/>
            <a:chOff x="0" y="0"/>
            <a:chExt cx="80174" cy="123748"/>
          </a:xfrm>
        </p:grpSpPr>
        <p:sp>
          <p:nvSpPr>
            <p:cNvPr id="471" name="Google Shape;471;g3c691fa32ac_0_34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2" name="Google Shape;472;g3c691fa32ac_0_345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3" name="Google Shape;473;g3c691fa32ac_0_345" title="Title_ Unified Multimodal Transformer Stack - visual selection.png"/>
          <p:cNvPicPr preferRelativeResize="0"/>
          <p:nvPr/>
        </p:nvPicPr>
        <p:blipFill rotWithShape="1">
          <a:blip r:embed="rId5">
            <a:alphaModFix/>
          </a:blip>
          <a:srcRect b="7209" l="0" r="0" t="6968"/>
          <a:stretch/>
        </p:blipFill>
        <p:spPr>
          <a:xfrm>
            <a:off x="12329538" y="3196473"/>
            <a:ext cx="4838662" cy="4665500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691fa32ac_0_37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479" name="Google Shape;479;g3c691fa32ac_0_373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Summary and the Future of Unified AI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80" name="Google Shape;480;g3c691fa32ac_0_373"/>
          <p:cNvSpPr txBox="1"/>
          <p:nvPr/>
        </p:nvSpPr>
        <p:spPr>
          <a:xfrm>
            <a:off x="1028700" y="3196475"/>
            <a:ext cx="9567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Risks, Ethics &amp; Bias in Multimodal AI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81" name="Google Shape;481;g3c691fa32ac_0_373"/>
          <p:cNvSpPr txBox="1"/>
          <p:nvPr/>
        </p:nvSpPr>
        <p:spPr>
          <a:xfrm>
            <a:off x="1463225" y="4156575"/>
            <a:ext cx="74079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Speech contains linguistic + paralinguistic information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Noise robustness enables real-world deployment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Precise timestamps unlock captions and multimodal agents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Speech becomes first-class AI input modality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82" name="Google Shape;482;g3c691fa32ac_0_37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83" name="Google Shape;483;g3c691fa32ac_0_37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4" name="Google Shape;484;g3c691fa32ac_0_37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5" name="Google Shape;485;g3c691fa32ac_0_37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6" name="Google Shape;486;g3c691fa32ac_0_373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487" name="Google Shape;487;g3c691fa32ac_0_37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88" name="Google Shape;488;g3c691fa32ac_0_373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9" name="Google Shape;489;g3c691fa32ac_0_373"/>
          <p:cNvGrpSpPr/>
          <p:nvPr/>
        </p:nvGrpSpPr>
        <p:grpSpPr>
          <a:xfrm>
            <a:off x="1044800" y="4156569"/>
            <a:ext cx="226949" cy="588026"/>
            <a:chOff x="0" y="0"/>
            <a:chExt cx="80174" cy="123748"/>
          </a:xfrm>
        </p:grpSpPr>
        <p:sp>
          <p:nvSpPr>
            <p:cNvPr id="490" name="Google Shape;490;g3c691fa32ac_0_37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1" name="Google Shape;491;g3c691fa32ac_0_37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2" name="Google Shape;492;g3c691fa32ac_0_373"/>
          <p:cNvGrpSpPr/>
          <p:nvPr/>
        </p:nvGrpSpPr>
        <p:grpSpPr>
          <a:xfrm>
            <a:off x="1044800" y="5710398"/>
            <a:ext cx="226949" cy="588026"/>
            <a:chOff x="0" y="0"/>
            <a:chExt cx="80174" cy="123748"/>
          </a:xfrm>
        </p:grpSpPr>
        <p:sp>
          <p:nvSpPr>
            <p:cNvPr id="493" name="Google Shape;493;g3c691fa32ac_0_37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4" name="Google Shape;494;g3c691fa32ac_0_37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5" name="Google Shape;495;g3c691fa32ac_0_373"/>
          <p:cNvGrpSpPr/>
          <p:nvPr/>
        </p:nvGrpSpPr>
        <p:grpSpPr>
          <a:xfrm>
            <a:off x="1028688" y="6589701"/>
            <a:ext cx="259162" cy="400015"/>
            <a:chOff x="0" y="0"/>
            <a:chExt cx="80174" cy="123748"/>
          </a:xfrm>
        </p:grpSpPr>
        <p:sp>
          <p:nvSpPr>
            <p:cNvPr id="496" name="Google Shape;496;g3c691fa32ac_0_37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7" name="Google Shape;497;g3c691fa32ac_0_37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8" name="Google Shape;498;g3c691fa32ac_0_373"/>
          <p:cNvGrpSpPr/>
          <p:nvPr/>
        </p:nvGrpSpPr>
        <p:grpSpPr>
          <a:xfrm>
            <a:off x="1028688" y="5035821"/>
            <a:ext cx="259162" cy="400015"/>
            <a:chOff x="0" y="0"/>
            <a:chExt cx="80174" cy="123748"/>
          </a:xfrm>
        </p:grpSpPr>
        <p:sp>
          <p:nvSpPr>
            <p:cNvPr id="499" name="Google Shape;499;g3c691fa32ac_0_37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0" name="Google Shape;500;g3c691fa32ac_0_373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1" name="Google Shape;501;g3c691fa32ac_0_373" title="Title_ Conceptual Future AI System - visual selection.png"/>
          <p:cNvPicPr preferRelativeResize="0"/>
          <p:nvPr/>
        </p:nvPicPr>
        <p:blipFill rotWithShape="1">
          <a:blip r:embed="rId5">
            <a:alphaModFix/>
          </a:blip>
          <a:srcRect b="8451" l="9399" r="9642" t="4326"/>
          <a:stretch/>
        </p:blipFill>
        <p:spPr>
          <a:xfrm>
            <a:off x="12020583" y="3196475"/>
            <a:ext cx="5047092" cy="4469324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691fa32ac_0_40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77" l="0" r="-56479" t="-52937"/>
            </a:stretch>
          </a:blipFill>
          <a:ln>
            <a:noFill/>
          </a:ln>
        </p:spPr>
      </p:sp>
      <p:sp>
        <p:nvSpPr>
          <p:cNvPr id="507" name="Google Shape;507;g3c691fa32ac_0_401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6.5 </a:t>
            </a:r>
            <a:r>
              <a:rPr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Summary and the Future of Unified AI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08" name="Google Shape;508;g3c691fa32ac_0_401"/>
          <p:cNvSpPr txBox="1"/>
          <p:nvPr/>
        </p:nvSpPr>
        <p:spPr>
          <a:xfrm>
            <a:off x="1028700" y="3196475"/>
            <a:ext cx="9567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Future: Unified AI Systems</a:t>
            </a:r>
            <a:endParaRPr b="1" sz="4262">
              <a:solidFill>
                <a:srgbClr val="6592E6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09" name="Google Shape;509;g3c691fa32ac_0_401"/>
          <p:cNvSpPr txBox="1"/>
          <p:nvPr/>
        </p:nvSpPr>
        <p:spPr>
          <a:xfrm>
            <a:off x="1463225" y="4156575"/>
            <a:ext cx="7407900" cy="54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Language as cognitive core, multimodality as sensory system.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Alignment across modalities enables real-world intelligence.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Knowledge grounding ensures reliability.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Foundation for agentic, autonomous systems.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1"/>
              <a:buFont typeface="Arial"/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10" name="Google Shape;510;g3c691fa32ac_0_40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11" name="Google Shape;511;g3c691fa32ac_0_40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12" name="Google Shape;512;g3c691fa32ac_0_40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" name="Google Shape;513;g3c691fa32ac_0_40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4" name="Google Shape;514;g3c691fa32ac_0_401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15" name="Google Shape;515;g3c691fa32ac_0_40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16" name="Google Shape;516;g3c691fa32ac_0_401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</a:t>
              </a: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" name="Google Shape;517;g3c691fa32ac_0_401"/>
          <p:cNvGrpSpPr/>
          <p:nvPr/>
        </p:nvGrpSpPr>
        <p:grpSpPr>
          <a:xfrm>
            <a:off x="1044800" y="4156569"/>
            <a:ext cx="226949" cy="588026"/>
            <a:chOff x="0" y="0"/>
            <a:chExt cx="80174" cy="123748"/>
          </a:xfrm>
        </p:grpSpPr>
        <p:sp>
          <p:nvSpPr>
            <p:cNvPr id="518" name="Google Shape;518;g3c691fa32ac_0_40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19" name="Google Shape;519;g3c691fa32ac_0_40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g3c691fa32ac_0_401"/>
          <p:cNvGrpSpPr/>
          <p:nvPr/>
        </p:nvGrpSpPr>
        <p:grpSpPr>
          <a:xfrm>
            <a:off x="1044800" y="5055748"/>
            <a:ext cx="226949" cy="588026"/>
            <a:chOff x="0" y="0"/>
            <a:chExt cx="80174" cy="123748"/>
          </a:xfrm>
        </p:grpSpPr>
        <p:sp>
          <p:nvSpPr>
            <p:cNvPr id="521" name="Google Shape;521;g3c691fa32ac_0_40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2" name="Google Shape;522;g3c691fa32ac_0_40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g3c691fa32ac_0_401"/>
          <p:cNvGrpSpPr/>
          <p:nvPr/>
        </p:nvGrpSpPr>
        <p:grpSpPr>
          <a:xfrm>
            <a:off x="1028688" y="6589701"/>
            <a:ext cx="259162" cy="400015"/>
            <a:chOff x="0" y="0"/>
            <a:chExt cx="80174" cy="123748"/>
          </a:xfrm>
        </p:grpSpPr>
        <p:sp>
          <p:nvSpPr>
            <p:cNvPr id="524" name="Google Shape;524;g3c691fa32ac_0_40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5" name="Google Shape;525;g3c691fa32ac_0_40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6" name="Google Shape;526;g3c691fa32ac_0_401"/>
          <p:cNvGrpSpPr/>
          <p:nvPr/>
        </p:nvGrpSpPr>
        <p:grpSpPr>
          <a:xfrm>
            <a:off x="1028688" y="5954896"/>
            <a:ext cx="259162" cy="400015"/>
            <a:chOff x="0" y="0"/>
            <a:chExt cx="80174" cy="123748"/>
          </a:xfrm>
        </p:grpSpPr>
        <p:sp>
          <p:nvSpPr>
            <p:cNvPr id="527" name="Google Shape;527;g3c691fa32ac_0_401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28" name="Google Shape;528;g3c691fa32ac_0_401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29" name="Google Shape;529;g3c691fa32ac_0_401" title="ChatGPT Image 5 feb 2026, 13_04_52.png"/>
          <p:cNvPicPr preferRelativeResize="0"/>
          <p:nvPr/>
        </p:nvPicPr>
        <p:blipFill rotWithShape="1">
          <a:blip r:embed="rId5">
            <a:alphaModFix/>
          </a:blip>
          <a:srcRect b="12480" l="0" r="0" t="12697"/>
          <a:stretch/>
        </p:blipFill>
        <p:spPr>
          <a:xfrm>
            <a:off x="9498836" y="3300275"/>
            <a:ext cx="7760463" cy="3871099"/>
          </a:xfrm>
          <a:prstGeom prst="rect">
            <a:avLst/>
          </a:prstGeom>
          <a:noFill/>
          <a:ln cap="flat" cmpd="sng" w="76200">
            <a:solidFill>
              <a:srgbClr val="6592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c691fa32ac_0_4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79" t="-52938"/>
            </a:stretch>
          </a:blipFill>
          <a:ln>
            <a:noFill/>
          </a:ln>
        </p:spPr>
      </p:sp>
      <p:grpSp>
        <p:nvGrpSpPr>
          <p:cNvPr id="535" name="Google Shape;535;g3c691fa32ac_0_429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36" name="Google Shape;536;g3c691fa32ac_0_42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7" name="Google Shape;537;g3c691fa32ac_0_429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g3c691fa32ac_0_42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9" name="Google Shape;539;g3c691fa32ac_0_429"/>
          <p:cNvSpPr txBox="1"/>
          <p:nvPr/>
        </p:nvSpPr>
        <p:spPr>
          <a:xfrm>
            <a:off x="1463225" y="3149275"/>
            <a:ext cx="15717000" cy="53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Dosovitskiy et al. (2020) — An Image is Worth 16×16 Words: Transformers for Image Recognition at Scale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Girdhar et al. (2023) — ImageBind: One Embedding Space To Bind Them All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Radford et al. (2021) — Learning Transferable Visual Models From Natural Language Supervision (CLIP)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Jia et al. (2021) — Scaling Up Vision-Language Representation Learning with Noisy Text Supervision (ALIGN)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Zhai et al. (2022) — LiT: Zero-Shot Transfer with Locked-image Tuning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Radford et al. (2022) — Robust Speech Recognition via Large-Scale Weak Supervision (Whisper)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Chan et al. (2015) — Listen, Attend and Spell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40" name="Google Shape;540;g3c691fa32ac_0_429"/>
          <p:cNvGrpSpPr/>
          <p:nvPr/>
        </p:nvGrpSpPr>
        <p:grpSpPr>
          <a:xfrm>
            <a:off x="1028700" y="3073059"/>
            <a:ext cx="259162" cy="400015"/>
            <a:chOff x="0" y="0"/>
            <a:chExt cx="80174" cy="123748"/>
          </a:xfrm>
        </p:grpSpPr>
        <p:sp>
          <p:nvSpPr>
            <p:cNvPr id="541" name="Google Shape;541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2" name="Google Shape;542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3" name="Google Shape;543;g3c691fa32ac_0_429"/>
          <p:cNvGrpSpPr/>
          <p:nvPr/>
        </p:nvGrpSpPr>
        <p:grpSpPr>
          <a:xfrm>
            <a:off x="1028700" y="4999022"/>
            <a:ext cx="259146" cy="656100"/>
            <a:chOff x="0" y="0"/>
            <a:chExt cx="80174" cy="123748"/>
          </a:xfrm>
        </p:grpSpPr>
        <p:sp>
          <p:nvSpPr>
            <p:cNvPr id="544" name="Google Shape;544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5" name="Google Shape;545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6" name="Google Shape;546;g3c691fa32ac_0_429"/>
          <p:cNvGrpSpPr/>
          <p:nvPr/>
        </p:nvGrpSpPr>
        <p:grpSpPr>
          <a:xfrm>
            <a:off x="1028700" y="3701669"/>
            <a:ext cx="259162" cy="400015"/>
            <a:chOff x="0" y="0"/>
            <a:chExt cx="80174" cy="123748"/>
          </a:xfrm>
        </p:grpSpPr>
        <p:sp>
          <p:nvSpPr>
            <p:cNvPr id="547" name="Google Shape;547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8" name="Google Shape;548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9" name="Google Shape;549;g3c691fa32ac_0_429"/>
          <p:cNvGrpSpPr/>
          <p:nvPr/>
        </p:nvGrpSpPr>
        <p:grpSpPr>
          <a:xfrm>
            <a:off x="1028700" y="4350347"/>
            <a:ext cx="259162" cy="400015"/>
            <a:chOff x="0" y="0"/>
            <a:chExt cx="80174" cy="123748"/>
          </a:xfrm>
        </p:grpSpPr>
        <p:sp>
          <p:nvSpPr>
            <p:cNvPr id="550" name="Google Shape;550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1" name="Google Shape;551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2" name="Google Shape;552;g3c691fa32ac_0_429"/>
          <p:cNvGrpSpPr/>
          <p:nvPr/>
        </p:nvGrpSpPr>
        <p:grpSpPr>
          <a:xfrm>
            <a:off x="1028700" y="5890429"/>
            <a:ext cx="259162" cy="400015"/>
            <a:chOff x="0" y="0"/>
            <a:chExt cx="80174" cy="123748"/>
          </a:xfrm>
        </p:grpSpPr>
        <p:sp>
          <p:nvSpPr>
            <p:cNvPr id="553" name="Google Shape;553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4" name="Google Shape;554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" name="Google Shape;555;g3c691fa32ac_0_429"/>
          <p:cNvGrpSpPr/>
          <p:nvPr/>
        </p:nvGrpSpPr>
        <p:grpSpPr>
          <a:xfrm>
            <a:off x="1028700" y="6519044"/>
            <a:ext cx="259162" cy="400015"/>
            <a:chOff x="0" y="0"/>
            <a:chExt cx="80174" cy="123748"/>
          </a:xfrm>
        </p:grpSpPr>
        <p:sp>
          <p:nvSpPr>
            <p:cNvPr id="556" name="Google Shape;556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7" name="Google Shape;557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" name="Google Shape;558;g3c691fa32ac_0_429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Academic &amp; Technical References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59" name="Google Shape;559;g3c691fa32ac_0_429"/>
          <p:cNvGrpSpPr/>
          <p:nvPr/>
        </p:nvGrpSpPr>
        <p:grpSpPr>
          <a:xfrm>
            <a:off x="1028700" y="7147644"/>
            <a:ext cx="259162" cy="400015"/>
            <a:chOff x="0" y="0"/>
            <a:chExt cx="80174" cy="123748"/>
          </a:xfrm>
        </p:grpSpPr>
        <p:sp>
          <p:nvSpPr>
            <p:cNvPr id="560" name="Google Shape;560;g3c691fa32ac_0_4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61" name="Google Shape;561;g3c691fa32ac_0_429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691fa32ac_0_5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79" t="-52938"/>
            </a:stretch>
          </a:blipFill>
          <a:ln>
            <a:noFill/>
          </a:ln>
        </p:spPr>
      </p:sp>
      <p:grpSp>
        <p:nvGrpSpPr>
          <p:cNvPr id="567" name="Google Shape;567;g3c691fa32ac_0_537"/>
          <p:cNvGrpSpPr/>
          <p:nvPr/>
        </p:nvGrpSpPr>
        <p:grpSpPr>
          <a:xfrm>
            <a:off x="1028700" y="1028700"/>
            <a:ext cx="4030368" cy="777115"/>
            <a:chOff x="0" y="0"/>
            <a:chExt cx="1061489" cy="204671"/>
          </a:xfrm>
        </p:grpSpPr>
        <p:sp>
          <p:nvSpPr>
            <p:cNvPr id="568" name="Google Shape;568;g3c691fa32ac_0_53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69" name="Google Shape;569;g3c691fa32ac_0_537"/>
            <p:cNvSpPr txBox="1"/>
            <p:nvPr/>
          </p:nvSpPr>
          <p:spPr>
            <a:xfrm>
              <a:off x="0" y="0"/>
              <a:ext cx="1061400" cy="2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1" lang="en-US" sz="3299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g3c691fa32ac_0_53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1" name="Google Shape;571;g3c691fa32ac_0_537"/>
          <p:cNvSpPr txBox="1"/>
          <p:nvPr/>
        </p:nvSpPr>
        <p:spPr>
          <a:xfrm>
            <a:off x="1463225" y="3149275"/>
            <a:ext cx="15717000" cy="53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Bordes et al. (2013) — Translating Embeddings for Modeling Multi-relational Data (TransE)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Liu et al. (2020) — K-BERT: Enabling Language Representation with Knowledge Graph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Radford et al. (2024) — Multimodal Transformers as Universal Reasoners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OpenAI Research — GPT-4o Multimodal Architecture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Meta AI Research — ImageBind &amp; Unified Multimodal Intelligence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Google Research — Gemini Multimodal Systems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1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NVIDIA Research — Hardware Acceleration for Multimodal Transformers</a:t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31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72" name="Google Shape;572;g3c691fa32ac_0_537"/>
          <p:cNvGrpSpPr/>
          <p:nvPr/>
        </p:nvGrpSpPr>
        <p:grpSpPr>
          <a:xfrm>
            <a:off x="1028700" y="3073059"/>
            <a:ext cx="259162" cy="400015"/>
            <a:chOff x="0" y="0"/>
            <a:chExt cx="80174" cy="123748"/>
          </a:xfrm>
        </p:grpSpPr>
        <p:sp>
          <p:nvSpPr>
            <p:cNvPr id="573" name="Google Shape;573;g3c691fa32ac_0_5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4" name="Google Shape;574;g3c691fa32ac_0_5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" name="Google Shape;575;g3c691fa32ac_0_537"/>
          <p:cNvGrpSpPr/>
          <p:nvPr/>
        </p:nvGrpSpPr>
        <p:grpSpPr>
          <a:xfrm>
            <a:off x="1028700" y="3701669"/>
            <a:ext cx="259162" cy="400015"/>
            <a:chOff x="0" y="0"/>
            <a:chExt cx="80174" cy="123748"/>
          </a:xfrm>
        </p:grpSpPr>
        <p:sp>
          <p:nvSpPr>
            <p:cNvPr id="576" name="Google Shape;576;g3c691fa32ac_0_5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7" name="Google Shape;577;g3c691fa32ac_0_5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g3c691fa32ac_0_537"/>
          <p:cNvGrpSpPr/>
          <p:nvPr/>
        </p:nvGrpSpPr>
        <p:grpSpPr>
          <a:xfrm>
            <a:off x="1028700" y="4333636"/>
            <a:ext cx="259162" cy="400015"/>
            <a:chOff x="0" y="0"/>
            <a:chExt cx="80174" cy="123748"/>
          </a:xfrm>
        </p:grpSpPr>
        <p:sp>
          <p:nvSpPr>
            <p:cNvPr id="579" name="Google Shape;579;g3c691fa32ac_0_5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0" name="Google Shape;580;g3c691fa32ac_0_5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g3c691fa32ac_0_537"/>
          <p:cNvGrpSpPr/>
          <p:nvPr/>
        </p:nvGrpSpPr>
        <p:grpSpPr>
          <a:xfrm>
            <a:off x="1028700" y="5580887"/>
            <a:ext cx="259162" cy="400015"/>
            <a:chOff x="0" y="0"/>
            <a:chExt cx="80174" cy="123748"/>
          </a:xfrm>
        </p:grpSpPr>
        <p:sp>
          <p:nvSpPr>
            <p:cNvPr id="582" name="Google Shape;582;g3c691fa32ac_0_5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3" name="Google Shape;583;g3c691fa32ac_0_5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4" name="Google Shape;584;g3c691fa32ac_0_537"/>
          <p:cNvGrpSpPr/>
          <p:nvPr/>
        </p:nvGrpSpPr>
        <p:grpSpPr>
          <a:xfrm>
            <a:off x="1028700" y="6212867"/>
            <a:ext cx="259162" cy="400015"/>
            <a:chOff x="0" y="0"/>
            <a:chExt cx="80174" cy="123748"/>
          </a:xfrm>
        </p:grpSpPr>
        <p:sp>
          <p:nvSpPr>
            <p:cNvPr id="585" name="Google Shape;585;g3c691fa32ac_0_5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6" name="Google Shape;586;g3c691fa32ac_0_5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7" name="Google Shape;587;g3c691fa32ac_0_537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2"/>
              <a:buFont typeface="Arial"/>
              <a:buNone/>
            </a:pPr>
            <a:r>
              <a:rPr b="1" lang="en-US" sz="4262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Academic &amp; Technical References</a:t>
            </a:r>
            <a:endParaRPr b="1" sz="4262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88" name="Google Shape;588;g3c691fa32ac_0_537"/>
          <p:cNvGrpSpPr/>
          <p:nvPr/>
        </p:nvGrpSpPr>
        <p:grpSpPr>
          <a:xfrm>
            <a:off x="1028700" y="6811410"/>
            <a:ext cx="259162" cy="400015"/>
            <a:chOff x="0" y="0"/>
            <a:chExt cx="80174" cy="123748"/>
          </a:xfrm>
        </p:grpSpPr>
        <p:sp>
          <p:nvSpPr>
            <p:cNvPr id="589" name="Google Shape;589;g3c691fa32ac_0_5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0" name="Google Shape;590;g3c691fa32ac_0_5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" name="Google Shape;591;g3c691fa32ac_0_537"/>
          <p:cNvGrpSpPr/>
          <p:nvPr/>
        </p:nvGrpSpPr>
        <p:grpSpPr>
          <a:xfrm>
            <a:off x="1028700" y="4965608"/>
            <a:ext cx="259162" cy="400015"/>
            <a:chOff x="0" y="0"/>
            <a:chExt cx="80174" cy="123748"/>
          </a:xfrm>
        </p:grpSpPr>
        <p:sp>
          <p:nvSpPr>
            <p:cNvPr id="592" name="Google Shape;592;g3c691fa32ac_0_53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3" name="Google Shape;593;g3c691fa32ac_0_537"/>
            <p:cNvSpPr txBox="1"/>
            <p:nvPr/>
          </p:nvSpPr>
          <p:spPr>
            <a:xfrm>
              <a:off x="0" y="0"/>
              <a:ext cx="80100" cy="1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89" l="0" r="-56472" t="-52938"/>
            </a:stretch>
          </a:blipFill>
          <a:ln>
            <a:noFill/>
          </a:ln>
        </p:spPr>
      </p:sp>
      <p:sp>
        <p:nvSpPr>
          <p:cNvPr id="599" name="Google Shape;599;p30"/>
          <p:cNvSpPr/>
          <p:nvPr/>
        </p:nvSpPr>
        <p:spPr>
          <a:xfrm>
            <a:off x="5915603" y="4111509"/>
            <a:ext cx="6456794" cy="2063982"/>
          </a:xfrm>
          <a:custGeom>
            <a:rect b="b" l="l" r="r" t="t"/>
            <a:pathLst>
              <a:path extrusionOk="0" h="2063982" w="6456794">
                <a:moveTo>
                  <a:pt x="0" y="0"/>
                </a:moveTo>
                <a:lnTo>
                  <a:pt x="6456794" y="0"/>
                </a:lnTo>
                <a:lnTo>
                  <a:pt x="6456794" y="2063982"/>
                </a:lnTo>
                <a:lnTo>
                  <a:pt x="0" y="206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