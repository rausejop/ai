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10287000" cx="18288000"/>
  <p:notesSz cx="6858000" cy="9144000"/>
  <p:embeddedFontLst>
    <p:embeddedFont>
      <p:font typeface="Jost"/>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42" roundtripDataSignature="AMtx7mj7DFUHuFjrQYCCJUK80NvHyqxkY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Jost-italic.fntdata"/><Relationship Id="rId20" Type="http://schemas.openxmlformats.org/officeDocument/2006/relationships/slide" Target="slides/slide15.xml"/><Relationship Id="rId42" Type="http://customschemas.google.com/relationships/presentationmetadata" Target="metadata"/><Relationship Id="rId41" Type="http://schemas.openxmlformats.org/officeDocument/2006/relationships/font" Target="fonts/Jost-boldItalic.fntdata"/><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Jost-bold.fntdata"/><Relationship Id="rId16" Type="http://schemas.openxmlformats.org/officeDocument/2006/relationships/slide" Target="slides/slide11.xml"/><Relationship Id="rId38" Type="http://schemas.openxmlformats.org/officeDocument/2006/relationships/font" Target="fonts/Jost-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6" name="Google Shape;9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0" name="Google Shape;11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4" name="Google Shape;124;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93a02a1344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8" name="Google Shape;138;g393a02a1344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93a02a1344_0_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4" name="Google Shape;164;g393a02a1344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93a02a1344_0_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0" name="Google Shape;190;g393a02a1344_0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93a02a1344_0_10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6" name="Google Shape;216;g393a02a1344_0_1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93a02a1344_0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1" name="Google Shape;241;g393a02a1344_0_1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93a02a1344_0_1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7" name="Google Shape;267;g393a02a1344_0_1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93a02a1344_0_1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3" name="Google Shape;293;g393a02a1344_0_18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93a02a1344_0_20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7" name="Google Shape;307;g393a02a1344_0_2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93a02a1344_0_2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2" name="Google Shape;332;g393a02a1344_0_2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93a02a1344_0_2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58" name="Google Shape;358;g393a02a1344_0_28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93a02a1344_0_3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84" name="Google Shape;384;g393a02a1344_0_3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93a02a1344_0_3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8" name="Google Shape;398;g393a02a1344_0_3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93a02a1344_0_3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4" name="Google Shape;424;g393a02a1344_0_3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g393a02a1344_0_37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49" name="Google Shape;449;g393a02a1344_0_3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93a02a1344_0_40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75" name="Google Shape;475;g393a02a1344_0_4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g393a02a1344_0_4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01" name="Google Shape;501;g393a02a1344_0_4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93a02a1344_0_4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15" name="Google Shape;515;g393a02a1344_0_4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93a02a1344_0_4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1" name="Google Shape;541;g393a02a1344_0_4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g393a02a1344_0_50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67" name="Google Shape;567;g393a02a1344_0_50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93a02a1344_0_5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93" name="Google Shape;593;g393a02a1344_0_5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393a02a1344_0_5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07" name="Google Shape;607;g393a02a1344_0_5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g393a02a1344_0_57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33" name="Google Shape;633;g393a02a1344_0_5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g393a02a1344_0_5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59" name="Google Shape;659;g393a02a1344_0_59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1" name="Shape 671"/>
        <p:cNvGrpSpPr/>
        <p:nvPr/>
      </p:nvGrpSpPr>
      <p:grpSpPr>
        <a:xfrm>
          <a:off x="0" y="0"/>
          <a:ext cx="0" cy="0"/>
          <a:chOff x="0" y="0"/>
          <a:chExt cx="0" cy="0"/>
        </a:xfrm>
      </p:grpSpPr>
      <p:sp>
        <p:nvSpPr>
          <p:cNvPr id="672" name="Google Shape;672;g393a02a1344_0_6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73" name="Google Shape;673;g393a02a1344_0_6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7" name="Shape 697"/>
        <p:cNvGrpSpPr/>
        <p:nvPr/>
      </p:nvGrpSpPr>
      <p:grpSpPr>
        <a:xfrm>
          <a:off x="0" y="0"/>
          <a:ext cx="0" cy="0"/>
          <a:chOff x="0" y="0"/>
          <a:chExt cx="0" cy="0"/>
        </a:xfrm>
      </p:grpSpPr>
      <p:sp>
        <p:nvSpPr>
          <p:cNvPr id="698" name="Google Shape;698;g393a02a1344_0_6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99" name="Google Shape;699;g393a02a1344_0_6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g393a02a1344_0_66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4" name="Google Shape;724;g393a02a1344_0_6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93a02a1344_0_7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6" name="Google Shape;756;g393a02a1344_0_70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393a02a1344_0_69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82" name="Google Shape;782;g393a02a1344_0_69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3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3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3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3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3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3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3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3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3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4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40"/>
          <p:cNvSpPr/>
          <p:nvPr>
            <p:ph idx="2" type="pic"/>
          </p:nvPr>
        </p:nvSpPr>
        <p:spPr>
          <a:xfrm>
            <a:off x="1792288" y="612775"/>
            <a:ext cx="5486400" cy="4114800"/>
          </a:xfrm>
          <a:prstGeom prst="rect">
            <a:avLst/>
          </a:prstGeom>
          <a:noFill/>
          <a:ln>
            <a:noFill/>
          </a:ln>
        </p:spPr>
      </p:sp>
      <p:sp>
        <p:nvSpPr>
          <p:cNvPr id="64" name="Google Shape;64;p4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4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4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4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4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4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4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4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4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4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3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png"/><Relationship Id="rId7"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jp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jp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jp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jp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jpg"/><Relationship Id="rId4" Type="http://schemas.openxmlformats.org/officeDocument/2006/relationships/image" Target="../media/image4.png"/><Relationship Id="rId5"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jpg"/><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jpg"/><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jp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jp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72" t="-52938"/>
            </a:stretch>
          </a:blipFill>
          <a:ln>
            <a:noFill/>
          </a:ln>
        </p:spPr>
      </p:sp>
      <p:sp>
        <p:nvSpPr>
          <p:cNvPr id="85" name="Google Shape;85;p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descr="Bandera de España - Wikipedia, la enciclopedia libre" id="86" name="Google Shape;86;p1"/>
          <p:cNvSpPr/>
          <p:nvPr/>
        </p:nvSpPr>
        <p:spPr>
          <a:xfrm>
            <a:off x="4574261" y="746736"/>
            <a:ext cx="956362" cy="563911"/>
          </a:xfrm>
          <a:custGeom>
            <a:rect b="b" l="l" r="r" t="t"/>
            <a:pathLst>
              <a:path extrusionOk="0" h="1315720" w="2231390">
                <a:moveTo>
                  <a:pt x="0" y="0"/>
                </a:moveTo>
                <a:lnTo>
                  <a:pt x="2231390" y="0"/>
                </a:lnTo>
                <a:lnTo>
                  <a:pt x="2231390" y="1315720"/>
                </a:lnTo>
                <a:lnTo>
                  <a:pt x="0" y="1315720"/>
                </a:lnTo>
                <a:lnTo>
                  <a:pt x="0" y="0"/>
                </a:lnTo>
                <a:close/>
              </a:path>
            </a:pathLst>
          </a:custGeom>
          <a:blipFill rotWithShape="1">
            <a:blip r:embed="rId5">
              <a:alphaModFix/>
            </a:blip>
            <a:stretch>
              <a:fillRect b="0" l="0" r="0" t="0"/>
            </a:stretch>
          </a:blipFill>
          <a:ln>
            <a:noFill/>
          </a:ln>
        </p:spPr>
      </p:sp>
      <p:sp>
        <p:nvSpPr>
          <p:cNvPr id="87" name="Google Shape;87;p1"/>
          <p:cNvSpPr/>
          <p:nvPr/>
        </p:nvSpPr>
        <p:spPr>
          <a:xfrm>
            <a:off x="5753321" y="746736"/>
            <a:ext cx="956362" cy="563911"/>
          </a:xfrm>
          <a:custGeom>
            <a:rect b="b" l="l" r="r" t="t"/>
            <a:pathLst>
              <a:path extrusionOk="0" h="1315720" w="2231390">
                <a:moveTo>
                  <a:pt x="0" y="0"/>
                </a:moveTo>
                <a:lnTo>
                  <a:pt x="2231390" y="0"/>
                </a:lnTo>
                <a:lnTo>
                  <a:pt x="2231390" y="1315720"/>
                </a:lnTo>
                <a:lnTo>
                  <a:pt x="0" y="1315720"/>
                </a:lnTo>
                <a:lnTo>
                  <a:pt x="0" y="0"/>
                </a:lnTo>
                <a:close/>
              </a:path>
            </a:pathLst>
          </a:custGeom>
          <a:blipFill rotWithShape="1">
            <a:blip r:embed="rId6">
              <a:alphaModFix/>
            </a:blip>
            <a:stretch>
              <a:fillRect b="-1616" l="0" r="0" t="0"/>
            </a:stretch>
          </a:blipFill>
          <a:ln>
            <a:noFill/>
          </a:ln>
        </p:spPr>
      </p:sp>
      <p:sp>
        <p:nvSpPr>
          <p:cNvPr descr="Bandera de Jordania - Wikipedia, la enciclopedia libre" id="88" name="Google Shape;88;p1"/>
          <p:cNvSpPr/>
          <p:nvPr/>
        </p:nvSpPr>
        <p:spPr>
          <a:xfrm>
            <a:off x="6935692" y="746736"/>
            <a:ext cx="956362" cy="563911"/>
          </a:xfrm>
          <a:custGeom>
            <a:rect b="b" l="l" r="r" t="t"/>
            <a:pathLst>
              <a:path extrusionOk="0" h="1315720" w="2231390">
                <a:moveTo>
                  <a:pt x="0" y="0"/>
                </a:moveTo>
                <a:lnTo>
                  <a:pt x="2231390" y="0"/>
                </a:lnTo>
                <a:lnTo>
                  <a:pt x="2231390" y="1315720"/>
                </a:lnTo>
                <a:lnTo>
                  <a:pt x="0" y="1315720"/>
                </a:lnTo>
                <a:lnTo>
                  <a:pt x="0" y="0"/>
                </a:lnTo>
                <a:close/>
              </a:path>
            </a:pathLst>
          </a:custGeom>
          <a:blipFill rotWithShape="1">
            <a:blip r:embed="rId7">
              <a:alphaModFix/>
            </a:blip>
            <a:stretch>
              <a:fillRect b="0" l="0" r="-17924" t="0"/>
            </a:stretch>
          </a:blipFill>
          <a:ln>
            <a:noFill/>
          </a:ln>
        </p:spPr>
      </p:sp>
      <p:grpSp>
        <p:nvGrpSpPr>
          <p:cNvPr id="89" name="Google Shape;89;p1"/>
          <p:cNvGrpSpPr/>
          <p:nvPr/>
        </p:nvGrpSpPr>
        <p:grpSpPr>
          <a:xfrm>
            <a:off x="1259561" y="710571"/>
            <a:ext cx="3086100" cy="600092"/>
            <a:chOff x="0" y="-9525"/>
            <a:chExt cx="812800" cy="158049"/>
          </a:xfrm>
        </p:grpSpPr>
        <p:sp>
          <p:nvSpPr>
            <p:cNvPr id="90" name="Google Shape;90;p1"/>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91" name="Google Shape;91;p1"/>
            <p:cNvSpPr txBox="1"/>
            <p:nvPr/>
          </p:nvSpPr>
          <p:spPr>
            <a:xfrm>
              <a:off x="0" y="-9525"/>
              <a:ext cx="812800" cy="158049"/>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sp>
        <p:nvSpPr>
          <p:cNvPr id="92" name="Google Shape;92;p1"/>
          <p:cNvSpPr txBox="1"/>
          <p:nvPr/>
        </p:nvSpPr>
        <p:spPr>
          <a:xfrm>
            <a:off x="1259550" y="4477258"/>
            <a:ext cx="13313400" cy="3144600"/>
          </a:xfrm>
          <a:prstGeom prst="rect">
            <a:avLst/>
          </a:prstGeom>
          <a:noFill/>
          <a:ln>
            <a:noFill/>
          </a:ln>
        </p:spPr>
        <p:txBody>
          <a:bodyPr anchorCtr="0" anchor="t" bIns="0" lIns="0" spcFirstLastPara="1" rIns="0" wrap="square" tIns="0">
            <a:spAutoFit/>
          </a:bodyPr>
          <a:lstStyle/>
          <a:p>
            <a:pPr indent="0" lvl="0" marL="0" marR="0" rtl="0" algn="l">
              <a:lnSpc>
                <a:spcPct val="70000"/>
              </a:lnSpc>
              <a:spcBef>
                <a:spcPts val="0"/>
              </a:spcBef>
              <a:spcAft>
                <a:spcPts val="0"/>
              </a:spcAft>
              <a:buClr>
                <a:srgbClr val="000000"/>
              </a:buClr>
              <a:buSzPts val="14592"/>
              <a:buFont typeface="Arial"/>
              <a:buNone/>
            </a:pPr>
            <a:r>
              <a:rPr b="1" i="0" lang="en-US" sz="14592"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Jost"/>
              <a:ea typeface="Jost"/>
              <a:cs typeface="Jost"/>
              <a:sym typeface="Jost"/>
            </a:endParaRPr>
          </a:p>
        </p:txBody>
      </p:sp>
      <p:sp>
        <p:nvSpPr>
          <p:cNvPr id="93" name="Google Shape;93;p1"/>
          <p:cNvSpPr txBox="1"/>
          <p:nvPr/>
        </p:nvSpPr>
        <p:spPr>
          <a:xfrm>
            <a:off x="1259550" y="7954400"/>
            <a:ext cx="8989800" cy="11820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4800"/>
              <a:buFont typeface="Arial"/>
              <a:buNone/>
            </a:pPr>
            <a:r>
              <a:rPr b="0" i="0" lang="en-US" sz="4800" u="none" cap="none" strike="noStrike">
                <a:solidFill>
                  <a:srgbClr val="AEAEAE"/>
                </a:solidFill>
                <a:latin typeface="Jost"/>
                <a:ea typeface="Jost"/>
                <a:cs typeface="Jost"/>
                <a:sym typeface="Jost"/>
              </a:rPr>
              <a:t>Advanced NLP &amp; Large Language Models (LLMs)</a:t>
            </a:r>
            <a:endParaRPr b="0" i="0" sz="1400" u="none" cap="none" strike="noStrike">
              <a:solidFill>
                <a:srgbClr val="000000"/>
              </a:solidFill>
              <a:latin typeface="Jost"/>
              <a:ea typeface="Jost"/>
              <a:cs typeface="Jost"/>
              <a:sym typeface="Jos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72" t="-52938"/>
            </a:stretch>
          </a:blipFill>
          <a:ln>
            <a:noFill/>
          </a:ln>
        </p:spPr>
      </p:sp>
      <p:sp>
        <p:nvSpPr>
          <p:cNvPr id="99" name="Google Shape;99;p2"/>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grpSp>
        <p:nvGrpSpPr>
          <p:cNvPr id="100" name="Google Shape;100;p2"/>
          <p:cNvGrpSpPr/>
          <p:nvPr/>
        </p:nvGrpSpPr>
        <p:grpSpPr>
          <a:xfrm>
            <a:off x="1259561" y="710571"/>
            <a:ext cx="3086100" cy="600092"/>
            <a:chOff x="0" y="-9525"/>
            <a:chExt cx="812800" cy="158049"/>
          </a:xfrm>
        </p:grpSpPr>
        <p:sp>
          <p:nvSpPr>
            <p:cNvPr id="101" name="Google Shape;101;p2"/>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102" name="Google Shape;102;p2"/>
            <p:cNvSpPr txBox="1"/>
            <p:nvPr/>
          </p:nvSpPr>
          <p:spPr>
            <a:xfrm>
              <a:off x="0" y="-9525"/>
              <a:ext cx="812800" cy="158049"/>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103" name="Google Shape;103;p2"/>
          <p:cNvGrpSpPr/>
          <p:nvPr/>
        </p:nvGrpSpPr>
        <p:grpSpPr>
          <a:xfrm>
            <a:off x="1140400" y="6165531"/>
            <a:ext cx="6352396" cy="720872"/>
            <a:chOff x="0" y="-9525"/>
            <a:chExt cx="1443136" cy="189863"/>
          </a:xfrm>
        </p:grpSpPr>
        <p:sp>
          <p:nvSpPr>
            <p:cNvPr id="104" name="Google Shape;104;p2"/>
            <p:cNvSpPr/>
            <p:nvPr/>
          </p:nvSpPr>
          <p:spPr>
            <a:xfrm>
              <a:off x="0" y="0"/>
              <a:ext cx="1443136" cy="180338"/>
            </a:xfrm>
            <a:custGeom>
              <a:rect b="b" l="l" r="r" t="t"/>
              <a:pathLst>
                <a:path extrusionOk="0" h="180338" w="1443136">
                  <a:moveTo>
                    <a:pt x="0" y="0"/>
                  </a:moveTo>
                  <a:lnTo>
                    <a:pt x="1443136" y="0"/>
                  </a:lnTo>
                  <a:lnTo>
                    <a:pt x="1443136" y="180338"/>
                  </a:lnTo>
                  <a:lnTo>
                    <a:pt x="0" y="180338"/>
                  </a:lnTo>
                  <a:close/>
                </a:path>
              </a:pathLst>
            </a:custGeom>
            <a:solidFill>
              <a:srgbClr val="6592E6"/>
            </a:solidFill>
            <a:ln>
              <a:noFill/>
            </a:ln>
          </p:spPr>
        </p:sp>
        <p:sp>
          <p:nvSpPr>
            <p:cNvPr id="105" name="Google Shape;105;p2"/>
            <p:cNvSpPr txBox="1"/>
            <p:nvPr/>
          </p:nvSpPr>
          <p:spPr>
            <a:xfrm>
              <a:off x="0" y="-9525"/>
              <a:ext cx="1443136" cy="189863"/>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06" name="Google Shape;106;p2"/>
          <p:cNvSpPr txBox="1"/>
          <p:nvPr/>
        </p:nvSpPr>
        <p:spPr>
          <a:xfrm>
            <a:off x="1259561" y="2047829"/>
            <a:ext cx="10060500" cy="6917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M01: </a:t>
            </a:r>
            <a:r>
              <a:rPr b="0" i="0" lang="en-US" sz="4123" u="none" cap="none" strike="noStrike">
                <a:solidFill>
                  <a:srgbClr val="AEAEAE"/>
                </a:solidFill>
                <a:latin typeface="Jost"/>
                <a:ea typeface="Jost"/>
                <a:cs typeface="Jost"/>
                <a:sym typeface="Jost"/>
              </a:rPr>
              <a:t>Text Preprocessing</a:t>
            </a:r>
            <a:endParaRPr b="0" i="0" sz="1400" u="none" cap="none" strike="noStrike">
              <a:solidFill>
                <a:srgbClr val="AEAEAE"/>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M02: </a:t>
            </a:r>
            <a:r>
              <a:rPr b="0" i="0" lang="en-US" sz="4123" u="none" cap="none" strike="noStrike">
                <a:solidFill>
                  <a:srgbClr val="AEAEAE"/>
                </a:solidFill>
                <a:latin typeface="Jost"/>
                <a:ea typeface="Jost"/>
                <a:cs typeface="Jost"/>
                <a:sym typeface="Jost"/>
              </a:rPr>
              <a:t>Word and Sentence Embeddings</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M03: </a:t>
            </a:r>
            <a:r>
              <a:rPr b="0" i="0" lang="en-US" sz="4123" u="none" cap="none" strike="noStrike">
                <a:solidFill>
                  <a:srgbClr val="AEAEAE"/>
                </a:solidFill>
                <a:latin typeface="Jost"/>
                <a:ea typeface="Jost"/>
                <a:cs typeface="Jost"/>
                <a:sym typeface="Jost"/>
              </a:rPr>
              <a:t>Transformer Architectures</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M04: </a:t>
            </a:r>
            <a:r>
              <a:rPr i="0" lang="en-US" sz="4123" u="none" cap="none" strike="noStrike">
                <a:solidFill>
                  <a:srgbClr val="AEAEAE"/>
                </a:solidFill>
                <a:latin typeface="Jost"/>
                <a:ea typeface="Jost"/>
                <a:cs typeface="Jost"/>
                <a:sym typeface="Jost"/>
              </a:rPr>
              <a:t>Entity-Centric NLP</a:t>
            </a:r>
            <a:endParaRPr i="0" sz="1400" u="none" cap="none" strike="noStrike">
              <a:solidFill>
                <a:srgbClr val="AEAEAE"/>
              </a:solidFil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M05: </a:t>
            </a:r>
            <a:r>
              <a:rPr b="0" i="0" lang="en-US" sz="4123" u="none" cap="none" strike="noStrike">
                <a:solidFill>
                  <a:srgbClr val="AEAEAE"/>
                </a:solidFill>
                <a:latin typeface="Jost"/>
                <a:ea typeface="Jost"/>
                <a:cs typeface="Jost"/>
                <a:sym typeface="Jost"/>
              </a:rPr>
              <a:t>Applied NLP Tasks</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M06: </a:t>
            </a:r>
            <a:r>
              <a:rPr b="0" i="0" lang="en-US" sz="4123" u="none" cap="none" strike="noStrike">
                <a:solidFill>
                  <a:srgbClr val="AEAEAE"/>
                </a:solidFill>
                <a:latin typeface="Jost"/>
                <a:ea typeface="Jost"/>
                <a:cs typeface="Jost"/>
                <a:sym typeface="Jost"/>
              </a:rPr>
              <a:t>Multimodal NLP</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chemeClr val="lt1"/>
                </a:solidFill>
                <a:latin typeface="Jost"/>
                <a:ea typeface="Jost"/>
                <a:cs typeface="Jost"/>
                <a:sym typeface="Jost"/>
              </a:rPr>
              <a:t>M07: </a:t>
            </a:r>
            <a:r>
              <a:rPr b="1" i="0" lang="en-US" sz="4123" u="none" cap="none" strike="noStrike">
                <a:solidFill>
                  <a:schemeClr val="lt1"/>
                </a:solidFill>
                <a:latin typeface="Jost"/>
                <a:ea typeface="Jost"/>
                <a:cs typeface="Jost"/>
                <a:sym typeface="Jost"/>
              </a:rPr>
              <a:t>LLM Fundamentals</a:t>
            </a:r>
            <a:endParaRPr b="1" i="0" sz="1400" u="none" cap="none" strike="noStrike">
              <a:solidFill>
                <a:schemeClr val="lt1"/>
              </a:solidFil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M08:</a:t>
            </a:r>
            <a:r>
              <a:rPr b="0" i="0" lang="en-US" sz="4123" u="none" cap="none" strike="noStrike">
                <a:solidFill>
                  <a:srgbClr val="AEAEAE"/>
                </a:solidFill>
                <a:latin typeface="Jost"/>
                <a:ea typeface="Jost"/>
                <a:cs typeface="Jost"/>
                <a:sym typeface="Jost"/>
              </a:rPr>
              <a:t> Prompt Engineering</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M09: </a:t>
            </a:r>
            <a:r>
              <a:rPr b="0" i="0" lang="en-US" sz="4123" u="none" cap="none" strike="noStrike">
                <a:solidFill>
                  <a:srgbClr val="AEAEAE"/>
                </a:solidFill>
                <a:latin typeface="Jost"/>
                <a:ea typeface="Jost"/>
                <a:cs typeface="Jost"/>
                <a:sym typeface="Jost"/>
              </a:rPr>
              <a:t>Fine-Tuning &amp; PEFT</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0"/>
              </a:spcBef>
              <a:spcAft>
                <a:spcPts val="0"/>
              </a:spcAft>
              <a:buClr>
                <a:srgbClr val="000000"/>
              </a:buClr>
              <a:buSzPts val="4123"/>
              <a:buFont typeface="Arial"/>
              <a:buNone/>
            </a:pPr>
            <a:r>
              <a:rPr b="1" i="0" lang="en-US" sz="4123" u="none" cap="none" strike="noStrike">
                <a:solidFill>
                  <a:srgbClr val="AEAEAE"/>
                </a:solidFill>
                <a:latin typeface="Jost"/>
                <a:ea typeface="Jost"/>
                <a:cs typeface="Jost"/>
                <a:sym typeface="Jost"/>
              </a:rPr>
              <a:t>M10: </a:t>
            </a:r>
            <a:r>
              <a:rPr b="0" i="0" lang="en-US" sz="4123" u="none" cap="none" strike="noStrike">
                <a:solidFill>
                  <a:srgbClr val="AEAEAE"/>
                </a:solidFill>
                <a:latin typeface="Jost"/>
                <a:ea typeface="Jost"/>
                <a:cs typeface="Jost"/>
                <a:sym typeface="Jost"/>
              </a:rPr>
              <a:t>RAG &amp; Real-World Projects</a:t>
            </a:r>
            <a:endParaRPr b="0" i="0" sz="1400" u="none" cap="none" strike="noStrike">
              <a:solidFill>
                <a:srgbClr val="000000"/>
              </a:solidFill>
              <a:latin typeface="Arial"/>
              <a:ea typeface="Arial"/>
              <a:cs typeface="Arial"/>
              <a:sym typeface="Arial"/>
            </a:endParaRPr>
          </a:p>
        </p:txBody>
      </p:sp>
      <p:sp>
        <p:nvSpPr>
          <p:cNvPr id="107" name="Google Shape;107;p2"/>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4"/>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72" t="-52938"/>
            </a:stretch>
          </a:blipFill>
          <a:ln>
            <a:noFill/>
          </a:ln>
        </p:spPr>
      </p:sp>
      <p:sp>
        <p:nvSpPr>
          <p:cNvPr id="113" name="Google Shape;113;p4"/>
          <p:cNvSpPr txBox="1"/>
          <p:nvPr/>
        </p:nvSpPr>
        <p:spPr>
          <a:xfrm>
            <a:off x="1028700" y="2425176"/>
            <a:ext cx="14094300" cy="1101300"/>
          </a:xfrm>
          <a:prstGeom prst="rect">
            <a:avLst/>
          </a:prstGeom>
          <a:noFill/>
          <a:ln>
            <a:noFill/>
          </a:ln>
        </p:spPr>
        <p:txBody>
          <a:bodyPr anchorCtr="0" anchor="t" bIns="0" lIns="0" spcFirstLastPara="1" rIns="0" wrap="square" tIns="0">
            <a:spAutoFit/>
          </a:bodyPr>
          <a:lstStyle/>
          <a:p>
            <a:pPr indent="0" lvl="0" marL="0" marR="0" rtl="0" algn="l">
              <a:lnSpc>
                <a:spcPct val="79997"/>
              </a:lnSpc>
              <a:spcBef>
                <a:spcPts val="0"/>
              </a:spcBef>
              <a:spcAft>
                <a:spcPts val="0"/>
              </a:spcAft>
              <a:buClr>
                <a:srgbClr val="000000"/>
              </a:buClr>
              <a:buSzPts val="8944"/>
              <a:buFont typeface="Arial"/>
              <a:buNone/>
            </a:pPr>
            <a:r>
              <a:rPr b="1" i="0" lang="en-US" sz="8944" u="none" cap="none" strike="noStrike">
                <a:solidFill>
                  <a:srgbClr val="6592E6"/>
                </a:solidFill>
                <a:latin typeface="Jost"/>
                <a:ea typeface="Jost"/>
                <a:cs typeface="Jost"/>
                <a:sym typeface="Jost"/>
              </a:rPr>
              <a:t>TEXT PREPROCESSING</a:t>
            </a:r>
            <a:endParaRPr b="0" i="0" sz="1400" u="none" cap="none" strike="noStrike">
              <a:solidFill>
                <a:srgbClr val="000000"/>
              </a:solidFill>
              <a:latin typeface="Arial"/>
              <a:ea typeface="Arial"/>
              <a:cs typeface="Arial"/>
              <a:sym typeface="Arial"/>
            </a:endParaRPr>
          </a:p>
        </p:txBody>
      </p:sp>
      <p:sp>
        <p:nvSpPr>
          <p:cNvPr id="114" name="Google Shape;114;p4"/>
          <p:cNvSpPr txBox="1"/>
          <p:nvPr/>
        </p:nvSpPr>
        <p:spPr>
          <a:xfrm>
            <a:off x="1028700" y="5172770"/>
            <a:ext cx="8518500" cy="764700"/>
          </a:xfrm>
          <a:prstGeom prst="rect">
            <a:avLst/>
          </a:prstGeom>
          <a:noFill/>
          <a:ln>
            <a:noFill/>
          </a:ln>
        </p:spPr>
        <p:txBody>
          <a:bodyPr anchorCtr="0" anchor="t" bIns="0" lIns="0" spcFirstLastPara="1" rIns="0" wrap="square" tIns="0">
            <a:spAutoFit/>
          </a:bodyPr>
          <a:lstStyle/>
          <a:p>
            <a:pPr indent="0" lvl="0" marL="0" marR="0" rtl="0" algn="l">
              <a:lnSpc>
                <a:spcPct val="80003"/>
              </a:lnSpc>
              <a:spcBef>
                <a:spcPts val="0"/>
              </a:spcBef>
              <a:spcAft>
                <a:spcPts val="0"/>
              </a:spcAft>
              <a:buClr>
                <a:srgbClr val="000000"/>
              </a:buClr>
              <a:buSzPts val="6211"/>
              <a:buFont typeface="Arial"/>
              <a:buNone/>
            </a:pPr>
            <a:r>
              <a:rPr lang="en-US" sz="6211">
                <a:solidFill>
                  <a:srgbClr val="AEAEAE"/>
                </a:solidFill>
                <a:latin typeface="Jost"/>
                <a:ea typeface="Jost"/>
                <a:cs typeface="Jost"/>
                <a:sym typeface="Jost"/>
              </a:rPr>
              <a:t>Prompt Engineering</a:t>
            </a:r>
            <a:endParaRPr sz="6211">
              <a:solidFill>
                <a:srgbClr val="AEAEAE"/>
              </a:solidFill>
              <a:latin typeface="Jost"/>
              <a:ea typeface="Jost"/>
              <a:cs typeface="Jost"/>
              <a:sym typeface="Jost"/>
            </a:endParaRPr>
          </a:p>
        </p:txBody>
      </p:sp>
      <p:grpSp>
        <p:nvGrpSpPr>
          <p:cNvPr id="115" name="Google Shape;115;p4"/>
          <p:cNvGrpSpPr/>
          <p:nvPr/>
        </p:nvGrpSpPr>
        <p:grpSpPr>
          <a:xfrm>
            <a:off x="1028700" y="1028700"/>
            <a:ext cx="5382906" cy="1023288"/>
            <a:chOff x="0" y="0"/>
            <a:chExt cx="1417720" cy="269508"/>
          </a:xfrm>
        </p:grpSpPr>
        <p:sp>
          <p:nvSpPr>
            <p:cNvPr id="116" name="Google Shape;116;p4"/>
            <p:cNvSpPr/>
            <p:nvPr/>
          </p:nvSpPr>
          <p:spPr>
            <a:xfrm>
              <a:off x="0" y="0"/>
              <a:ext cx="1417720" cy="269508"/>
            </a:xfrm>
            <a:custGeom>
              <a:rect b="b" l="l" r="r" t="t"/>
              <a:pathLst>
                <a:path extrusionOk="0" h="269508" w="1417720">
                  <a:moveTo>
                    <a:pt x="0" y="0"/>
                  </a:moveTo>
                  <a:lnTo>
                    <a:pt x="1417720" y="0"/>
                  </a:lnTo>
                  <a:lnTo>
                    <a:pt x="1417720" y="269508"/>
                  </a:lnTo>
                  <a:lnTo>
                    <a:pt x="0" y="269508"/>
                  </a:lnTo>
                  <a:close/>
                </a:path>
              </a:pathLst>
            </a:custGeom>
            <a:solidFill>
              <a:srgbClr val="6592E6"/>
            </a:solidFill>
            <a:ln>
              <a:noFill/>
            </a:ln>
          </p:spPr>
        </p:sp>
        <p:sp>
          <p:nvSpPr>
            <p:cNvPr id="117" name="Google Shape;117;p4"/>
            <p:cNvSpPr txBox="1"/>
            <p:nvPr/>
          </p:nvSpPr>
          <p:spPr>
            <a:xfrm>
              <a:off x="0" y="0"/>
              <a:ext cx="1417720" cy="269508"/>
            </a:xfrm>
            <a:prstGeom prst="rect">
              <a:avLst/>
            </a:prstGeom>
            <a:noFill/>
            <a:ln>
              <a:noFill/>
            </a:ln>
          </p:spPr>
          <p:txBody>
            <a:bodyPr anchorCtr="0" anchor="ctr" bIns="50800" lIns="50800" spcFirstLastPara="1" rIns="50800" wrap="square" tIns="50800">
              <a:noAutofit/>
            </a:bodyPr>
            <a:lstStyle/>
            <a:p>
              <a:pPr indent="0" lvl="0" marL="0" marR="0" rtl="0" algn="ctr">
                <a:lnSpc>
                  <a:spcPct val="120004"/>
                </a:lnSpc>
                <a:spcBef>
                  <a:spcPts val="0"/>
                </a:spcBef>
                <a:spcAft>
                  <a:spcPts val="0"/>
                </a:spcAft>
                <a:buClr>
                  <a:srgbClr val="000000"/>
                </a:buClr>
                <a:buSzPts val="4499"/>
                <a:buFont typeface="Arial"/>
                <a:buNone/>
              </a:pPr>
              <a:r>
                <a:rPr b="1" i="0" lang="en-US" sz="4499" u="none" cap="none" strike="noStrike">
                  <a:solidFill>
                    <a:srgbClr val="FFFFFF"/>
                  </a:solidFill>
                  <a:latin typeface="Jost"/>
                  <a:ea typeface="Jost"/>
                  <a:cs typeface="Jost"/>
                  <a:sym typeface="Jost"/>
                </a:rPr>
                <a:t>MODULE M01</a:t>
              </a:r>
              <a:endParaRPr b="0" i="0" sz="1400" u="none" cap="none" strike="noStrike">
                <a:solidFill>
                  <a:srgbClr val="000000"/>
                </a:solidFill>
                <a:latin typeface="Arial"/>
                <a:ea typeface="Arial"/>
                <a:cs typeface="Arial"/>
                <a:sym typeface="Arial"/>
              </a:endParaRPr>
            </a:p>
          </p:txBody>
        </p:sp>
      </p:grpSp>
      <p:grpSp>
        <p:nvGrpSpPr>
          <p:cNvPr id="118" name="Google Shape;118;p4"/>
          <p:cNvGrpSpPr/>
          <p:nvPr/>
        </p:nvGrpSpPr>
        <p:grpSpPr>
          <a:xfrm>
            <a:off x="1028700" y="3796780"/>
            <a:ext cx="5382906" cy="1023288"/>
            <a:chOff x="0" y="0"/>
            <a:chExt cx="1417720" cy="269508"/>
          </a:xfrm>
        </p:grpSpPr>
        <p:sp>
          <p:nvSpPr>
            <p:cNvPr id="119" name="Google Shape;119;p4"/>
            <p:cNvSpPr/>
            <p:nvPr/>
          </p:nvSpPr>
          <p:spPr>
            <a:xfrm>
              <a:off x="0" y="0"/>
              <a:ext cx="1417720" cy="269508"/>
            </a:xfrm>
            <a:custGeom>
              <a:rect b="b" l="l" r="r" t="t"/>
              <a:pathLst>
                <a:path extrusionOk="0" h="269508" w="1417720">
                  <a:moveTo>
                    <a:pt x="0" y="0"/>
                  </a:moveTo>
                  <a:lnTo>
                    <a:pt x="1417720" y="0"/>
                  </a:lnTo>
                  <a:lnTo>
                    <a:pt x="1417720" y="269508"/>
                  </a:lnTo>
                  <a:lnTo>
                    <a:pt x="0" y="269508"/>
                  </a:lnTo>
                  <a:close/>
                </a:path>
              </a:pathLst>
            </a:custGeom>
            <a:solidFill>
              <a:srgbClr val="6592E6"/>
            </a:solidFill>
            <a:ln>
              <a:noFill/>
            </a:ln>
          </p:spPr>
        </p:sp>
        <p:sp>
          <p:nvSpPr>
            <p:cNvPr id="120" name="Google Shape;120;p4"/>
            <p:cNvSpPr txBox="1"/>
            <p:nvPr/>
          </p:nvSpPr>
          <p:spPr>
            <a:xfrm>
              <a:off x="0" y="0"/>
              <a:ext cx="1417720" cy="269508"/>
            </a:xfrm>
            <a:prstGeom prst="rect">
              <a:avLst/>
            </a:prstGeom>
            <a:noFill/>
            <a:ln>
              <a:noFill/>
            </a:ln>
          </p:spPr>
          <p:txBody>
            <a:bodyPr anchorCtr="0" anchor="ctr" bIns="50800" lIns="50800" spcFirstLastPara="1" rIns="50800" wrap="square" tIns="50800">
              <a:noAutofit/>
            </a:bodyPr>
            <a:lstStyle/>
            <a:p>
              <a:pPr indent="0" lvl="0" marL="0" marR="0" rtl="0" algn="ctr">
                <a:lnSpc>
                  <a:spcPct val="120004"/>
                </a:lnSpc>
                <a:spcBef>
                  <a:spcPts val="0"/>
                </a:spcBef>
                <a:spcAft>
                  <a:spcPts val="0"/>
                </a:spcAft>
                <a:buClr>
                  <a:srgbClr val="000000"/>
                </a:buClr>
                <a:buSzPts val="4499"/>
                <a:buFont typeface="Arial"/>
                <a:buNone/>
              </a:pPr>
              <a:r>
                <a:rPr b="1" i="0" lang="en-US" sz="4499" u="none" cap="none" strike="noStrike">
                  <a:solidFill>
                    <a:srgbClr val="FFFFFF"/>
                  </a:solidFill>
                  <a:latin typeface="Jost"/>
                  <a:ea typeface="Jost"/>
                  <a:cs typeface="Jost"/>
                  <a:sym typeface="Jost"/>
                </a:rPr>
                <a:t>CHAPTER M04</a:t>
              </a:r>
              <a:endParaRPr b="0" i="0" sz="1400" u="none" cap="none" strike="noStrike">
                <a:solidFill>
                  <a:srgbClr val="000000"/>
                </a:solidFill>
                <a:latin typeface="Arial"/>
                <a:ea typeface="Arial"/>
                <a:cs typeface="Arial"/>
                <a:sym typeface="Arial"/>
              </a:endParaRPr>
            </a:p>
          </p:txBody>
        </p:sp>
      </p:grpSp>
      <p:sp>
        <p:nvSpPr>
          <p:cNvPr id="121" name="Google Shape;121;p4"/>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3"/>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72" t="-52938"/>
            </a:stretch>
          </a:blipFill>
          <a:ln>
            <a:noFill/>
          </a:ln>
        </p:spPr>
      </p:sp>
      <p:grpSp>
        <p:nvGrpSpPr>
          <p:cNvPr id="127" name="Google Shape;127;p3"/>
          <p:cNvGrpSpPr/>
          <p:nvPr/>
        </p:nvGrpSpPr>
        <p:grpSpPr>
          <a:xfrm>
            <a:off x="1259561" y="710571"/>
            <a:ext cx="3086100" cy="600092"/>
            <a:chOff x="0" y="-9525"/>
            <a:chExt cx="812800" cy="158049"/>
          </a:xfrm>
        </p:grpSpPr>
        <p:sp>
          <p:nvSpPr>
            <p:cNvPr id="128" name="Google Shape;128;p3"/>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129" name="Google Shape;129;p3"/>
            <p:cNvSpPr txBox="1"/>
            <p:nvPr/>
          </p:nvSpPr>
          <p:spPr>
            <a:xfrm>
              <a:off x="0" y="-9525"/>
              <a:ext cx="812800" cy="158049"/>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130" name="Google Shape;130;p3"/>
          <p:cNvGrpSpPr/>
          <p:nvPr/>
        </p:nvGrpSpPr>
        <p:grpSpPr>
          <a:xfrm>
            <a:off x="1160375" y="2039325"/>
            <a:ext cx="12645588" cy="720872"/>
            <a:chOff x="0" y="-9525"/>
            <a:chExt cx="2404287" cy="189863"/>
          </a:xfrm>
        </p:grpSpPr>
        <p:sp>
          <p:nvSpPr>
            <p:cNvPr id="131" name="Google Shape;131;p3"/>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132" name="Google Shape;132;p3"/>
            <p:cNvSpPr txBox="1"/>
            <p:nvPr/>
          </p:nvSpPr>
          <p:spPr>
            <a:xfrm>
              <a:off x="0" y="-9525"/>
              <a:ext cx="2404287" cy="189863"/>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33" name="Google Shape;133;p3"/>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7.1 Introduction to Large Language Models (LLMs)</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7.2</a:t>
            </a:r>
            <a:r>
              <a:rPr lang="en-US" sz="4123">
                <a:solidFill>
                  <a:srgbClr val="AEAEAE"/>
                </a:solidFill>
                <a:latin typeface="Jost"/>
                <a:ea typeface="Jost"/>
                <a:cs typeface="Jost"/>
                <a:sym typeface="Jost"/>
              </a:rPr>
              <a:t> LLM Scaling Laws: The Economics of AI</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7.3</a:t>
            </a:r>
            <a:r>
              <a:rPr lang="en-US" sz="4123">
                <a:solidFill>
                  <a:srgbClr val="AEAEAE"/>
                </a:solidFill>
                <a:latin typeface="Jost"/>
                <a:ea typeface="Jost"/>
                <a:cs typeface="Jost"/>
                <a:sym typeface="Jost"/>
              </a:rPr>
              <a:t> Foundation Model Pre-training Objectives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7.4</a:t>
            </a:r>
            <a:r>
              <a:rPr lang="en-US" sz="4123">
                <a:solidFill>
                  <a:srgbClr val="AEAEAE"/>
                </a:solidFill>
                <a:latin typeface="Jost"/>
                <a:ea typeface="Jost"/>
                <a:cs typeface="Jost"/>
                <a:sym typeface="Jost"/>
              </a:rPr>
              <a:t> Adaptation: Fine-Tuning and Alignment</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7.5 </a:t>
            </a:r>
            <a:r>
              <a:rPr lang="en-US" sz="4123">
                <a:solidFill>
                  <a:srgbClr val="AEAEAE"/>
                </a:solidFill>
                <a:latin typeface="Jost"/>
                <a:ea typeface="Jost"/>
                <a:cs typeface="Jost"/>
                <a:sym typeface="Jost"/>
              </a:rPr>
              <a:t>Understanding and Extending Context Length</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7.6</a:t>
            </a:r>
            <a:r>
              <a:rPr lang="en-US" sz="4123">
                <a:solidFill>
                  <a:srgbClr val="AEAEAE"/>
                </a:solidFill>
                <a:latin typeface="Jost"/>
                <a:ea typeface="Jost"/>
                <a:cs typeface="Jost"/>
                <a:sym typeface="Jost"/>
              </a:rPr>
              <a:t> Summary and Key Takeaways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134" name="Google Shape;134;p3"/>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135" name="Google Shape;135;p3"/>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g393a02a1344_0_3"/>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141" name="Google Shape;141;g393a02a1344_0_3"/>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i="0" sz="4262" u="none" cap="none" strike="noStrike">
              <a:solidFill>
                <a:srgbClr val="AEAEAE"/>
              </a:solidFill>
              <a:latin typeface="Jost"/>
              <a:ea typeface="Jost"/>
              <a:cs typeface="Jost"/>
              <a:sym typeface="Jost"/>
            </a:endParaRPr>
          </a:p>
        </p:txBody>
      </p:sp>
      <p:sp>
        <p:nvSpPr>
          <p:cNvPr id="142" name="Google Shape;142;g393a02a1344_0_3"/>
          <p:cNvSpPr txBox="1"/>
          <p:nvPr/>
        </p:nvSpPr>
        <p:spPr>
          <a:xfrm>
            <a:off x="1028700" y="3040600"/>
            <a:ext cx="95049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What Is a Large Language Model?</a:t>
            </a:r>
            <a:endParaRPr b="1" sz="4262">
              <a:solidFill>
                <a:srgbClr val="6592E6"/>
              </a:solidFill>
              <a:latin typeface="Jost"/>
              <a:ea typeface="Jost"/>
              <a:cs typeface="Jost"/>
              <a:sym typeface="Jost"/>
            </a:endParaRPr>
          </a:p>
        </p:txBody>
      </p:sp>
      <p:sp>
        <p:nvSpPr>
          <p:cNvPr id="143" name="Google Shape;143;g393a02a1344_0_3"/>
          <p:cNvSpPr txBox="1"/>
          <p:nvPr/>
        </p:nvSpPr>
        <p:spPr>
          <a:xfrm>
            <a:off x="1463225" y="5895831"/>
            <a:ext cx="7865400" cy="4371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LLMs are general-purpose models, not single-task systems.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Capabilities emerge from scale + data, not explicit programming.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Intelligence is an emergent property, not a designed feature.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One model can perform reasoning, coding, translation, and analysis.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p:txBody>
      </p:sp>
      <p:grpSp>
        <p:nvGrpSpPr>
          <p:cNvPr id="144" name="Google Shape;144;g393a02a1344_0_3"/>
          <p:cNvGrpSpPr/>
          <p:nvPr/>
        </p:nvGrpSpPr>
        <p:grpSpPr>
          <a:xfrm>
            <a:off x="1028700" y="1028700"/>
            <a:ext cx="4030368" cy="777115"/>
            <a:chOff x="0" y="0"/>
            <a:chExt cx="1061489" cy="204671"/>
          </a:xfrm>
        </p:grpSpPr>
        <p:sp>
          <p:nvSpPr>
            <p:cNvPr id="145" name="Google Shape;145;g393a02a1344_0_3"/>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146" name="Google Shape;146;g393a02a1344_0_3"/>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147" name="Google Shape;147;g393a02a1344_0_3"/>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148" name="Google Shape;148;g393a02a1344_0_3"/>
          <p:cNvGrpSpPr/>
          <p:nvPr/>
        </p:nvGrpSpPr>
        <p:grpSpPr>
          <a:xfrm>
            <a:off x="1028700" y="6823903"/>
            <a:ext cx="259146" cy="656100"/>
            <a:chOff x="0" y="0"/>
            <a:chExt cx="80174" cy="123748"/>
          </a:xfrm>
        </p:grpSpPr>
        <p:sp>
          <p:nvSpPr>
            <p:cNvPr id="149" name="Google Shape;149;g393a02a1344_0_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50" name="Google Shape;150;g393a02a1344_0_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51" name="Google Shape;151;g393a02a1344_0_3"/>
          <p:cNvSpPr txBox="1"/>
          <p:nvPr/>
        </p:nvSpPr>
        <p:spPr>
          <a:xfrm>
            <a:off x="1028700" y="4114969"/>
            <a:ext cx="76431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Large Language Models (LLMs) represent a shift from task-specific NLP systems to general-purpose cognitive engines. Their intelligence emerges from scale, not from handcrafted rules.</a:t>
            </a:r>
            <a:endParaRPr b="0" i="0" sz="2731" u="none" cap="none" strike="noStrike">
              <a:solidFill>
                <a:srgbClr val="AEAEAE"/>
              </a:solidFill>
              <a:latin typeface="Jost"/>
              <a:ea typeface="Jost"/>
              <a:cs typeface="Jost"/>
              <a:sym typeface="Jost"/>
            </a:endParaRPr>
          </a:p>
        </p:txBody>
      </p:sp>
      <p:pic>
        <p:nvPicPr>
          <p:cNvPr id="152" name="Google Shape;152;g393a02a1344_0_3" title="ChatGPT Image 5 feb 2026, 13_36_34.png"/>
          <p:cNvPicPr preferRelativeResize="0"/>
          <p:nvPr/>
        </p:nvPicPr>
        <p:blipFill rotWithShape="1">
          <a:blip r:embed="rId5">
            <a:alphaModFix/>
          </a:blip>
          <a:srcRect b="6888" l="0" r="0" t="4795"/>
          <a:stretch/>
        </p:blipFill>
        <p:spPr>
          <a:xfrm>
            <a:off x="10356650" y="3123925"/>
            <a:ext cx="6902650" cy="4064225"/>
          </a:xfrm>
          <a:prstGeom prst="rect">
            <a:avLst/>
          </a:prstGeom>
          <a:noFill/>
          <a:ln cap="flat" cmpd="sng" w="76200">
            <a:solidFill>
              <a:srgbClr val="6592E6"/>
            </a:solidFill>
            <a:prstDash val="solid"/>
            <a:round/>
            <a:headEnd len="sm" w="sm" type="none"/>
            <a:tailEnd len="sm" w="sm" type="none"/>
          </a:ln>
        </p:spPr>
      </p:pic>
      <p:grpSp>
        <p:nvGrpSpPr>
          <p:cNvPr id="153" name="Google Shape;153;g393a02a1344_0_3"/>
          <p:cNvGrpSpPr/>
          <p:nvPr/>
        </p:nvGrpSpPr>
        <p:grpSpPr>
          <a:xfrm>
            <a:off x="1028700" y="5895825"/>
            <a:ext cx="259146" cy="656100"/>
            <a:chOff x="0" y="0"/>
            <a:chExt cx="80174" cy="123748"/>
          </a:xfrm>
        </p:grpSpPr>
        <p:sp>
          <p:nvSpPr>
            <p:cNvPr id="154" name="Google Shape;154;g393a02a1344_0_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55" name="Google Shape;155;g393a02a1344_0_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56" name="Google Shape;156;g393a02a1344_0_3"/>
          <p:cNvGrpSpPr/>
          <p:nvPr/>
        </p:nvGrpSpPr>
        <p:grpSpPr>
          <a:xfrm>
            <a:off x="1028700" y="7899728"/>
            <a:ext cx="259146" cy="656100"/>
            <a:chOff x="0" y="0"/>
            <a:chExt cx="80174" cy="123748"/>
          </a:xfrm>
        </p:grpSpPr>
        <p:sp>
          <p:nvSpPr>
            <p:cNvPr id="157" name="Google Shape;157;g393a02a1344_0_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58" name="Google Shape;158;g393a02a1344_0_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59" name="Google Shape;159;g393a02a1344_0_3"/>
          <p:cNvGrpSpPr/>
          <p:nvPr/>
        </p:nvGrpSpPr>
        <p:grpSpPr>
          <a:xfrm>
            <a:off x="1028700" y="8975553"/>
            <a:ext cx="259146" cy="656100"/>
            <a:chOff x="0" y="0"/>
            <a:chExt cx="80174" cy="123748"/>
          </a:xfrm>
        </p:grpSpPr>
        <p:sp>
          <p:nvSpPr>
            <p:cNvPr id="160" name="Google Shape;160;g393a02a1344_0_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61" name="Google Shape;161;g393a02a1344_0_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g393a02a1344_0_26"/>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167" name="Google Shape;167;g393a02a1344_0_26"/>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i="0" sz="4262" u="none" cap="none" strike="noStrike">
              <a:solidFill>
                <a:srgbClr val="AEAEAE"/>
              </a:solidFill>
              <a:latin typeface="Jost"/>
              <a:ea typeface="Jost"/>
              <a:cs typeface="Jost"/>
              <a:sym typeface="Jost"/>
            </a:endParaRPr>
          </a:p>
        </p:txBody>
      </p:sp>
      <p:sp>
        <p:nvSpPr>
          <p:cNvPr id="168" name="Google Shape;168;g393a02a1344_0_26"/>
          <p:cNvSpPr txBox="1"/>
          <p:nvPr/>
        </p:nvSpPr>
        <p:spPr>
          <a:xfrm>
            <a:off x="1028700" y="3040600"/>
            <a:ext cx="8094300" cy="13185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The Core Mechanism: Next-Token Prediction</a:t>
            </a:r>
            <a:endParaRPr b="1" sz="4262">
              <a:solidFill>
                <a:srgbClr val="6592E6"/>
              </a:solidFill>
              <a:latin typeface="Jost"/>
              <a:ea typeface="Jost"/>
              <a:cs typeface="Jost"/>
              <a:sym typeface="Jost"/>
            </a:endParaRPr>
          </a:p>
        </p:txBody>
      </p:sp>
      <p:sp>
        <p:nvSpPr>
          <p:cNvPr id="169" name="Google Shape;169;g393a02a1344_0_26"/>
          <p:cNvSpPr txBox="1"/>
          <p:nvPr/>
        </p:nvSpPr>
        <p:spPr>
          <a:xfrm>
            <a:off x="1463225" y="6505431"/>
            <a:ext cx="7865400" cy="33630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Core objective: predict the next token given prior context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Model learns probability distributions over a large vocabulary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Grammar, facts, and logic emerge from statistical learning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No symbolic rules, only probabilistic inference</a:t>
            </a:r>
            <a:endParaRPr b="0" i="0" sz="2731" u="none" cap="none" strike="noStrike">
              <a:solidFill>
                <a:srgbClr val="AEAEAE"/>
              </a:solidFill>
              <a:latin typeface="Jost"/>
              <a:ea typeface="Jost"/>
              <a:cs typeface="Jost"/>
              <a:sym typeface="Jost"/>
            </a:endParaRPr>
          </a:p>
        </p:txBody>
      </p:sp>
      <p:grpSp>
        <p:nvGrpSpPr>
          <p:cNvPr id="170" name="Google Shape;170;g393a02a1344_0_26"/>
          <p:cNvGrpSpPr/>
          <p:nvPr/>
        </p:nvGrpSpPr>
        <p:grpSpPr>
          <a:xfrm>
            <a:off x="1028700" y="1028700"/>
            <a:ext cx="4030368" cy="777115"/>
            <a:chOff x="0" y="0"/>
            <a:chExt cx="1061489" cy="204671"/>
          </a:xfrm>
        </p:grpSpPr>
        <p:sp>
          <p:nvSpPr>
            <p:cNvPr id="171" name="Google Shape;171;g393a02a1344_0_26"/>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172" name="Google Shape;172;g393a02a1344_0_26"/>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173" name="Google Shape;173;g393a02a1344_0_26"/>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174" name="Google Shape;174;g393a02a1344_0_26"/>
          <p:cNvGrpSpPr/>
          <p:nvPr/>
        </p:nvGrpSpPr>
        <p:grpSpPr>
          <a:xfrm>
            <a:off x="1028700" y="7449466"/>
            <a:ext cx="259146" cy="656100"/>
            <a:chOff x="0" y="0"/>
            <a:chExt cx="80174" cy="123748"/>
          </a:xfrm>
        </p:grpSpPr>
        <p:sp>
          <p:nvSpPr>
            <p:cNvPr id="175" name="Google Shape;175;g393a02a1344_0_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76" name="Google Shape;176;g393a02a1344_0_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77" name="Google Shape;177;g393a02a1344_0_26"/>
          <p:cNvSpPr txBox="1"/>
          <p:nvPr/>
        </p:nvSpPr>
        <p:spPr>
          <a:xfrm>
            <a:off x="1028700" y="4741425"/>
            <a:ext cx="76431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its foundation, an LLM is a probabilistic system trained to predict the next token in a sequence. This simple objective enables complex reasoning when applied at massive scale.</a:t>
            </a:r>
            <a:endParaRPr sz="2731">
              <a:solidFill>
                <a:srgbClr val="AEAEAE"/>
              </a:solidFill>
              <a:latin typeface="Jost"/>
              <a:ea typeface="Jost"/>
              <a:cs typeface="Jost"/>
              <a:sym typeface="Jost"/>
            </a:endParaRPr>
          </a:p>
        </p:txBody>
      </p:sp>
      <p:grpSp>
        <p:nvGrpSpPr>
          <p:cNvPr id="178" name="Google Shape;178;g393a02a1344_0_26"/>
          <p:cNvGrpSpPr/>
          <p:nvPr/>
        </p:nvGrpSpPr>
        <p:grpSpPr>
          <a:xfrm>
            <a:off x="1028700" y="9468403"/>
            <a:ext cx="259162" cy="400015"/>
            <a:chOff x="0" y="0"/>
            <a:chExt cx="80174" cy="123748"/>
          </a:xfrm>
        </p:grpSpPr>
        <p:sp>
          <p:nvSpPr>
            <p:cNvPr id="179" name="Google Shape;179;g393a02a1344_0_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80" name="Google Shape;180;g393a02a1344_0_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81" name="Google Shape;181;g393a02a1344_0_26"/>
          <p:cNvGrpSpPr/>
          <p:nvPr/>
        </p:nvGrpSpPr>
        <p:grpSpPr>
          <a:xfrm>
            <a:off x="1028700" y="8458928"/>
            <a:ext cx="259146" cy="656100"/>
            <a:chOff x="0" y="0"/>
            <a:chExt cx="80174" cy="123748"/>
          </a:xfrm>
        </p:grpSpPr>
        <p:sp>
          <p:nvSpPr>
            <p:cNvPr id="182" name="Google Shape;182;g393a02a1344_0_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83" name="Google Shape;183;g393a02a1344_0_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84" name="Google Shape;184;g393a02a1344_0_26"/>
          <p:cNvGrpSpPr/>
          <p:nvPr/>
        </p:nvGrpSpPr>
        <p:grpSpPr>
          <a:xfrm>
            <a:off x="1028700" y="6440003"/>
            <a:ext cx="259146" cy="656100"/>
            <a:chOff x="0" y="0"/>
            <a:chExt cx="80174" cy="123748"/>
          </a:xfrm>
        </p:grpSpPr>
        <p:sp>
          <p:nvSpPr>
            <p:cNvPr id="185" name="Google Shape;185;g393a02a1344_0_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186" name="Google Shape;186;g393a02a1344_0_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187" name="Google Shape;187;g393a02a1344_0_26" title="Title_ Next-Token Prediction in a Transformer Language Model - visual selection.png"/>
          <p:cNvPicPr preferRelativeResize="0"/>
          <p:nvPr/>
        </p:nvPicPr>
        <p:blipFill rotWithShape="1">
          <a:blip r:embed="rId5">
            <a:alphaModFix/>
          </a:blip>
          <a:srcRect b="4021" l="0" r="0" t="0"/>
          <a:stretch/>
        </p:blipFill>
        <p:spPr>
          <a:xfrm>
            <a:off x="12360944" y="3040600"/>
            <a:ext cx="4898356" cy="46467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g393a02a1344_0_72"/>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193" name="Google Shape;193;g393a02a1344_0_72"/>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i="0" sz="4262" u="none" cap="none" strike="noStrike">
              <a:solidFill>
                <a:srgbClr val="AEAEAE"/>
              </a:solidFill>
              <a:latin typeface="Jost"/>
              <a:ea typeface="Jost"/>
              <a:cs typeface="Jost"/>
              <a:sym typeface="Jost"/>
            </a:endParaRPr>
          </a:p>
        </p:txBody>
      </p:sp>
      <p:sp>
        <p:nvSpPr>
          <p:cNvPr id="194" name="Google Shape;194;g393a02a1344_0_72"/>
          <p:cNvSpPr txBox="1"/>
          <p:nvPr/>
        </p:nvSpPr>
        <p:spPr>
          <a:xfrm>
            <a:off x="1028700" y="3040600"/>
            <a:ext cx="8094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What Makes a Model ‘Large’?</a:t>
            </a:r>
            <a:endParaRPr b="1" sz="4262">
              <a:solidFill>
                <a:srgbClr val="6592E6"/>
              </a:solidFill>
              <a:latin typeface="Jost"/>
              <a:ea typeface="Jost"/>
              <a:cs typeface="Jost"/>
              <a:sym typeface="Jost"/>
            </a:endParaRPr>
          </a:p>
        </p:txBody>
      </p:sp>
      <p:sp>
        <p:nvSpPr>
          <p:cNvPr id="195" name="Google Shape;195;g393a02a1344_0_72"/>
          <p:cNvSpPr txBox="1"/>
          <p:nvPr/>
        </p:nvSpPr>
        <p:spPr>
          <a:xfrm>
            <a:off x="1463225" y="6048231"/>
            <a:ext cx="7865400" cy="33630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Parameter counts range from billions to trillions.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Training data includes most public human text and code.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Scale enables emergent abilities (reasoning, zero-shot learning).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Small models cannot reliably display these behaviors.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196" name="Google Shape;196;g393a02a1344_0_72"/>
          <p:cNvGrpSpPr/>
          <p:nvPr/>
        </p:nvGrpSpPr>
        <p:grpSpPr>
          <a:xfrm>
            <a:off x="1028700" y="1028700"/>
            <a:ext cx="4030368" cy="777115"/>
            <a:chOff x="0" y="0"/>
            <a:chExt cx="1061489" cy="204671"/>
          </a:xfrm>
        </p:grpSpPr>
        <p:sp>
          <p:nvSpPr>
            <p:cNvPr id="197" name="Google Shape;197;g393a02a1344_0_72"/>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198" name="Google Shape;198;g393a02a1344_0_72"/>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199" name="Google Shape;199;g393a02a1344_0_72"/>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200" name="Google Shape;200;g393a02a1344_0_72"/>
          <p:cNvGrpSpPr/>
          <p:nvPr/>
        </p:nvGrpSpPr>
        <p:grpSpPr>
          <a:xfrm>
            <a:off x="1028700" y="6706272"/>
            <a:ext cx="259146" cy="656100"/>
            <a:chOff x="0" y="0"/>
            <a:chExt cx="80174" cy="123748"/>
          </a:xfrm>
        </p:grpSpPr>
        <p:sp>
          <p:nvSpPr>
            <p:cNvPr id="201" name="Google Shape;201;g393a02a1344_0_7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02" name="Google Shape;202;g393a02a1344_0_7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03" name="Google Shape;203;g393a02a1344_0_72"/>
          <p:cNvSpPr txBox="1"/>
          <p:nvPr/>
        </p:nvSpPr>
        <p:spPr>
          <a:xfrm>
            <a:off x="1028700" y="4094213"/>
            <a:ext cx="76431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LLMs are defined not just by architecture, but by quantitative scale. Parameters, data volume, and compute together determine whether advanced capabilities emerge.</a:t>
            </a:r>
            <a:endParaRPr sz="2731">
              <a:solidFill>
                <a:srgbClr val="AEAEAE"/>
              </a:solidFill>
              <a:latin typeface="Jost"/>
              <a:ea typeface="Jost"/>
              <a:cs typeface="Jost"/>
              <a:sym typeface="Jost"/>
            </a:endParaRPr>
          </a:p>
        </p:txBody>
      </p:sp>
      <p:grpSp>
        <p:nvGrpSpPr>
          <p:cNvPr id="204" name="Google Shape;204;g393a02a1344_0_72"/>
          <p:cNvGrpSpPr/>
          <p:nvPr/>
        </p:nvGrpSpPr>
        <p:grpSpPr>
          <a:xfrm>
            <a:off x="1028700" y="8649009"/>
            <a:ext cx="259162" cy="400015"/>
            <a:chOff x="0" y="0"/>
            <a:chExt cx="80174" cy="123748"/>
          </a:xfrm>
        </p:grpSpPr>
        <p:sp>
          <p:nvSpPr>
            <p:cNvPr id="205" name="Google Shape;205;g393a02a1344_0_7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06" name="Google Shape;206;g393a02a1344_0_7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07" name="Google Shape;207;g393a02a1344_0_72"/>
          <p:cNvGrpSpPr/>
          <p:nvPr/>
        </p:nvGrpSpPr>
        <p:grpSpPr>
          <a:xfrm>
            <a:off x="1028700" y="7678122"/>
            <a:ext cx="259146" cy="656100"/>
            <a:chOff x="0" y="0"/>
            <a:chExt cx="80174" cy="123748"/>
          </a:xfrm>
        </p:grpSpPr>
        <p:sp>
          <p:nvSpPr>
            <p:cNvPr id="208" name="Google Shape;208;g393a02a1344_0_7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09" name="Google Shape;209;g393a02a1344_0_7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10" name="Google Shape;210;g393a02a1344_0_72"/>
          <p:cNvGrpSpPr/>
          <p:nvPr/>
        </p:nvGrpSpPr>
        <p:grpSpPr>
          <a:xfrm>
            <a:off x="1028700" y="6048228"/>
            <a:ext cx="259162" cy="400015"/>
            <a:chOff x="0" y="0"/>
            <a:chExt cx="80174" cy="123748"/>
          </a:xfrm>
        </p:grpSpPr>
        <p:sp>
          <p:nvSpPr>
            <p:cNvPr id="211" name="Google Shape;211;g393a02a1344_0_7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12" name="Google Shape;212;g393a02a1344_0_7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213" name="Google Shape;213;g393a02a1344_0_72" title="Title_ Scaling Laws_ Model Size vs Emergent Capabilities - visual selection.png"/>
          <p:cNvPicPr preferRelativeResize="0"/>
          <p:nvPr/>
        </p:nvPicPr>
        <p:blipFill rotWithShape="1">
          <a:blip r:embed="rId5">
            <a:alphaModFix/>
          </a:blip>
          <a:srcRect b="8248" l="0" r="0" t="0"/>
          <a:stretch/>
        </p:blipFill>
        <p:spPr>
          <a:xfrm>
            <a:off x="10219245" y="3040600"/>
            <a:ext cx="6946206" cy="4731751"/>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g393a02a1344_0_10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219" name="Google Shape;219;g393a02a1344_0_101"/>
          <p:cNvSpPr txBox="1"/>
          <p:nvPr/>
        </p:nvSpPr>
        <p:spPr>
          <a:xfrm>
            <a:off x="1028700" y="2025604"/>
            <a:ext cx="141183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i="0" sz="4262" u="none" cap="none" strike="noStrike">
              <a:solidFill>
                <a:srgbClr val="AEAEAE"/>
              </a:solidFill>
              <a:latin typeface="Jost"/>
              <a:ea typeface="Jost"/>
              <a:cs typeface="Jost"/>
              <a:sym typeface="Jost"/>
            </a:endParaRPr>
          </a:p>
        </p:txBody>
      </p:sp>
      <p:sp>
        <p:nvSpPr>
          <p:cNvPr id="220" name="Google Shape;220;g393a02a1344_0_101"/>
          <p:cNvSpPr txBox="1"/>
          <p:nvPr/>
        </p:nvSpPr>
        <p:spPr>
          <a:xfrm>
            <a:off x="1028700" y="3196472"/>
            <a:ext cx="141183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Emergent Abilities and </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Threshold Effects</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p:txBody>
      </p:sp>
      <p:sp>
        <p:nvSpPr>
          <p:cNvPr id="221" name="Google Shape;221;g393a02a1344_0_101"/>
          <p:cNvSpPr txBox="1"/>
          <p:nvPr/>
        </p:nvSpPr>
        <p:spPr>
          <a:xfrm>
            <a:off x="1463225" y="4821231"/>
            <a:ext cx="7865400" cy="3699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Emergent abilities are non-linear effects of scale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Examples: arithmetic reasoning, code synthesis, abstraction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Abilities are unpredictable at small scales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Scaling acts as a capability unlock mechanism</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p:txBody>
      </p:sp>
      <p:grpSp>
        <p:nvGrpSpPr>
          <p:cNvPr id="222" name="Google Shape;222;g393a02a1344_0_101"/>
          <p:cNvGrpSpPr/>
          <p:nvPr/>
        </p:nvGrpSpPr>
        <p:grpSpPr>
          <a:xfrm>
            <a:off x="1028700" y="1028700"/>
            <a:ext cx="4030368" cy="777115"/>
            <a:chOff x="0" y="0"/>
            <a:chExt cx="1061489" cy="204671"/>
          </a:xfrm>
        </p:grpSpPr>
        <p:sp>
          <p:nvSpPr>
            <p:cNvPr id="223" name="Google Shape;223;g393a02a1344_0_10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224" name="Google Shape;224;g393a02a1344_0_10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225" name="Google Shape;225;g393a02a1344_0_10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226" name="Google Shape;226;g393a02a1344_0_101"/>
          <p:cNvGrpSpPr/>
          <p:nvPr/>
        </p:nvGrpSpPr>
        <p:grpSpPr>
          <a:xfrm>
            <a:off x="1028700" y="4784976"/>
            <a:ext cx="259162" cy="400015"/>
            <a:chOff x="0" y="0"/>
            <a:chExt cx="80174" cy="123748"/>
          </a:xfrm>
        </p:grpSpPr>
        <p:sp>
          <p:nvSpPr>
            <p:cNvPr id="227" name="Google Shape;227;g393a02a1344_0_1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28" name="Google Shape;228;g393a02a1344_0_1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29" name="Google Shape;229;g393a02a1344_0_101"/>
          <p:cNvGrpSpPr/>
          <p:nvPr/>
        </p:nvGrpSpPr>
        <p:grpSpPr>
          <a:xfrm>
            <a:off x="1028700" y="7131928"/>
            <a:ext cx="259162" cy="400015"/>
            <a:chOff x="0" y="0"/>
            <a:chExt cx="80174" cy="123748"/>
          </a:xfrm>
        </p:grpSpPr>
        <p:sp>
          <p:nvSpPr>
            <p:cNvPr id="230" name="Google Shape;230;g393a02a1344_0_1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31" name="Google Shape;231;g393a02a1344_0_1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32" name="Google Shape;232;g393a02a1344_0_101"/>
          <p:cNvGrpSpPr/>
          <p:nvPr/>
        </p:nvGrpSpPr>
        <p:grpSpPr>
          <a:xfrm>
            <a:off x="1028700" y="5486022"/>
            <a:ext cx="259146" cy="656100"/>
            <a:chOff x="0" y="0"/>
            <a:chExt cx="80174" cy="123748"/>
          </a:xfrm>
        </p:grpSpPr>
        <p:sp>
          <p:nvSpPr>
            <p:cNvPr id="233" name="Google Shape;233;g393a02a1344_0_1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34" name="Google Shape;234;g393a02a1344_0_1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35" name="Google Shape;235;g393a02a1344_0_101"/>
          <p:cNvGrpSpPr/>
          <p:nvPr/>
        </p:nvGrpSpPr>
        <p:grpSpPr>
          <a:xfrm>
            <a:off x="1028700" y="6427609"/>
            <a:ext cx="259162" cy="400015"/>
            <a:chOff x="0" y="0"/>
            <a:chExt cx="80174" cy="123748"/>
          </a:xfrm>
        </p:grpSpPr>
        <p:sp>
          <p:nvSpPr>
            <p:cNvPr id="236" name="Google Shape;236;g393a02a1344_0_1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37" name="Google Shape;237;g393a02a1344_0_1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238" name="Google Shape;238;g393a02a1344_0_101" title="ChatGPT Image 5 feb 2026, 13_38_33.png"/>
          <p:cNvPicPr preferRelativeResize="0"/>
          <p:nvPr/>
        </p:nvPicPr>
        <p:blipFill>
          <a:blip r:embed="rId5">
            <a:alphaModFix/>
          </a:blip>
          <a:stretch>
            <a:fillRect/>
          </a:stretch>
        </p:blipFill>
        <p:spPr>
          <a:xfrm>
            <a:off x="10505533" y="3196475"/>
            <a:ext cx="6753765" cy="4502500"/>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g393a02a1344_0_126"/>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244" name="Google Shape;244;g393a02a1344_0_126"/>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i="0" sz="4262" u="none" cap="none" strike="noStrike">
              <a:solidFill>
                <a:srgbClr val="AEAEAE"/>
              </a:solidFill>
              <a:latin typeface="Jost"/>
              <a:ea typeface="Jost"/>
              <a:cs typeface="Jost"/>
              <a:sym typeface="Jost"/>
            </a:endParaRPr>
          </a:p>
        </p:txBody>
      </p:sp>
      <p:sp>
        <p:nvSpPr>
          <p:cNvPr id="245" name="Google Shape;245;g393a02a1344_0_126"/>
          <p:cNvSpPr txBox="1"/>
          <p:nvPr/>
        </p:nvSpPr>
        <p:spPr>
          <a:xfrm>
            <a:off x="1028700" y="3040600"/>
            <a:ext cx="8094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The Lifecycle of an LLM</a:t>
            </a:r>
            <a:endParaRPr b="1" sz="4262">
              <a:solidFill>
                <a:srgbClr val="6592E6"/>
              </a:solidFill>
              <a:latin typeface="Jost"/>
              <a:ea typeface="Jost"/>
              <a:cs typeface="Jost"/>
              <a:sym typeface="Jost"/>
            </a:endParaRPr>
          </a:p>
        </p:txBody>
      </p:sp>
      <p:sp>
        <p:nvSpPr>
          <p:cNvPr id="246" name="Google Shape;246;g393a02a1344_0_126"/>
          <p:cNvSpPr txBox="1"/>
          <p:nvPr/>
        </p:nvSpPr>
        <p:spPr>
          <a:xfrm>
            <a:off x="1463225" y="5613738"/>
            <a:ext cx="7865400" cy="26904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Pre-training: learn language and world patterns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Instruction tuning: learn how to respond to humans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Alignment (RLHF): optimize behavior and safety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Each phase adds control and usefulness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247" name="Google Shape;247;g393a02a1344_0_126"/>
          <p:cNvGrpSpPr/>
          <p:nvPr/>
        </p:nvGrpSpPr>
        <p:grpSpPr>
          <a:xfrm>
            <a:off x="1028700" y="1028700"/>
            <a:ext cx="4030368" cy="777115"/>
            <a:chOff x="0" y="0"/>
            <a:chExt cx="1061489" cy="204671"/>
          </a:xfrm>
        </p:grpSpPr>
        <p:sp>
          <p:nvSpPr>
            <p:cNvPr id="248" name="Google Shape;248;g393a02a1344_0_126"/>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249" name="Google Shape;249;g393a02a1344_0_126"/>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250" name="Google Shape;250;g393a02a1344_0_126"/>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251" name="Google Shape;251;g393a02a1344_0_126"/>
          <p:cNvSpPr txBox="1"/>
          <p:nvPr/>
        </p:nvSpPr>
        <p:spPr>
          <a:xfrm>
            <a:off x="1028700" y="4131825"/>
            <a:ext cx="76431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LLMs are not deployed directly after pre-training. They undergo a structured lifecycle that transforms raw statistical models into usable, aligned assistants.</a:t>
            </a:r>
            <a:endParaRPr sz="2731">
              <a:solidFill>
                <a:srgbClr val="AEAEAE"/>
              </a:solidFill>
              <a:latin typeface="Jost"/>
              <a:ea typeface="Jost"/>
              <a:cs typeface="Jost"/>
              <a:sym typeface="Jost"/>
            </a:endParaRPr>
          </a:p>
        </p:txBody>
      </p:sp>
      <p:grpSp>
        <p:nvGrpSpPr>
          <p:cNvPr id="252" name="Google Shape;252;g393a02a1344_0_126"/>
          <p:cNvGrpSpPr/>
          <p:nvPr/>
        </p:nvGrpSpPr>
        <p:grpSpPr>
          <a:xfrm>
            <a:off x="1028700" y="6263560"/>
            <a:ext cx="259162" cy="400015"/>
            <a:chOff x="0" y="0"/>
            <a:chExt cx="80174" cy="123748"/>
          </a:xfrm>
        </p:grpSpPr>
        <p:sp>
          <p:nvSpPr>
            <p:cNvPr id="253" name="Google Shape;253;g393a02a1344_0_1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54" name="Google Shape;254;g393a02a1344_0_1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255" name="Google Shape;255;g393a02a1344_0_126" title="ChatGPT Image 5 feb 2026, 13_43_54.png"/>
          <p:cNvPicPr preferRelativeResize="0"/>
          <p:nvPr/>
        </p:nvPicPr>
        <p:blipFill>
          <a:blip r:embed="rId5">
            <a:alphaModFix/>
          </a:blip>
          <a:stretch>
            <a:fillRect/>
          </a:stretch>
        </p:blipFill>
        <p:spPr>
          <a:xfrm>
            <a:off x="10197000" y="3040600"/>
            <a:ext cx="7062301" cy="4708201"/>
          </a:xfrm>
          <a:prstGeom prst="rect">
            <a:avLst/>
          </a:prstGeom>
          <a:noFill/>
          <a:ln cap="flat" cmpd="sng" w="76200">
            <a:solidFill>
              <a:srgbClr val="6592E6"/>
            </a:solidFill>
            <a:prstDash val="solid"/>
            <a:round/>
            <a:headEnd len="sm" w="sm" type="none"/>
            <a:tailEnd len="sm" w="sm" type="none"/>
          </a:ln>
        </p:spPr>
      </p:pic>
      <p:grpSp>
        <p:nvGrpSpPr>
          <p:cNvPr id="256" name="Google Shape;256;g393a02a1344_0_126"/>
          <p:cNvGrpSpPr/>
          <p:nvPr/>
        </p:nvGrpSpPr>
        <p:grpSpPr>
          <a:xfrm>
            <a:off x="1028700" y="5613760"/>
            <a:ext cx="259162" cy="400015"/>
            <a:chOff x="0" y="0"/>
            <a:chExt cx="80174" cy="123748"/>
          </a:xfrm>
        </p:grpSpPr>
        <p:sp>
          <p:nvSpPr>
            <p:cNvPr id="257" name="Google Shape;257;g393a02a1344_0_1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58" name="Google Shape;258;g393a02a1344_0_1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59" name="Google Shape;259;g393a02a1344_0_126"/>
          <p:cNvGrpSpPr/>
          <p:nvPr/>
        </p:nvGrpSpPr>
        <p:grpSpPr>
          <a:xfrm>
            <a:off x="1028700" y="6913360"/>
            <a:ext cx="259162" cy="400015"/>
            <a:chOff x="0" y="0"/>
            <a:chExt cx="80174" cy="123748"/>
          </a:xfrm>
        </p:grpSpPr>
        <p:sp>
          <p:nvSpPr>
            <p:cNvPr id="260" name="Google Shape;260;g393a02a1344_0_1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61" name="Google Shape;261;g393a02a1344_0_1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62" name="Google Shape;262;g393a02a1344_0_126"/>
          <p:cNvGrpSpPr/>
          <p:nvPr/>
        </p:nvGrpSpPr>
        <p:grpSpPr>
          <a:xfrm>
            <a:off x="1028700" y="7563160"/>
            <a:ext cx="259162" cy="400015"/>
            <a:chOff x="0" y="0"/>
            <a:chExt cx="80174" cy="123748"/>
          </a:xfrm>
        </p:grpSpPr>
        <p:sp>
          <p:nvSpPr>
            <p:cNvPr id="263" name="Google Shape;263;g393a02a1344_0_12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64" name="Google Shape;264;g393a02a1344_0_12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g393a02a1344_0_162"/>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270" name="Google Shape;270;g393a02a1344_0_162"/>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7.1: </a:t>
            </a:r>
            <a:r>
              <a:rPr lang="en-US" sz="4262">
                <a:solidFill>
                  <a:srgbClr val="AEAEAE"/>
                </a:solidFill>
                <a:latin typeface="Jost"/>
                <a:ea typeface="Jost"/>
                <a:cs typeface="Jost"/>
                <a:sym typeface="Jost"/>
              </a:rPr>
              <a:t>Introduction to Large Language Models (LLMs)</a:t>
            </a:r>
            <a:endParaRPr i="0" sz="4262" u="none" cap="none" strike="noStrike">
              <a:solidFill>
                <a:srgbClr val="AEAEAE"/>
              </a:solidFill>
              <a:latin typeface="Jost"/>
              <a:ea typeface="Jost"/>
              <a:cs typeface="Jost"/>
              <a:sym typeface="Jost"/>
            </a:endParaRPr>
          </a:p>
        </p:txBody>
      </p:sp>
      <p:sp>
        <p:nvSpPr>
          <p:cNvPr id="271" name="Google Shape;271;g393a02a1344_0_162"/>
          <p:cNvSpPr txBox="1"/>
          <p:nvPr/>
        </p:nvSpPr>
        <p:spPr>
          <a:xfrm>
            <a:off x="1028700" y="3040600"/>
            <a:ext cx="8094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Why This Matters Technically</a:t>
            </a:r>
            <a:endParaRPr b="1" sz="4262">
              <a:solidFill>
                <a:srgbClr val="6592E6"/>
              </a:solidFill>
              <a:latin typeface="Jost"/>
              <a:ea typeface="Jost"/>
              <a:cs typeface="Jost"/>
              <a:sym typeface="Jost"/>
            </a:endParaRPr>
          </a:p>
        </p:txBody>
      </p:sp>
      <p:sp>
        <p:nvSpPr>
          <p:cNvPr id="272" name="Google Shape;272;g393a02a1344_0_162"/>
          <p:cNvSpPr txBox="1"/>
          <p:nvPr/>
        </p:nvSpPr>
        <p:spPr>
          <a:xfrm>
            <a:off x="1463225" y="5957126"/>
            <a:ext cx="7865400" cy="30267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LLMs are probabilistic, not deterministic systems.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They simulate reasoning via learned patterns.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Strengths and limits both arise from this design.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Proper usage requires understanding this foundation.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273" name="Google Shape;273;g393a02a1344_0_162"/>
          <p:cNvGrpSpPr/>
          <p:nvPr/>
        </p:nvGrpSpPr>
        <p:grpSpPr>
          <a:xfrm>
            <a:off x="1028700" y="1028700"/>
            <a:ext cx="4030368" cy="777115"/>
            <a:chOff x="0" y="0"/>
            <a:chExt cx="1061489" cy="204671"/>
          </a:xfrm>
        </p:grpSpPr>
        <p:sp>
          <p:nvSpPr>
            <p:cNvPr id="274" name="Google Shape;274;g393a02a1344_0_162"/>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275" name="Google Shape;275;g393a02a1344_0_162"/>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276" name="Google Shape;276;g393a02a1344_0_162"/>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277" name="Google Shape;277;g393a02a1344_0_162"/>
          <p:cNvSpPr txBox="1"/>
          <p:nvPr/>
        </p:nvSpPr>
        <p:spPr>
          <a:xfrm>
            <a:off x="1028700" y="4131825"/>
            <a:ext cx="76431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Understanding what an LLM is, and what it is not,  is critical for using it correctly. LLMs do not reason symbolically; they approximate reasoning through probability.</a:t>
            </a:r>
            <a:endParaRPr sz="2731">
              <a:solidFill>
                <a:srgbClr val="AEAEAE"/>
              </a:solidFill>
              <a:latin typeface="Jost"/>
              <a:ea typeface="Jost"/>
              <a:cs typeface="Jost"/>
              <a:sym typeface="Jost"/>
            </a:endParaRPr>
          </a:p>
        </p:txBody>
      </p:sp>
      <p:grpSp>
        <p:nvGrpSpPr>
          <p:cNvPr id="278" name="Google Shape;278;g393a02a1344_0_162"/>
          <p:cNvGrpSpPr/>
          <p:nvPr/>
        </p:nvGrpSpPr>
        <p:grpSpPr>
          <a:xfrm>
            <a:off x="1028700" y="6606948"/>
            <a:ext cx="259162" cy="400015"/>
            <a:chOff x="0" y="0"/>
            <a:chExt cx="80174" cy="123748"/>
          </a:xfrm>
        </p:grpSpPr>
        <p:sp>
          <p:nvSpPr>
            <p:cNvPr id="279" name="Google Shape;279;g393a02a1344_0_16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80" name="Google Shape;280;g393a02a1344_0_16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81" name="Google Shape;281;g393a02a1344_0_162"/>
          <p:cNvGrpSpPr/>
          <p:nvPr/>
        </p:nvGrpSpPr>
        <p:grpSpPr>
          <a:xfrm>
            <a:off x="1028700" y="5957148"/>
            <a:ext cx="259162" cy="400015"/>
            <a:chOff x="0" y="0"/>
            <a:chExt cx="80174" cy="123748"/>
          </a:xfrm>
        </p:grpSpPr>
        <p:sp>
          <p:nvSpPr>
            <p:cNvPr id="282" name="Google Shape;282;g393a02a1344_0_16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83" name="Google Shape;283;g393a02a1344_0_16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84" name="Google Shape;284;g393a02a1344_0_162"/>
          <p:cNvGrpSpPr/>
          <p:nvPr/>
        </p:nvGrpSpPr>
        <p:grpSpPr>
          <a:xfrm>
            <a:off x="1028700" y="7256748"/>
            <a:ext cx="259162" cy="400015"/>
            <a:chOff x="0" y="0"/>
            <a:chExt cx="80174" cy="123748"/>
          </a:xfrm>
        </p:grpSpPr>
        <p:sp>
          <p:nvSpPr>
            <p:cNvPr id="285" name="Google Shape;285;g393a02a1344_0_16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86" name="Google Shape;286;g393a02a1344_0_16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87" name="Google Shape;287;g393a02a1344_0_162"/>
          <p:cNvGrpSpPr/>
          <p:nvPr/>
        </p:nvGrpSpPr>
        <p:grpSpPr>
          <a:xfrm>
            <a:off x="1028700" y="7906548"/>
            <a:ext cx="259162" cy="400015"/>
            <a:chOff x="0" y="0"/>
            <a:chExt cx="80174" cy="123748"/>
          </a:xfrm>
        </p:grpSpPr>
        <p:sp>
          <p:nvSpPr>
            <p:cNvPr id="288" name="Google Shape;288;g393a02a1344_0_162"/>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289" name="Google Shape;289;g393a02a1344_0_162"/>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290" name="Google Shape;290;g393a02a1344_0_162" title="Title_ Symbolic AI vs Probabilistic Language Model Reasoning - visual selection.png"/>
          <p:cNvPicPr preferRelativeResize="0"/>
          <p:nvPr/>
        </p:nvPicPr>
        <p:blipFill rotWithShape="1">
          <a:blip r:embed="rId5">
            <a:alphaModFix/>
          </a:blip>
          <a:srcRect b="11940" l="3003" r="3415" t="0"/>
          <a:stretch/>
        </p:blipFill>
        <p:spPr>
          <a:xfrm>
            <a:off x="9616200" y="3172225"/>
            <a:ext cx="7643100" cy="3547316"/>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g393a02a1344_0_188"/>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grpSp>
        <p:nvGrpSpPr>
          <p:cNvPr id="296" name="Google Shape;296;g393a02a1344_0_188"/>
          <p:cNvGrpSpPr/>
          <p:nvPr/>
        </p:nvGrpSpPr>
        <p:grpSpPr>
          <a:xfrm>
            <a:off x="1259561" y="710571"/>
            <a:ext cx="3086120" cy="600290"/>
            <a:chOff x="0" y="-9525"/>
            <a:chExt cx="812800" cy="158100"/>
          </a:xfrm>
        </p:grpSpPr>
        <p:sp>
          <p:nvSpPr>
            <p:cNvPr id="297" name="Google Shape;297;g393a02a1344_0_188"/>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298" name="Google Shape;298;g393a02a1344_0_188"/>
            <p:cNvSpPr txBox="1"/>
            <p:nvPr/>
          </p:nvSpPr>
          <p:spPr>
            <a:xfrm>
              <a:off x="0" y="-9525"/>
              <a:ext cx="812700" cy="158100"/>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299" name="Google Shape;299;g393a02a1344_0_188"/>
          <p:cNvGrpSpPr/>
          <p:nvPr/>
        </p:nvGrpSpPr>
        <p:grpSpPr>
          <a:xfrm>
            <a:off x="1160375" y="2686550"/>
            <a:ext cx="11009230" cy="720993"/>
            <a:chOff x="0" y="-9525"/>
            <a:chExt cx="2404287" cy="189900"/>
          </a:xfrm>
        </p:grpSpPr>
        <p:sp>
          <p:nvSpPr>
            <p:cNvPr id="300" name="Google Shape;300;g393a02a1344_0_188"/>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301" name="Google Shape;301;g393a02a1344_0_188"/>
            <p:cNvSpPr txBox="1"/>
            <p:nvPr/>
          </p:nvSpPr>
          <p:spPr>
            <a:xfrm>
              <a:off x="0" y="-9525"/>
              <a:ext cx="2404200" cy="189900"/>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02" name="Google Shape;302;g393a02a1344_0_188"/>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7.1</a:t>
            </a:r>
            <a:r>
              <a:rPr lang="en-US" sz="4123">
                <a:solidFill>
                  <a:srgbClr val="AEAEAE"/>
                </a:solidFill>
                <a:latin typeface="Jost"/>
                <a:ea typeface="Jost"/>
                <a:cs typeface="Jost"/>
                <a:sym typeface="Jost"/>
              </a:rPr>
              <a:t> Introduction to Large Language Models (LLMs)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7.2</a:t>
            </a:r>
            <a:r>
              <a:rPr b="1" lang="en-US" sz="4123">
                <a:solidFill>
                  <a:schemeClr val="lt1"/>
                </a:solidFill>
                <a:latin typeface="Jost"/>
                <a:ea typeface="Jost"/>
                <a:cs typeface="Jost"/>
                <a:sym typeface="Jost"/>
              </a:rPr>
              <a:t> LLM Scaling Laws: The Economics of AI</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7.3</a:t>
            </a:r>
            <a:r>
              <a:rPr lang="en-US" sz="4123">
                <a:solidFill>
                  <a:srgbClr val="AEAEAE"/>
                </a:solidFill>
                <a:latin typeface="Jost"/>
                <a:ea typeface="Jost"/>
                <a:cs typeface="Jost"/>
                <a:sym typeface="Jost"/>
              </a:rPr>
              <a:t> Foundation Model Pre-training Objectives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7.4</a:t>
            </a:r>
            <a:r>
              <a:rPr lang="en-US" sz="4123">
                <a:solidFill>
                  <a:srgbClr val="AEAEAE"/>
                </a:solidFill>
                <a:latin typeface="Jost"/>
                <a:ea typeface="Jost"/>
                <a:cs typeface="Jost"/>
                <a:sym typeface="Jost"/>
              </a:rPr>
              <a:t> Adaptation: Fine-Tuning and Alignment</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7.5 </a:t>
            </a:r>
            <a:r>
              <a:rPr lang="en-US" sz="4123">
                <a:solidFill>
                  <a:srgbClr val="AEAEAE"/>
                </a:solidFill>
                <a:latin typeface="Jost"/>
                <a:ea typeface="Jost"/>
                <a:cs typeface="Jost"/>
                <a:sym typeface="Jost"/>
              </a:rPr>
              <a:t>Understanding and Extending Context Length</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7.6</a:t>
            </a:r>
            <a:r>
              <a:rPr lang="en-US" sz="4123">
                <a:solidFill>
                  <a:srgbClr val="AEAEAE"/>
                </a:solidFill>
                <a:latin typeface="Jost"/>
                <a:ea typeface="Jost"/>
                <a:cs typeface="Jost"/>
                <a:sym typeface="Jost"/>
              </a:rPr>
              <a:t> Summary and Key Takeaways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303" name="Google Shape;303;g393a02a1344_0_188"/>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304" name="Google Shape;304;g393a02a1344_0_188"/>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g393a02a1344_0_20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310" name="Google Shape;310;g393a02a1344_0_201"/>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7.2 </a:t>
            </a:r>
            <a:r>
              <a:rPr lang="en-US" sz="4262">
                <a:solidFill>
                  <a:srgbClr val="AEAEAE"/>
                </a:solidFill>
                <a:latin typeface="Jost"/>
                <a:ea typeface="Jost"/>
                <a:cs typeface="Jost"/>
                <a:sym typeface="Jost"/>
              </a:rPr>
              <a:t>LLM Scaling Laws: The Economics of AI</a:t>
            </a:r>
            <a:endParaRPr b="1" sz="4262">
              <a:solidFill>
                <a:srgbClr val="AEAEAE"/>
              </a:solidFill>
              <a:latin typeface="Jost"/>
              <a:ea typeface="Jost"/>
              <a:cs typeface="Jost"/>
              <a:sym typeface="Jost"/>
            </a:endParaRPr>
          </a:p>
        </p:txBody>
      </p:sp>
      <p:sp>
        <p:nvSpPr>
          <p:cNvPr id="311" name="Google Shape;311;g393a02a1344_0_201"/>
          <p:cNvSpPr txBox="1"/>
          <p:nvPr/>
        </p:nvSpPr>
        <p:spPr>
          <a:xfrm>
            <a:off x="1028700" y="3040600"/>
            <a:ext cx="8094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The Three Scaling Dimensions</a:t>
            </a:r>
            <a:endParaRPr b="1" sz="4262">
              <a:solidFill>
                <a:srgbClr val="6592E6"/>
              </a:solidFill>
              <a:latin typeface="Jost"/>
              <a:ea typeface="Jost"/>
              <a:cs typeface="Jost"/>
              <a:sym typeface="Jost"/>
            </a:endParaRPr>
          </a:p>
        </p:txBody>
      </p:sp>
      <p:sp>
        <p:nvSpPr>
          <p:cNvPr id="312" name="Google Shape;312;g393a02a1344_0_201"/>
          <p:cNvSpPr txBox="1"/>
          <p:nvPr/>
        </p:nvSpPr>
        <p:spPr>
          <a:xfrm>
            <a:off x="1463225" y="4165950"/>
            <a:ext cx="8280600" cy="3699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LLM performance follows power-law scaling, not randomness.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Three core variables: Parameters (N), Data (D), Compute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Increasing only one factor leads to inefficient training.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Balanced scaling produces consistent loss reduction.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313" name="Google Shape;313;g393a02a1344_0_201"/>
          <p:cNvGrpSpPr/>
          <p:nvPr/>
        </p:nvGrpSpPr>
        <p:grpSpPr>
          <a:xfrm>
            <a:off x="1028700" y="1028700"/>
            <a:ext cx="4030368" cy="777115"/>
            <a:chOff x="0" y="0"/>
            <a:chExt cx="1061489" cy="204671"/>
          </a:xfrm>
        </p:grpSpPr>
        <p:sp>
          <p:nvSpPr>
            <p:cNvPr id="314" name="Google Shape;314;g393a02a1344_0_20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315" name="Google Shape;315;g393a02a1344_0_20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316" name="Google Shape;316;g393a02a1344_0_20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317" name="Google Shape;317;g393a02a1344_0_201"/>
          <p:cNvGrpSpPr/>
          <p:nvPr/>
        </p:nvGrpSpPr>
        <p:grpSpPr>
          <a:xfrm>
            <a:off x="1028700" y="6763210"/>
            <a:ext cx="259162" cy="400015"/>
            <a:chOff x="0" y="0"/>
            <a:chExt cx="80174" cy="123748"/>
          </a:xfrm>
        </p:grpSpPr>
        <p:sp>
          <p:nvSpPr>
            <p:cNvPr id="318" name="Google Shape;318;g393a02a1344_0_2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19" name="Google Shape;319;g393a02a1344_0_2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0" name="Google Shape;320;g393a02a1344_0_201"/>
          <p:cNvGrpSpPr/>
          <p:nvPr/>
        </p:nvGrpSpPr>
        <p:grpSpPr>
          <a:xfrm>
            <a:off x="1028700" y="6115360"/>
            <a:ext cx="259162" cy="400015"/>
            <a:chOff x="0" y="0"/>
            <a:chExt cx="80174" cy="123748"/>
          </a:xfrm>
        </p:grpSpPr>
        <p:sp>
          <p:nvSpPr>
            <p:cNvPr id="321" name="Google Shape;321;g393a02a1344_0_2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22" name="Google Shape;322;g393a02a1344_0_2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3" name="Google Shape;323;g393a02a1344_0_201"/>
          <p:cNvGrpSpPr/>
          <p:nvPr/>
        </p:nvGrpSpPr>
        <p:grpSpPr>
          <a:xfrm>
            <a:off x="1028700" y="5136197"/>
            <a:ext cx="259146" cy="656100"/>
            <a:chOff x="0" y="0"/>
            <a:chExt cx="80174" cy="123748"/>
          </a:xfrm>
        </p:grpSpPr>
        <p:sp>
          <p:nvSpPr>
            <p:cNvPr id="324" name="Google Shape;324;g393a02a1344_0_2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25" name="Google Shape;325;g393a02a1344_0_2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6" name="Google Shape;326;g393a02a1344_0_201"/>
          <p:cNvGrpSpPr/>
          <p:nvPr/>
        </p:nvGrpSpPr>
        <p:grpSpPr>
          <a:xfrm>
            <a:off x="1028700" y="4126009"/>
            <a:ext cx="259146" cy="656100"/>
            <a:chOff x="0" y="0"/>
            <a:chExt cx="80174" cy="123748"/>
          </a:xfrm>
        </p:grpSpPr>
        <p:sp>
          <p:nvSpPr>
            <p:cNvPr id="327" name="Google Shape;327;g393a02a1344_0_2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28" name="Google Shape;328;g393a02a1344_0_2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329" name="Google Shape;329;g393a02a1344_0_201" title="ChatGPT Image 5 feb 2026, 13_46_12.png"/>
          <p:cNvPicPr preferRelativeResize="0"/>
          <p:nvPr/>
        </p:nvPicPr>
        <p:blipFill rotWithShape="1">
          <a:blip r:embed="rId5">
            <a:alphaModFix/>
          </a:blip>
          <a:srcRect b="17641" l="14179" r="15133" t="0"/>
          <a:stretch/>
        </p:blipFill>
        <p:spPr>
          <a:xfrm>
            <a:off x="11529253" y="3040603"/>
            <a:ext cx="5730048" cy="4451149"/>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g393a02a1344_0_258"/>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335" name="Google Shape;335;g393a02a1344_0_258"/>
          <p:cNvSpPr txBox="1"/>
          <p:nvPr/>
        </p:nvSpPr>
        <p:spPr>
          <a:xfrm>
            <a:off x="1028700" y="3040600"/>
            <a:ext cx="76431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Chinchilla and Compute-Optimal Training</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p:txBody>
      </p:sp>
      <p:sp>
        <p:nvSpPr>
          <p:cNvPr id="336" name="Google Shape;336;g393a02a1344_0_258"/>
          <p:cNvSpPr txBox="1"/>
          <p:nvPr/>
        </p:nvSpPr>
        <p:spPr>
          <a:xfrm>
            <a:off x="1463225" y="6529125"/>
            <a:ext cx="8337000" cy="26904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Most early models were undertrained</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Chinchilla ratio: ~20 tokens per parameter</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Smaller models + more data can outperform larger ones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Shift toward data-efficient foundation models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337" name="Google Shape;337;g393a02a1344_0_258"/>
          <p:cNvGrpSpPr/>
          <p:nvPr/>
        </p:nvGrpSpPr>
        <p:grpSpPr>
          <a:xfrm>
            <a:off x="1028700" y="1028700"/>
            <a:ext cx="4030368" cy="777115"/>
            <a:chOff x="0" y="0"/>
            <a:chExt cx="1061489" cy="204671"/>
          </a:xfrm>
        </p:grpSpPr>
        <p:sp>
          <p:nvSpPr>
            <p:cNvPr id="338" name="Google Shape;338;g393a02a1344_0_258"/>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339" name="Google Shape;339;g393a02a1344_0_258"/>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340" name="Google Shape;340;g393a02a1344_0_258"/>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341" name="Google Shape;341;g393a02a1344_0_258"/>
          <p:cNvSpPr txBox="1"/>
          <p:nvPr/>
        </p:nvSpPr>
        <p:spPr>
          <a:xfrm>
            <a:off x="1028700" y="4703813"/>
            <a:ext cx="76431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Chinchilla demonstrated that many early LLMs were inefficiently trained. Optimal performance requires matching model size with sufficient training data.</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342" name="Google Shape;342;g393a02a1344_0_258"/>
          <p:cNvGrpSpPr/>
          <p:nvPr/>
        </p:nvGrpSpPr>
        <p:grpSpPr>
          <a:xfrm>
            <a:off x="1028700" y="7178935"/>
            <a:ext cx="259162" cy="400015"/>
            <a:chOff x="0" y="0"/>
            <a:chExt cx="80174" cy="123748"/>
          </a:xfrm>
        </p:grpSpPr>
        <p:sp>
          <p:nvSpPr>
            <p:cNvPr id="343" name="Google Shape;343;g393a02a1344_0_25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44" name="Google Shape;344;g393a02a1344_0_25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45" name="Google Shape;345;g393a02a1344_0_258"/>
          <p:cNvGrpSpPr/>
          <p:nvPr/>
        </p:nvGrpSpPr>
        <p:grpSpPr>
          <a:xfrm>
            <a:off x="1028700" y="6529135"/>
            <a:ext cx="259162" cy="400015"/>
            <a:chOff x="0" y="0"/>
            <a:chExt cx="80174" cy="123748"/>
          </a:xfrm>
        </p:grpSpPr>
        <p:sp>
          <p:nvSpPr>
            <p:cNvPr id="346" name="Google Shape;346;g393a02a1344_0_25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47" name="Google Shape;347;g393a02a1344_0_25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48" name="Google Shape;348;g393a02a1344_0_258"/>
          <p:cNvGrpSpPr/>
          <p:nvPr/>
        </p:nvGrpSpPr>
        <p:grpSpPr>
          <a:xfrm>
            <a:off x="1028700" y="7828735"/>
            <a:ext cx="259162" cy="400015"/>
            <a:chOff x="0" y="0"/>
            <a:chExt cx="80174" cy="123748"/>
          </a:xfrm>
        </p:grpSpPr>
        <p:sp>
          <p:nvSpPr>
            <p:cNvPr id="349" name="Google Shape;349;g393a02a1344_0_25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50" name="Google Shape;350;g393a02a1344_0_25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51" name="Google Shape;351;g393a02a1344_0_258"/>
          <p:cNvGrpSpPr/>
          <p:nvPr/>
        </p:nvGrpSpPr>
        <p:grpSpPr>
          <a:xfrm>
            <a:off x="1028700" y="8478535"/>
            <a:ext cx="259162" cy="400015"/>
            <a:chOff x="0" y="0"/>
            <a:chExt cx="80174" cy="123748"/>
          </a:xfrm>
        </p:grpSpPr>
        <p:sp>
          <p:nvSpPr>
            <p:cNvPr id="352" name="Google Shape;352;g393a02a1344_0_25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53" name="Google Shape;353;g393a02a1344_0_25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54" name="Google Shape;354;g393a02a1344_0_258"/>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7.2 </a:t>
            </a:r>
            <a:r>
              <a:rPr lang="en-US" sz="4262">
                <a:solidFill>
                  <a:srgbClr val="AEAEAE"/>
                </a:solidFill>
                <a:latin typeface="Jost"/>
                <a:ea typeface="Jost"/>
                <a:cs typeface="Jost"/>
                <a:sym typeface="Jost"/>
              </a:rPr>
              <a:t>LLM Scaling Laws: The Economics of AI</a:t>
            </a:r>
            <a:endParaRPr b="1" sz="4262">
              <a:solidFill>
                <a:srgbClr val="AEAEAE"/>
              </a:solidFill>
              <a:latin typeface="Jost"/>
              <a:ea typeface="Jost"/>
              <a:cs typeface="Jost"/>
              <a:sym typeface="Jost"/>
            </a:endParaRPr>
          </a:p>
        </p:txBody>
      </p:sp>
      <p:pic>
        <p:nvPicPr>
          <p:cNvPr id="355" name="Google Shape;355;g393a02a1344_0_258" title="ChatGPT Image 5 feb 2026, 13_49_36.png"/>
          <p:cNvPicPr preferRelativeResize="0"/>
          <p:nvPr/>
        </p:nvPicPr>
        <p:blipFill rotWithShape="1">
          <a:blip r:embed="rId5">
            <a:alphaModFix/>
          </a:blip>
          <a:srcRect b="0" l="12650" r="8235" t="0"/>
          <a:stretch/>
        </p:blipFill>
        <p:spPr>
          <a:xfrm>
            <a:off x="11739487" y="3040600"/>
            <a:ext cx="5519812" cy="4651200"/>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g393a02a1344_0_285"/>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361" name="Google Shape;361;g393a02a1344_0_285"/>
          <p:cNvSpPr txBox="1"/>
          <p:nvPr/>
        </p:nvSpPr>
        <p:spPr>
          <a:xfrm>
            <a:off x="1028700" y="3040600"/>
            <a:ext cx="7643100" cy="26436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Economic Limits and Diminishing Returns</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p:txBody>
      </p:sp>
      <p:sp>
        <p:nvSpPr>
          <p:cNvPr id="362" name="Google Shape;362;g393a02a1344_0_285"/>
          <p:cNvSpPr txBox="1"/>
          <p:nvPr/>
        </p:nvSpPr>
        <p:spPr>
          <a:xfrm>
            <a:off x="1463225" y="6529125"/>
            <a:ext cx="9013800" cy="30267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Scaling shows diminishing returns at trillion-parameter scale.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Constraints: data exhaustion, energy cost, hardware limits.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Compute budgets define feasible model size.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Future gains depend more on data quality and efficiency.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363" name="Google Shape;363;g393a02a1344_0_285"/>
          <p:cNvGrpSpPr/>
          <p:nvPr/>
        </p:nvGrpSpPr>
        <p:grpSpPr>
          <a:xfrm>
            <a:off x="1028700" y="1028700"/>
            <a:ext cx="4030368" cy="777115"/>
            <a:chOff x="0" y="0"/>
            <a:chExt cx="1061489" cy="204671"/>
          </a:xfrm>
        </p:grpSpPr>
        <p:sp>
          <p:nvSpPr>
            <p:cNvPr id="364" name="Google Shape;364;g393a02a1344_0_285"/>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365" name="Google Shape;365;g393a02a1344_0_285"/>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366" name="Google Shape;366;g393a02a1344_0_285"/>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367" name="Google Shape;367;g393a02a1344_0_285"/>
          <p:cNvSpPr txBox="1"/>
          <p:nvPr/>
        </p:nvSpPr>
        <p:spPr>
          <a:xfrm>
            <a:off x="1028700" y="4703813"/>
            <a:ext cx="76431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While scaling improves intelligence, it faces physical and economic limits. Beyond certain sizes, gains become increasingly expensive and marginal.</a:t>
            </a:r>
            <a:endParaRPr sz="2731">
              <a:solidFill>
                <a:srgbClr val="AEAEAE"/>
              </a:solidFill>
              <a:latin typeface="Jost"/>
              <a:ea typeface="Jost"/>
              <a:cs typeface="Jost"/>
              <a:sym typeface="Jost"/>
            </a:endParaRPr>
          </a:p>
        </p:txBody>
      </p:sp>
      <p:grpSp>
        <p:nvGrpSpPr>
          <p:cNvPr id="368" name="Google Shape;368;g393a02a1344_0_285"/>
          <p:cNvGrpSpPr/>
          <p:nvPr/>
        </p:nvGrpSpPr>
        <p:grpSpPr>
          <a:xfrm>
            <a:off x="1028700" y="7178935"/>
            <a:ext cx="259162" cy="400015"/>
            <a:chOff x="0" y="0"/>
            <a:chExt cx="80174" cy="123748"/>
          </a:xfrm>
        </p:grpSpPr>
        <p:sp>
          <p:nvSpPr>
            <p:cNvPr id="369" name="Google Shape;369;g393a02a1344_0_28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70" name="Google Shape;370;g393a02a1344_0_28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71" name="Google Shape;371;g393a02a1344_0_285"/>
          <p:cNvGrpSpPr/>
          <p:nvPr/>
        </p:nvGrpSpPr>
        <p:grpSpPr>
          <a:xfrm>
            <a:off x="1028700" y="6529135"/>
            <a:ext cx="259162" cy="400015"/>
            <a:chOff x="0" y="0"/>
            <a:chExt cx="80174" cy="123748"/>
          </a:xfrm>
        </p:grpSpPr>
        <p:sp>
          <p:nvSpPr>
            <p:cNvPr id="372" name="Google Shape;372;g393a02a1344_0_28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73" name="Google Shape;373;g393a02a1344_0_28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74" name="Google Shape;374;g393a02a1344_0_285"/>
          <p:cNvGrpSpPr/>
          <p:nvPr/>
        </p:nvGrpSpPr>
        <p:grpSpPr>
          <a:xfrm>
            <a:off x="1028700" y="7828735"/>
            <a:ext cx="259162" cy="400015"/>
            <a:chOff x="0" y="0"/>
            <a:chExt cx="80174" cy="123748"/>
          </a:xfrm>
        </p:grpSpPr>
        <p:sp>
          <p:nvSpPr>
            <p:cNvPr id="375" name="Google Shape;375;g393a02a1344_0_28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76" name="Google Shape;376;g393a02a1344_0_28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77" name="Google Shape;377;g393a02a1344_0_285"/>
          <p:cNvGrpSpPr/>
          <p:nvPr/>
        </p:nvGrpSpPr>
        <p:grpSpPr>
          <a:xfrm>
            <a:off x="1028700" y="8478535"/>
            <a:ext cx="259162" cy="400015"/>
            <a:chOff x="0" y="0"/>
            <a:chExt cx="80174" cy="123748"/>
          </a:xfrm>
        </p:grpSpPr>
        <p:sp>
          <p:nvSpPr>
            <p:cNvPr id="378" name="Google Shape;378;g393a02a1344_0_28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379" name="Google Shape;379;g393a02a1344_0_28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80" name="Google Shape;380;g393a02a1344_0_285"/>
          <p:cNvSpPr txBox="1"/>
          <p:nvPr/>
        </p:nvSpPr>
        <p:spPr>
          <a:xfrm>
            <a:off x="1028700" y="2025600"/>
            <a:ext cx="1542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7.2 </a:t>
            </a:r>
            <a:r>
              <a:rPr lang="en-US" sz="4262">
                <a:solidFill>
                  <a:srgbClr val="AEAEAE"/>
                </a:solidFill>
                <a:latin typeface="Jost"/>
                <a:ea typeface="Jost"/>
                <a:cs typeface="Jost"/>
                <a:sym typeface="Jost"/>
              </a:rPr>
              <a:t>LLM Scaling Laws: The Economics of AI</a:t>
            </a:r>
            <a:endParaRPr b="1" sz="4262">
              <a:solidFill>
                <a:srgbClr val="AEAEAE"/>
              </a:solidFill>
              <a:latin typeface="Jost"/>
              <a:ea typeface="Jost"/>
              <a:cs typeface="Jost"/>
              <a:sym typeface="Jost"/>
            </a:endParaRPr>
          </a:p>
        </p:txBody>
      </p:sp>
      <p:pic>
        <p:nvPicPr>
          <p:cNvPr id="381" name="Google Shape;381;g393a02a1344_0_285" title="ChatGPT Image 5 feb 2026, 13_53_03.png"/>
          <p:cNvPicPr preferRelativeResize="0"/>
          <p:nvPr/>
        </p:nvPicPr>
        <p:blipFill>
          <a:blip r:embed="rId5">
            <a:alphaModFix/>
          </a:blip>
          <a:stretch>
            <a:fillRect/>
          </a:stretch>
        </p:blipFill>
        <p:spPr>
          <a:xfrm>
            <a:off x="10783596" y="3134625"/>
            <a:ext cx="6475703" cy="4317125"/>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g393a02a1344_0_31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grpSp>
        <p:nvGrpSpPr>
          <p:cNvPr id="387" name="Google Shape;387;g393a02a1344_0_311"/>
          <p:cNvGrpSpPr/>
          <p:nvPr/>
        </p:nvGrpSpPr>
        <p:grpSpPr>
          <a:xfrm>
            <a:off x="1259561" y="710571"/>
            <a:ext cx="3086120" cy="600290"/>
            <a:chOff x="0" y="-9525"/>
            <a:chExt cx="812800" cy="158100"/>
          </a:xfrm>
        </p:grpSpPr>
        <p:sp>
          <p:nvSpPr>
            <p:cNvPr id="388" name="Google Shape;388;g393a02a1344_0_311"/>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389" name="Google Shape;389;g393a02a1344_0_311"/>
            <p:cNvSpPr txBox="1"/>
            <p:nvPr/>
          </p:nvSpPr>
          <p:spPr>
            <a:xfrm>
              <a:off x="0" y="-9525"/>
              <a:ext cx="812700" cy="158100"/>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390" name="Google Shape;390;g393a02a1344_0_311"/>
          <p:cNvGrpSpPr/>
          <p:nvPr/>
        </p:nvGrpSpPr>
        <p:grpSpPr>
          <a:xfrm>
            <a:off x="1160375" y="3391150"/>
            <a:ext cx="11441761" cy="720993"/>
            <a:chOff x="0" y="-9525"/>
            <a:chExt cx="2404287" cy="189900"/>
          </a:xfrm>
        </p:grpSpPr>
        <p:sp>
          <p:nvSpPr>
            <p:cNvPr id="391" name="Google Shape;391;g393a02a1344_0_311"/>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392" name="Google Shape;392;g393a02a1344_0_311"/>
            <p:cNvSpPr txBox="1"/>
            <p:nvPr/>
          </p:nvSpPr>
          <p:spPr>
            <a:xfrm>
              <a:off x="0" y="-9525"/>
              <a:ext cx="2404200" cy="189900"/>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93" name="Google Shape;393;g393a02a1344_0_311"/>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7.1</a:t>
            </a:r>
            <a:r>
              <a:rPr lang="en-US" sz="4123">
                <a:solidFill>
                  <a:srgbClr val="AEAEAE"/>
                </a:solidFill>
                <a:latin typeface="Jost"/>
                <a:ea typeface="Jost"/>
                <a:cs typeface="Jost"/>
                <a:sym typeface="Jost"/>
              </a:rPr>
              <a:t> Introduction to Large Language Models (LLMs)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7.2 </a:t>
            </a:r>
            <a:r>
              <a:rPr lang="en-US" sz="4123">
                <a:solidFill>
                  <a:srgbClr val="AEAEAE"/>
                </a:solidFill>
                <a:latin typeface="Jost"/>
                <a:ea typeface="Jost"/>
                <a:cs typeface="Jost"/>
                <a:sym typeface="Jost"/>
              </a:rPr>
              <a:t>LLM Scaling Laws: The Economics of AI</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7.3</a:t>
            </a:r>
            <a:r>
              <a:rPr b="1" lang="en-US" sz="4123">
                <a:solidFill>
                  <a:schemeClr val="lt1"/>
                </a:solidFill>
                <a:latin typeface="Jost"/>
                <a:ea typeface="Jost"/>
                <a:cs typeface="Jost"/>
                <a:sym typeface="Jost"/>
              </a:rPr>
              <a:t> Foundation Model Pre-training Objectives</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7.4</a:t>
            </a:r>
            <a:r>
              <a:rPr lang="en-US" sz="4123">
                <a:solidFill>
                  <a:srgbClr val="AEAEAE"/>
                </a:solidFill>
                <a:latin typeface="Jost"/>
                <a:ea typeface="Jost"/>
                <a:cs typeface="Jost"/>
                <a:sym typeface="Jost"/>
              </a:rPr>
              <a:t> Adaptation: Fine-Tuning and Alignment</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7.5 </a:t>
            </a:r>
            <a:r>
              <a:rPr lang="en-US" sz="4123">
                <a:solidFill>
                  <a:srgbClr val="AEAEAE"/>
                </a:solidFill>
                <a:latin typeface="Jost"/>
                <a:ea typeface="Jost"/>
                <a:cs typeface="Jost"/>
                <a:sym typeface="Jost"/>
              </a:rPr>
              <a:t>Understanding and Extending Context Length</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7.6</a:t>
            </a:r>
            <a:r>
              <a:rPr lang="en-US" sz="4123">
                <a:solidFill>
                  <a:srgbClr val="AEAEAE"/>
                </a:solidFill>
                <a:latin typeface="Jost"/>
                <a:ea typeface="Jost"/>
                <a:cs typeface="Jost"/>
                <a:sym typeface="Jost"/>
              </a:rPr>
              <a:t> Summary and Key Takeaways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394" name="Google Shape;394;g393a02a1344_0_31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395" name="Google Shape;395;g393a02a1344_0_311"/>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g393a02a1344_0_324"/>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401" name="Google Shape;401;g393a02a1344_0_324"/>
          <p:cNvSpPr txBox="1"/>
          <p:nvPr/>
        </p:nvSpPr>
        <p:spPr>
          <a:xfrm>
            <a:off x="1028700" y="3040600"/>
            <a:ext cx="76431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Purpose of Pre-training</a:t>
            </a:r>
            <a:endParaRPr b="1" sz="4262">
              <a:solidFill>
                <a:srgbClr val="6592E6"/>
              </a:solidFill>
              <a:latin typeface="Jost"/>
              <a:ea typeface="Jost"/>
              <a:cs typeface="Jost"/>
              <a:sym typeface="Jost"/>
            </a:endParaRPr>
          </a:p>
        </p:txBody>
      </p:sp>
      <p:sp>
        <p:nvSpPr>
          <p:cNvPr id="402" name="Google Shape;402;g393a02a1344_0_324"/>
          <p:cNvSpPr txBox="1"/>
          <p:nvPr/>
        </p:nvSpPr>
        <p:spPr>
          <a:xfrm>
            <a:off x="1463225" y="5976925"/>
            <a:ext cx="8525100" cy="3699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Pre-training uses self-supervised learning.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No human labels: supervision comes from next-token prediction.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Objective: build a statistical model of language and facts.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Forms the base model used for all downstream tasks.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403" name="Google Shape;403;g393a02a1344_0_324"/>
          <p:cNvGrpSpPr/>
          <p:nvPr/>
        </p:nvGrpSpPr>
        <p:grpSpPr>
          <a:xfrm>
            <a:off x="1028700" y="1028700"/>
            <a:ext cx="4030368" cy="777115"/>
            <a:chOff x="0" y="0"/>
            <a:chExt cx="1061489" cy="204671"/>
          </a:xfrm>
        </p:grpSpPr>
        <p:sp>
          <p:nvSpPr>
            <p:cNvPr id="404" name="Google Shape;404;g393a02a1344_0_324"/>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405" name="Google Shape;405;g393a02a1344_0_324"/>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406" name="Google Shape;406;g393a02a1344_0_324"/>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407" name="Google Shape;407;g393a02a1344_0_324"/>
          <p:cNvSpPr txBox="1"/>
          <p:nvPr/>
        </p:nvSpPr>
        <p:spPr>
          <a:xfrm>
            <a:off x="1028700" y="4151600"/>
            <a:ext cx="9166500" cy="16815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Pre-training is the phase where an LLM acquires general intelligence from raw data. The model learns language structure and world knowledge through self-supervised learning at scale.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408" name="Google Shape;408;g393a02a1344_0_324"/>
          <p:cNvGrpSpPr/>
          <p:nvPr/>
        </p:nvGrpSpPr>
        <p:grpSpPr>
          <a:xfrm>
            <a:off x="1028700" y="5976929"/>
            <a:ext cx="259162" cy="400015"/>
            <a:chOff x="0" y="0"/>
            <a:chExt cx="80174" cy="123748"/>
          </a:xfrm>
        </p:grpSpPr>
        <p:sp>
          <p:nvSpPr>
            <p:cNvPr id="409" name="Google Shape;409;g393a02a1344_0_324"/>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10" name="Google Shape;410;g393a02a1344_0_324"/>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11" name="Google Shape;411;g393a02a1344_0_324"/>
          <p:cNvGrpSpPr/>
          <p:nvPr/>
        </p:nvGrpSpPr>
        <p:grpSpPr>
          <a:xfrm>
            <a:off x="1028700" y="7581329"/>
            <a:ext cx="259162" cy="400015"/>
            <a:chOff x="0" y="0"/>
            <a:chExt cx="80174" cy="123748"/>
          </a:xfrm>
        </p:grpSpPr>
        <p:sp>
          <p:nvSpPr>
            <p:cNvPr id="412" name="Google Shape;412;g393a02a1344_0_324"/>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13" name="Google Shape;413;g393a02a1344_0_324"/>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14" name="Google Shape;414;g393a02a1344_0_324"/>
          <p:cNvGrpSpPr/>
          <p:nvPr/>
        </p:nvGrpSpPr>
        <p:grpSpPr>
          <a:xfrm>
            <a:off x="1028700" y="8231129"/>
            <a:ext cx="259162" cy="400015"/>
            <a:chOff x="0" y="0"/>
            <a:chExt cx="80174" cy="123748"/>
          </a:xfrm>
        </p:grpSpPr>
        <p:sp>
          <p:nvSpPr>
            <p:cNvPr id="415" name="Google Shape;415;g393a02a1344_0_324"/>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16" name="Google Shape;416;g393a02a1344_0_324"/>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17" name="Google Shape;417;g393a02a1344_0_324"/>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7.3 </a:t>
            </a:r>
            <a:r>
              <a:rPr lang="en-US" sz="4262">
                <a:solidFill>
                  <a:srgbClr val="AEAEAE"/>
                </a:solidFill>
                <a:latin typeface="Jost"/>
                <a:ea typeface="Jost"/>
                <a:cs typeface="Jost"/>
                <a:sym typeface="Jost"/>
              </a:rPr>
              <a:t>Foundation Model Pre-training Objectives</a:t>
            </a:r>
            <a:endParaRPr b="1" sz="4262">
              <a:solidFill>
                <a:srgbClr val="AEAEAE"/>
              </a:solidFill>
              <a:latin typeface="Jost"/>
              <a:ea typeface="Jost"/>
              <a:cs typeface="Jost"/>
              <a:sym typeface="Jost"/>
            </a:endParaRPr>
          </a:p>
        </p:txBody>
      </p:sp>
      <p:pic>
        <p:nvPicPr>
          <p:cNvPr id="418" name="Google Shape;418;g393a02a1344_0_324" title="_- visual selection (4).png"/>
          <p:cNvPicPr preferRelativeResize="0"/>
          <p:nvPr/>
        </p:nvPicPr>
        <p:blipFill rotWithShape="1">
          <a:blip r:embed="rId5">
            <a:alphaModFix/>
          </a:blip>
          <a:srcRect b="7475" l="0" r="0" t="0"/>
          <a:stretch/>
        </p:blipFill>
        <p:spPr>
          <a:xfrm>
            <a:off x="10914677" y="3300500"/>
            <a:ext cx="6344624" cy="4119374"/>
          </a:xfrm>
          <a:prstGeom prst="rect">
            <a:avLst/>
          </a:prstGeom>
          <a:noFill/>
          <a:ln cap="flat" cmpd="sng" w="76200">
            <a:solidFill>
              <a:srgbClr val="6592E6"/>
            </a:solidFill>
            <a:prstDash val="solid"/>
            <a:round/>
            <a:headEnd len="sm" w="sm" type="none"/>
            <a:tailEnd len="sm" w="sm" type="none"/>
          </a:ln>
        </p:spPr>
      </p:pic>
      <p:grpSp>
        <p:nvGrpSpPr>
          <p:cNvPr id="419" name="Google Shape;419;g393a02a1344_0_324"/>
          <p:cNvGrpSpPr/>
          <p:nvPr/>
        </p:nvGrpSpPr>
        <p:grpSpPr>
          <a:xfrm>
            <a:off x="1028700" y="6649772"/>
            <a:ext cx="259146" cy="807715"/>
            <a:chOff x="0" y="0"/>
            <a:chExt cx="80174" cy="152344"/>
          </a:xfrm>
        </p:grpSpPr>
        <p:sp>
          <p:nvSpPr>
            <p:cNvPr id="420" name="Google Shape;420;g393a02a1344_0_324"/>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21" name="Google Shape;421;g393a02a1344_0_324"/>
            <p:cNvSpPr txBox="1"/>
            <p:nvPr/>
          </p:nvSpPr>
          <p:spPr>
            <a:xfrm>
              <a:off x="0" y="28744"/>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g393a02a1344_0_353"/>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427" name="Google Shape;427;g393a02a1344_0_353"/>
          <p:cNvSpPr txBox="1"/>
          <p:nvPr/>
        </p:nvSpPr>
        <p:spPr>
          <a:xfrm>
            <a:off x="1028700" y="2025604"/>
            <a:ext cx="14118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7.3 </a:t>
            </a:r>
            <a:r>
              <a:rPr lang="en-US" sz="4262">
                <a:solidFill>
                  <a:srgbClr val="AEAEAE"/>
                </a:solidFill>
                <a:latin typeface="Jost"/>
                <a:ea typeface="Jost"/>
                <a:cs typeface="Jost"/>
                <a:sym typeface="Jost"/>
              </a:rPr>
              <a:t>Foundation Model Pre-training Objectives</a:t>
            </a:r>
            <a:endParaRPr i="0" sz="4262" u="none" cap="none" strike="noStrike">
              <a:solidFill>
                <a:srgbClr val="AEAEAE"/>
              </a:solidFill>
              <a:latin typeface="Jost"/>
              <a:ea typeface="Jost"/>
              <a:cs typeface="Jost"/>
              <a:sym typeface="Jost"/>
            </a:endParaRPr>
          </a:p>
        </p:txBody>
      </p:sp>
      <p:sp>
        <p:nvSpPr>
          <p:cNvPr id="428" name="Google Shape;428;g393a02a1344_0_353"/>
          <p:cNvSpPr txBox="1"/>
          <p:nvPr/>
        </p:nvSpPr>
        <p:spPr>
          <a:xfrm>
            <a:off x="1028700" y="3196475"/>
            <a:ext cx="80379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Data Collection and Filtering</a:t>
            </a:r>
            <a:endParaRPr b="1" sz="4262">
              <a:solidFill>
                <a:srgbClr val="6592E6"/>
              </a:solidFill>
              <a:latin typeface="Jost"/>
              <a:ea typeface="Jost"/>
              <a:cs typeface="Jost"/>
              <a:sym typeface="Jost"/>
            </a:endParaRPr>
          </a:p>
        </p:txBody>
      </p:sp>
      <p:sp>
        <p:nvSpPr>
          <p:cNvPr id="429" name="Google Shape;429;g393a02a1344_0_353"/>
          <p:cNvSpPr txBox="1"/>
          <p:nvPr/>
        </p:nvSpPr>
        <p:spPr>
          <a:xfrm>
            <a:off x="1463225" y="4821231"/>
            <a:ext cx="7865400" cy="30267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Sources include Common Crawl, books, code, academic text.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Heavy deduplication to avoid memorization.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Removal of spam, boilerplate HTML, low-quality text.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Data diversity enables multi-domain reasoning.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p:txBody>
      </p:sp>
      <p:grpSp>
        <p:nvGrpSpPr>
          <p:cNvPr id="430" name="Google Shape;430;g393a02a1344_0_353"/>
          <p:cNvGrpSpPr/>
          <p:nvPr/>
        </p:nvGrpSpPr>
        <p:grpSpPr>
          <a:xfrm>
            <a:off x="1028700" y="1028700"/>
            <a:ext cx="4030368" cy="777115"/>
            <a:chOff x="0" y="0"/>
            <a:chExt cx="1061489" cy="204671"/>
          </a:xfrm>
        </p:grpSpPr>
        <p:sp>
          <p:nvSpPr>
            <p:cNvPr id="431" name="Google Shape;431;g393a02a1344_0_353"/>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432" name="Google Shape;432;g393a02a1344_0_353"/>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433" name="Google Shape;433;g393a02a1344_0_353"/>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grpSp>
        <p:nvGrpSpPr>
          <p:cNvPr id="434" name="Google Shape;434;g393a02a1344_0_353"/>
          <p:cNvGrpSpPr/>
          <p:nvPr/>
        </p:nvGrpSpPr>
        <p:grpSpPr>
          <a:xfrm>
            <a:off x="1028700" y="5747851"/>
            <a:ext cx="259162" cy="400015"/>
            <a:chOff x="0" y="0"/>
            <a:chExt cx="80174" cy="123748"/>
          </a:xfrm>
        </p:grpSpPr>
        <p:sp>
          <p:nvSpPr>
            <p:cNvPr id="435" name="Google Shape;435;g393a02a1344_0_35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36" name="Google Shape;436;g393a02a1344_0_35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37" name="Google Shape;437;g393a02a1344_0_353"/>
          <p:cNvGrpSpPr/>
          <p:nvPr/>
        </p:nvGrpSpPr>
        <p:grpSpPr>
          <a:xfrm>
            <a:off x="1028700" y="7131928"/>
            <a:ext cx="259162" cy="400015"/>
            <a:chOff x="0" y="0"/>
            <a:chExt cx="80174" cy="123748"/>
          </a:xfrm>
        </p:grpSpPr>
        <p:sp>
          <p:nvSpPr>
            <p:cNvPr id="438" name="Google Shape;438;g393a02a1344_0_35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39" name="Google Shape;439;g393a02a1344_0_35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40" name="Google Shape;440;g393a02a1344_0_353"/>
          <p:cNvGrpSpPr/>
          <p:nvPr/>
        </p:nvGrpSpPr>
        <p:grpSpPr>
          <a:xfrm>
            <a:off x="1028700" y="4812034"/>
            <a:ext cx="259146" cy="656100"/>
            <a:chOff x="0" y="0"/>
            <a:chExt cx="80174" cy="123748"/>
          </a:xfrm>
        </p:grpSpPr>
        <p:sp>
          <p:nvSpPr>
            <p:cNvPr id="441" name="Google Shape;441;g393a02a1344_0_35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42" name="Google Shape;442;g393a02a1344_0_35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43" name="Google Shape;443;g393a02a1344_0_353"/>
          <p:cNvGrpSpPr/>
          <p:nvPr/>
        </p:nvGrpSpPr>
        <p:grpSpPr>
          <a:xfrm>
            <a:off x="1028700" y="6427609"/>
            <a:ext cx="259162" cy="400015"/>
            <a:chOff x="0" y="0"/>
            <a:chExt cx="80174" cy="123748"/>
          </a:xfrm>
        </p:grpSpPr>
        <p:sp>
          <p:nvSpPr>
            <p:cNvPr id="444" name="Google Shape;444;g393a02a1344_0_353"/>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45" name="Google Shape;445;g393a02a1344_0_353"/>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446" name="Google Shape;446;g393a02a1344_0_353" title="Title_ From Raw Web Data to High-Quality Training Dataset - visual selection.png"/>
          <p:cNvPicPr preferRelativeResize="0"/>
          <p:nvPr/>
        </p:nvPicPr>
        <p:blipFill rotWithShape="1">
          <a:blip r:embed="rId5">
            <a:alphaModFix/>
          </a:blip>
          <a:srcRect b="10952" l="0" r="0" t="0"/>
          <a:stretch/>
        </p:blipFill>
        <p:spPr>
          <a:xfrm>
            <a:off x="9910352" y="3196475"/>
            <a:ext cx="7348949" cy="4450100"/>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g393a02a1344_0_378"/>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452" name="Google Shape;452;g393a02a1344_0_378"/>
          <p:cNvSpPr txBox="1"/>
          <p:nvPr/>
        </p:nvSpPr>
        <p:spPr>
          <a:xfrm>
            <a:off x="1028700" y="3040600"/>
            <a:ext cx="95613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Causal vs Masked </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Language Modeling</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p:txBody>
      </p:sp>
      <p:sp>
        <p:nvSpPr>
          <p:cNvPr id="453" name="Google Shape;453;g393a02a1344_0_378"/>
          <p:cNvSpPr txBox="1"/>
          <p:nvPr/>
        </p:nvSpPr>
        <p:spPr>
          <a:xfrm>
            <a:off x="1463225" y="6185744"/>
            <a:ext cx="8525100" cy="40356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Causal Language Modeling (CLM) → GPT-style generation.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Predicts the next token left-to-right.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Masked Language Modeling (MLM) → BERT-style understanding.</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Bidirectional context but weaker for generation.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454" name="Google Shape;454;g393a02a1344_0_378"/>
          <p:cNvGrpSpPr/>
          <p:nvPr/>
        </p:nvGrpSpPr>
        <p:grpSpPr>
          <a:xfrm>
            <a:off x="1028700" y="1028700"/>
            <a:ext cx="4030368" cy="777115"/>
            <a:chOff x="0" y="0"/>
            <a:chExt cx="1061489" cy="204671"/>
          </a:xfrm>
        </p:grpSpPr>
        <p:sp>
          <p:nvSpPr>
            <p:cNvPr id="455" name="Google Shape;455;g393a02a1344_0_378"/>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456" name="Google Shape;456;g393a02a1344_0_378"/>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457" name="Google Shape;457;g393a02a1344_0_378"/>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458" name="Google Shape;458;g393a02a1344_0_378"/>
          <p:cNvSpPr txBox="1"/>
          <p:nvPr/>
        </p:nvSpPr>
        <p:spPr>
          <a:xfrm>
            <a:off x="1028700" y="4741419"/>
            <a:ext cx="83202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Different pre-training objectives lead to different model behaviors. Generative and understanding-focused models are trained using distinct learning strategies.</a:t>
            </a:r>
            <a:endParaRPr sz="2731">
              <a:solidFill>
                <a:srgbClr val="AEAEAE"/>
              </a:solidFill>
              <a:latin typeface="Jost"/>
              <a:ea typeface="Jost"/>
              <a:cs typeface="Jost"/>
              <a:sym typeface="Jost"/>
            </a:endParaRPr>
          </a:p>
        </p:txBody>
      </p:sp>
      <p:grpSp>
        <p:nvGrpSpPr>
          <p:cNvPr id="459" name="Google Shape;459;g393a02a1344_0_378"/>
          <p:cNvGrpSpPr/>
          <p:nvPr/>
        </p:nvGrpSpPr>
        <p:grpSpPr>
          <a:xfrm>
            <a:off x="1028700" y="8784948"/>
            <a:ext cx="259162" cy="400015"/>
            <a:chOff x="0" y="0"/>
            <a:chExt cx="80174" cy="123748"/>
          </a:xfrm>
        </p:grpSpPr>
        <p:sp>
          <p:nvSpPr>
            <p:cNvPr id="460" name="Google Shape;460;g393a02a1344_0_37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61" name="Google Shape;461;g393a02a1344_0_37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62" name="Google Shape;462;g393a02a1344_0_378"/>
          <p:cNvGrpSpPr/>
          <p:nvPr/>
        </p:nvGrpSpPr>
        <p:grpSpPr>
          <a:xfrm>
            <a:off x="1028700" y="7161741"/>
            <a:ext cx="259162" cy="400015"/>
            <a:chOff x="0" y="0"/>
            <a:chExt cx="80174" cy="123748"/>
          </a:xfrm>
        </p:grpSpPr>
        <p:sp>
          <p:nvSpPr>
            <p:cNvPr id="463" name="Google Shape;463;g393a02a1344_0_37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64" name="Google Shape;464;g393a02a1344_0_378"/>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65" name="Google Shape;465;g393a02a1344_0_378"/>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7.3 </a:t>
            </a:r>
            <a:r>
              <a:rPr lang="en-US" sz="4262">
                <a:solidFill>
                  <a:srgbClr val="AEAEAE"/>
                </a:solidFill>
                <a:latin typeface="Jost"/>
                <a:ea typeface="Jost"/>
                <a:cs typeface="Jost"/>
                <a:sym typeface="Jost"/>
              </a:rPr>
              <a:t>Foundation Model Pre-training Objectives</a:t>
            </a:r>
            <a:endParaRPr b="1" sz="4262">
              <a:solidFill>
                <a:srgbClr val="AEAEAE"/>
              </a:solidFill>
              <a:latin typeface="Jost"/>
              <a:ea typeface="Jost"/>
              <a:cs typeface="Jost"/>
              <a:sym typeface="Jost"/>
            </a:endParaRPr>
          </a:p>
        </p:txBody>
      </p:sp>
      <p:grpSp>
        <p:nvGrpSpPr>
          <p:cNvPr id="466" name="Google Shape;466;g393a02a1344_0_378"/>
          <p:cNvGrpSpPr/>
          <p:nvPr/>
        </p:nvGrpSpPr>
        <p:grpSpPr>
          <a:xfrm>
            <a:off x="1028700" y="6248990"/>
            <a:ext cx="259146" cy="807715"/>
            <a:chOff x="0" y="0"/>
            <a:chExt cx="80174" cy="152344"/>
          </a:xfrm>
        </p:grpSpPr>
        <p:sp>
          <p:nvSpPr>
            <p:cNvPr id="467" name="Google Shape;467;g393a02a1344_0_37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68" name="Google Shape;468;g393a02a1344_0_378"/>
            <p:cNvSpPr txBox="1"/>
            <p:nvPr/>
          </p:nvSpPr>
          <p:spPr>
            <a:xfrm>
              <a:off x="0" y="28744"/>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469" name="Google Shape;469;g393a02a1344_0_378" title="ChatGPT Image 5 feb 2026, 14_00_07.png"/>
          <p:cNvPicPr preferRelativeResize="0"/>
          <p:nvPr/>
        </p:nvPicPr>
        <p:blipFill>
          <a:blip r:embed="rId5">
            <a:alphaModFix/>
          </a:blip>
          <a:stretch>
            <a:fillRect/>
          </a:stretch>
        </p:blipFill>
        <p:spPr>
          <a:xfrm>
            <a:off x="10382132" y="3100762"/>
            <a:ext cx="6877167" cy="4584788"/>
          </a:xfrm>
          <a:prstGeom prst="rect">
            <a:avLst/>
          </a:prstGeom>
          <a:noFill/>
          <a:ln cap="flat" cmpd="sng" w="76200">
            <a:solidFill>
              <a:srgbClr val="6592E6"/>
            </a:solidFill>
            <a:prstDash val="solid"/>
            <a:round/>
            <a:headEnd len="sm" w="sm" type="none"/>
            <a:tailEnd len="sm" w="sm" type="none"/>
          </a:ln>
        </p:spPr>
      </p:pic>
      <p:grpSp>
        <p:nvGrpSpPr>
          <p:cNvPr id="470" name="Google Shape;470;g393a02a1344_0_378"/>
          <p:cNvGrpSpPr/>
          <p:nvPr/>
        </p:nvGrpSpPr>
        <p:grpSpPr>
          <a:xfrm>
            <a:off x="1028700" y="7816515"/>
            <a:ext cx="259146" cy="807715"/>
            <a:chOff x="0" y="0"/>
            <a:chExt cx="80174" cy="152344"/>
          </a:xfrm>
        </p:grpSpPr>
        <p:sp>
          <p:nvSpPr>
            <p:cNvPr id="471" name="Google Shape;471;g393a02a1344_0_378"/>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72" name="Google Shape;472;g393a02a1344_0_378"/>
            <p:cNvSpPr txBox="1"/>
            <p:nvPr/>
          </p:nvSpPr>
          <p:spPr>
            <a:xfrm>
              <a:off x="0" y="28744"/>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g393a02a1344_0_407"/>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478" name="Google Shape;478;g393a02a1344_0_407"/>
          <p:cNvSpPr txBox="1"/>
          <p:nvPr/>
        </p:nvSpPr>
        <p:spPr>
          <a:xfrm>
            <a:off x="1028700" y="2963425"/>
            <a:ext cx="9561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Tokenization as a Bottleneck</a:t>
            </a:r>
            <a:endParaRPr b="1" sz="4262">
              <a:solidFill>
                <a:srgbClr val="6592E6"/>
              </a:solidFill>
              <a:latin typeface="Jost"/>
              <a:ea typeface="Jost"/>
              <a:cs typeface="Jost"/>
              <a:sym typeface="Jost"/>
            </a:endParaRPr>
          </a:p>
        </p:txBody>
      </p:sp>
      <p:sp>
        <p:nvSpPr>
          <p:cNvPr id="479" name="Google Shape;479;g393a02a1344_0_407"/>
          <p:cNvSpPr txBox="1"/>
          <p:nvPr/>
        </p:nvSpPr>
        <p:spPr>
          <a:xfrm>
            <a:off x="1463225" y="5576144"/>
            <a:ext cx="8525100" cy="40356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Tokenizer determines information density.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Modern models use BPE / SentencePiece.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Large vocabularies (50k–128k tokens) reduce fragmentation.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Token efficiency directly impacts context window usage.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480" name="Google Shape;480;g393a02a1344_0_407"/>
          <p:cNvGrpSpPr/>
          <p:nvPr/>
        </p:nvGrpSpPr>
        <p:grpSpPr>
          <a:xfrm>
            <a:off x="1028700" y="1028700"/>
            <a:ext cx="4030368" cy="777115"/>
            <a:chOff x="0" y="0"/>
            <a:chExt cx="1061489" cy="204671"/>
          </a:xfrm>
        </p:grpSpPr>
        <p:sp>
          <p:nvSpPr>
            <p:cNvPr id="481" name="Google Shape;481;g393a02a1344_0_407"/>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482" name="Google Shape;482;g393a02a1344_0_407"/>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483" name="Google Shape;483;g393a02a1344_0_407"/>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484" name="Google Shape;484;g393a02a1344_0_407"/>
          <p:cNvSpPr txBox="1"/>
          <p:nvPr/>
        </p:nvSpPr>
        <p:spPr>
          <a:xfrm>
            <a:off x="1028700" y="4131825"/>
            <a:ext cx="74550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The tokenizer defines how efficiently the model perceives text. Poor tokenization wastes context and limits reasoning capacity.</a:t>
            </a:r>
            <a:endParaRPr sz="2731">
              <a:solidFill>
                <a:srgbClr val="AEAEAE"/>
              </a:solidFill>
              <a:latin typeface="Jost"/>
              <a:ea typeface="Jost"/>
              <a:cs typeface="Jost"/>
              <a:sym typeface="Jost"/>
            </a:endParaRPr>
          </a:p>
        </p:txBody>
      </p:sp>
      <p:grpSp>
        <p:nvGrpSpPr>
          <p:cNvPr id="485" name="Google Shape;485;g393a02a1344_0_407"/>
          <p:cNvGrpSpPr/>
          <p:nvPr/>
        </p:nvGrpSpPr>
        <p:grpSpPr>
          <a:xfrm>
            <a:off x="1028700" y="7868223"/>
            <a:ext cx="259162" cy="400015"/>
            <a:chOff x="0" y="0"/>
            <a:chExt cx="80174" cy="123748"/>
          </a:xfrm>
        </p:grpSpPr>
        <p:sp>
          <p:nvSpPr>
            <p:cNvPr id="486" name="Google Shape;486;g393a02a1344_0_407"/>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87" name="Google Shape;487;g393a02a1344_0_407"/>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88" name="Google Shape;488;g393a02a1344_0_407"/>
          <p:cNvGrpSpPr/>
          <p:nvPr/>
        </p:nvGrpSpPr>
        <p:grpSpPr>
          <a:xfrm>
            <a:off x="1028700" y="5551541"/>
            <a:ext cx="259162" cy="400015"/>
            <a:chOff x="0" y="0"/>
            <a:chExt cx="80174" cy="123748"/>
          </a:xfrm>
        </p:grpSpPr>
        <p:sp>
          <p:nvSpPr>
            <p:cNvPr id="489" name="Google Shape;489;g393a02a1344_0_407"/>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90" name="Google Shape;490;g393a02a1344_0_407"/>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91" name="Google Shape;491;g393a02a1344_0_407"/>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7.3 </a:t>
            </a:r>
            <a:r>
              <a:rPr lang="en-US" sz="4262">
                <a:solidFill>
                  <a:srgbClr val="AEAEAE"/>
                </a:solidFill>
                <a:latin typeface="Jost"/>
                <a:ea typeface="Jost"/>
                <a:cs typeface="Jost"/>
                <a:sym typeface="Jost"/>
              </a:rPr>
              <a:t>Foundation Model Pre-training Objectives</a:t>
            </a:r>
            <a:endParaRPr b="1" sz="4262">
              <a:solidFill>
                <a:srgbClr val="AEAEAE"/>
              </a:solidFill>
              <a:latin typeface="Jost"/>
              <a:ea typeface="Jost"/>
              <a:cs typeface="Jost"/>
              <a:sym typeface="Jost"/>
            </a:endParaRPr>
          </a:p>
        </p:txBody>
      </p:sp>
      <p:grpSp>
        <p:nvGrpSpPr>
          <p:cNvPr id="492" name="Google Shape;492;g393a02a1344_0_407"/>
          <p:cNvGrpSpPr/>
          <p:nvPr/>
        </p:nvGrpSpPr>
        <p:grpSpPr>
          <a:xfrm>
            <a:off x="1028700" y="6880609"/>
            <a:ext cx="259146" cy="656603"/>
            <a:chOff x="0" y="0"/>
            <a:chExt cx="80174" cy="123843"/>
          </a:xfrm>
        </p:grpSpPr>
        <p:sp>
          <p:nvSpPr>
            <p:cNvPr id="493" name="Google Shape;493;g393a02a1344_0_407"/>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94" name="Google Shape;494;g393a02a1344_0_407"/>
            <p:cNvSpPr txBox="1"/>
            <p:nvPr/>
          </p:nvSpPr>
          <p:spPr>
            <a:xfrm>
              <a:off x="0" y="28743"/>
              <a:ext cx="80100" cy="951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495" name="Google Shape;495;g393a02a1344_0_407" title="Title_ Character-Level vs Subword Tokenization - visual selection.png"/>
          <p:cNvPicPr preferRelativeResize="0"/>
          <p:nvPr/>
        </p:nvPicPr>
        <p:blipFill rotWithShape="1">
          <a:blip r:embed="rId5">
            <a:alphaModFix/>
          </a:blip>
          <a:srcRect b="10313" l="1847" r="2412" t="0"/>
          <a:stretch/>
        </p:blipFill>
        <p:spPr>
          <a:xfrm>
            <a:off x="9348900" y="3111024"/>
            <a:ext cx="7910401" cy="3841126"/>
          </a:xfrm>
          <a:prstGeom prst="rect">
            <a:avLst/>
          </a:prstGeom>
          <a:noFill/>
          <a:ln cap="flat" cmpd="sng" w="76200">
            <a:solidFill>
              <a:srgbClr val="6592E6"/>
            </a:solidFill>
            <a:prstDash val="solid"/>
            <a:round/>
            <a:headEnd len="sm" w="sm" type="none"/>
            <a:tailEnd len="sm" w="sm" type="none"/>
          </a:ln>
        </p:spPr>
      </p:pic>
      <p:grpSp>
        <p:nvGrpSpPr>
          <p:cNvPr id="496" name="Google Shape;496;g393a02a1344_0_407"/>
          <p:cNvGrpSpPr/>
          <p:nvPr/>
        </p:nvGrpSpPr>
        <p:grpSpPr>
          <a:xfrm>
            <a:off x="1028700" y="6187866"/>
            <a:ext cx="259162" cy="400015"/>
            <a:chOff x="0" y="0"/>
            <a:chExt cx="80174" cy="123748"/>
          </a:xfrm>
        </p:grpSpPr>
        <p:sp>
          <p:nvSpPr>
            <p:cNvPr id="497" name="Google Shape;497;g393a02a1344_0_407"/>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498" name="Google Shape;498;g393a02a1344_0_407"/>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g393a02a1344_0_438"/>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grpSp>
        <p:nvGrpSpPr>
          <p:cNvPr id="504" name="Google Shape;504;g393a02a1344_0_438"/>
          <p:cNvGrpSpPr/>
          <p:nvPr/>
        </p:nvGrpSpPr>
        <p:grpSpPr>
          <a:xfrm>
            <a:off x="1259561" y="710571"/>
            <a:ext cx="3086120" cy="600290"/>
            <a:chOff x="0" y="-9525"/>
            <a:chExt cx="812800" cy="158100"/>
          </a:xfrm>
        </p:grpSpPr>
        <p:sp>
          <p:nvSpPr>
            <p:cNvPr id="505" name="Google Shape;505;g393a02a1344_0_438"/>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506" name="Google Shape;506;g393a02a1344_0_438"/>
            <p:cNvSpPr txBox="1"/>
            <p:nvPr/>
          </p:nvSpPr>
          <p:spPr>
            <a:xfrm>
              <a:off x="0" y="-9525"/>
              <a:ext cx="812700" cy="158100"/>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507" name="Google Shape;507;g393a02a1344_0_438"/>
          <p:cNvGrpSpPr/>
          <p:nvPr/>
        </p:nvGrpSpPr>
        <p:grpSpPr>
          <a:xfrm>
            <a:off x="1160375" y="4076950"/>
            <a:ext cx="10934216" cy="720993"/>
            <a:chOff x="0" y="-9525"/>
            <a:chExt cx="2404287" cy="189900"/>
          </a:xfrm>
        </p:grpSpPr>
        <p:sp>
          <p:nvSpPr>
            <p:cNvPr id="508" name="Google Shape;508;g393a02a1344_0_438"/>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509" name="Google Shape;509;g393a02a1344_0_438"/>
            <p:cNvSpPr txBox="1"/>
            <p:nvPr/>
          </p:nvSpPr>
          <p:spPr>
            <a:xfrm>
              <a:off x="0" y="-9525"/>
              <a:ext cx="2404200" cy="189900"/>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10" name="Google Shape;510;g393a02a1344_0_438"/>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7.1</a:t>
            </a:r>
            <a:r>
              <a:rPr lang="en-US" sz="4123">
                <a:solidFill>
                  <a:srgbClr val="AEAEAE"/>
                </a:solidFill>
                <a:latin typeface="Jost"/>
                <a:ea typeface="Jost"/>
                <a:cs typeface="Jost"/>
                <a:sym typeface="Jost"/>
              </a:rPr>
              <a:t> Introduction to Large Language Models (LLMs)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7.2 </a:t>
            </a:r>
            <a:r>
              <a:rPr lang="en-US" sz="4123">
                <a:solidFill>
                  <a:srgbClr val="AEAEAE"/>
                </a:solidFill>
                <a:latin typeface="Jost"/>
                <a:ea typeface="Jost"/>
                <a:cs typeface="Jost"/>
                <a:sym typeface="Jost"/>
              </a:rPr>
              <a:t>LLM Scaling Laws: The Economics of AI</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7.3</a:t>
            </a:r>
            <a:r>
              <a:rPr lang="en-US" sz="4123">
                <a:solidFill>
                  <a:srgbClr val="AEAEAE"/>
                </a:solidFill>
                <a:latin typeface="Jost"/>
                <a:ea typeface="Jost"/>
                <a:cs typeface="Jost"/>
                <a:sym typeface="Jost"/>
              </a:rPr>
              <a:t> Foundation Model Pre-training Objectives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7.4</a:t>
            </a:r>
            <a:r>
              <a:rPr b="1" lang="en-US" sz="4123">
                <a:solidFill>
                  <a:schemeClr val="lt1"/>
                </a:solidFill>
                <a:latin typeface="Jost"/>
                <a:ea typeface="Jost"/>
                <a:cs typeface="Jost"/>
                <a:sym typeface="Jost"/>
              </a:rPr>
              <a:t> Adaptation: Fine-Tuning and Alignment</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7.5 </a:t>
            </a:r>
            <a:r>
              <a:rPr lang="en-US" sz="4123">
                <a:solidFill>
                  <a:srgbClr val="AEAEAE"/>
                </a:solidFill>
                <a:latin typeface="Jost"/>
                <a:ea typeface="Jost"/>
                <a:cs typeface="Jost"/>
                <a:sym typeface="Jost"/>
              </a:rPr>
              <a:t>Understanding and Extending Context Length</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7.6</a:t>
            </a:r>
            <a:r>
              <a:rPr lang="en-US" sz="4123">
                <a:solidFill>
                  <a:srgbClr val="AEAEAE"/>
                </a:solidFill>
                <a:latin typeface="Jost"/>
                <a:ea typeface="Jost"/>
                <a:cs typeface="Jost"/>
                <a:sym typeface="Jost"/>
              </a:rPr>
              <a:t> Summary and Key Takeaways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511" name="Google Shape;511;g393a02a1344_0_438"/>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512" name="Google Shape;512;g393a02a1344_0_438"/>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g393a02a1344_0_45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518" name="Google Shape;518;g393a02a1344_0_451"/>
          <p:cNvSpPr txBox="1"/>
          <p:nvPr/>
        </p:nvSpPr>
        <p:spPr>
          <a:xfrm>
            <a:off x="1028700" y="2963425"/>
            <a:ext cx="9561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From Pre-training to Fine-Tuning</a:t>
            </a:r>
            <a:endParaRPr b="1" sz="4262">
              <a:solidFill>
                <a:srgbClr val="6592E6"/>
              </a:solidFill>
              <a:latin typeface="Jost"/>
              <a:ea typeface="Jost"/>
              <a:cs typeface="Jost"/>
              <a:sym typeface="Jost"/>
            </a:endParaRPr>
          </a:p>
        </p:txBody>
      </p:sp>
      <p:sp>
        <p:nvSpPr>
          <p:cNvPr id="519" name="Google Shape;519;g393a02a1344_0_451"/>
          <p:cNvSpPr txBox="1"/>
          <p:nvPr/>
        </p:nvSpPr>
        <p:spPr>
          <a:xfrm>
            <a:off x="1463225" y="5576150"/>
            <a:ext cx="9314700" cy="40356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Pre-trained models are generic text completers.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Fine-tuning teaches how to respond, not what language is.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Uses curated instruction–response pairs.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Converts raw capability into practical utility.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520" name="Google Shape;520;g393a02a1344_0_451"/>
          <p:cNvGrpSpPr/>
          <p:nvPr/>
        </p:nvGrpSpPr>
        <p:grpSpPr>
          <a:xfrm>
            <a:off x="1028700" y="1028700"/>
            <a:ext cx="4030368" cy="777115"/>
            <a:chOff x="0" y="0"/>
            <a:chExt cx="1061489" cy="204671"/>
          </a:xfrm>
        </p:grpSpPr>
        <p:sp>
          <p:nvSpPr>
            <p:cNvPr id="521" name="Google Shape;521;g393a02a1344_0_45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522" name="Google Shape;522;g393a02a1344_0_45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523" name="Google Shape;523;g393a02a1344_0_45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524" name="Google Shape;524;g393a02a1344_0_451"/>
          <p:cNvSpPr txBox="1"/>
          <p:nvPr/>
        </p:nvSpPr>
        <p:spPr>
          <a:xfrm>
            <a:off x="1028700" y="4131825"/>
            <a:ext cx="80193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Pre-training gives models knowledge, but not behavior. Fine-tuning is the phase where a base model is transformed into a useful, task-oriented assistant.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525" name="Google Shape;525;g393a02a1344_0_451"/>
          <p:cNvGrpSpPr/>
          <p:nvPr/>
        </p:nvGrpSpPr>
        <p:grpSpPr>
          <a:xfrm>
            <a:off x="1028700" y="7529704"/>
            <a:ext cx="259162" cy="400015"/>
            <a:chOff x="0" y="0"/>
            <a:chExt cx="80174" cy="123748"/>
          </a:xfrm>
        </p:grpSpPr>
        <p:sp>
          <p:nvSpPr>
            <p:cNvPr id="526" name="Google Shape;526;g393a02a1344_0_45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27" name="Google Shape;527;g393a02a1344_0_45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28" name="Google Shape;528;g393a02a1344_0_451"/>
          <p:cNvGrpSpPr/>
          <p:nvPr/>
        </p:nvGrpSpPr>
        <p:grpSpPr>
          <a:xfrm>
            <a:off x="1028700" y="5551541"/>
            <a:ext cx="259162" cy="400015"/>
            <a:chOff x="0" y="0"/>
            <a:chExt cx="80174" cy="123748"/>
          </a:xfrm>
        </p:grpSpPr>
        <p:sp>
          <p:nvSpPr>
            <p:cNvPr id="529" name="Google Shape;529;g393a02a1344_0_45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30" name="Google Shape;530;g393a02a1344_0_45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31" name="Google Shape;531;g393a02a1344_0_451"/>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7.4 </a:t>
            </a:r>
            <a:r>
              <a:rPr lang="en-US" sz="4262">
                <a:solidFill>
                  <a:srgbClr val="AEAEAE"/>
                </a:solidFill>
                <a:latin typeface="Jost"/>
                <a:ea typeface="Jost"/>
                <a:cs typeface="Jost"/>
                <a:sym typeface="Jost"/>
              </a:rPr>
              <a:t>Adaptation: Fine-Tuning and Alignment</a:t>
            </a:r>
            <a:endParaRPr sz="4262">
              <a:solidFill>
                <a:srgbClr val="AEAEAE"/>
              </a:solidFill>
              <a:latin typeface="Jost"/>
              <a:ea typeface="Jost"/>
              <a:cs typeface="Jost"/>
              <a:sym typeface="Jost"/>
            </a:endParaRPr>
          </a:p>
        </p:txBody>
      </p:sp>
      <p:grpSp>
        <p:nvGrpSpPr>
          <p:cNvPr id="532" name="Google Shape;532;g393a02a1344_0_451"/>
          <p:cNvGrpSpPr/>
          <p:nvPr/>
        </p:nvGrpSpPr>
        <p:grpSpPr>
          <a:xfrm>
            <a:off x="1028700" y="6187866"/>
            <a:ext cx="259162" cy="400015"/>
            <a:chOff x="0" y="0"/>
            <a:chExt cx="80174" cy="123748"/>
          </a:xfrm>
        </p:grpSpPr>
        <p:sp>
          <p:nvSpPr>
            <p:cNvPr id="533" name="Google Shape;533;g393a02a1344_0_45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34" name="Google Shape;534;g393a02a1344_0_45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535" name="Google Shape;535;g393a02a1344_0_451" title="ChatGPT Image 5 feb 2026, 14_03_11.png"/>
          <p:cNvPicPr preferRelativeResize="0"/>
          <p:nvPr/>
        </p:nvPicPr>
        <p:blipFill>
          <a:blip r:embed="rId5">
            <a:alphaModFix/>
          </a:blip>
          <a:stretch>
            <a:fillRect/>
          </a:stretch>
        </p:blipFill>
        <p:spPr>
          <a:xfrm>
            <a:off x="10778048" y="3134900"/>
            <a:ext cx="6481252" cy="4320850"/>
          </a:xfrm>
          <a:prstGeom prst="rect">
            <a:avLst/>
          </a:prstGeom>
          <a:noFill/>
          <a:ln cap="flat" cmpd="sng" w="76200">
            <a:solidFill>
              <a:srgbClr val="6592E6"/>
            </a:solidFill>
            <a:prstDash val="solid"/>
            <a:round/>
            <a:headEnd len="sm" w="sm" type="none"/>
            <a:tailEnd len="sm" w="sm" type="none"/>
          </a:ln>
        </p:spPr>
      </p:pic>
      <p:grpSp>
        <p:nvGrpSpPr>
          <p:cNvPr id="536" name="Google Shape;536;g393a02a1344_0_451"/>
          <p:cNvGrpSpPr/>
          <p:nvPr/>
        </p:nvGrpSpPr>
        <p:grpSpPr>
          <a:xfrm>
            <a:off x="1028700" y="6861810"/>
            <a:ext cx="259162" cy="400015"/>
            <a:chOff x="0" y="0"/>
            <a:chExt cx="80174" cy="123748"/>
          </a:xfrm>
        </p:grpSpPr>
        <p:sp>
          <p:nvSpPr>
            <p:cNvPr id="537" name="Google Shape;537;g393a02a1344_0_45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38" name="Google Shape;538;g393a02a1344_0_45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g393a02a1344_0_480"/>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544" name="Google Shape;544;g393a02a1344_0_480"/>
          <p:cNvSpPr txBox="1"/>
          <p:nvPr/>
        </p:nvSpPr>
        <p:spPr>
          <a:xfrm>
            <a:off x="1028700" y="2963425"/>
            <a:ext cx="95613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Instruction Tuning and RLHF</a:t>
            </a:r>
            <a:endParaRPr b="1" sz="4262">
              <a:solidFill>
                <a:srgbClr val="6592E6"/>
              </a:solidFill>
              <a:latin typeface="Jost"/>
              <a:ea typeface="Jost"/>
              <a:cs typeface="Jost"/>
              <a:sym typeface="Jost"/>
            </a:endParaRPr>
          </a:p>
        </p:txBody>
      </p:sp>
      <p:sp>
        <p:nvSpPr>
          <p:cNvPr id="545" name="Google Shape;545;g393a02a1344_0_480"/>
          <p:cNvSpPr txBox="1"/>
          <p:nvPr/>
        </p:nvSpPr>
        <p:spPr>
          <a:xfrm>
            <a:off x="1463225" y="5576150"/>
            <a:ext cx="8186400" cy="4371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SFT (Supervised Fine-Tuning) teaches response format.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RLHF aligns outputs with human preferences.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Humans rank answers → Reward Model is trained.</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Policy optimized to be helpful, honest, and harmless.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546" name="Google Shape;546;g393a02a1344_0_480"/>
          <p:cNvGrpSpPr/>
          <p:nvPr/>
        </p:nvGrpSpPr>
        <p:grpSpPr>
          <a:xfrm>
            <a:off x="1028700" y="1028700"/>
            <a:ext cx="4030368" cy="777115"/>
            <a:chOff x="0" y="0"/>
            <a:chExt cx="1061489" cy="204671"/>
          </a:xfrm>
        </p:grpSpPr>
        <p:sp>
          <p:nvSpPr>
            <p:cNvPr id="547" name="Google Shape;547;g393a02a1344_0_480"/>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548" name="Google Shape;548;g393a02a1344_0_480"/>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549" name="Google Shape;549;g393a02a1344_0_480"/>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550" name="Google Shape;550;g393a02a1344_0_480"/>
          <p:cNvSpPr txBox="1"/>
          <p:nvPr/>
        </p:nvSpPr>
        <p:spPr>
          <a:xfrm>
            <a:off x="1028700" y="4131825"/>
            <a:ext cx="80193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Instruction tuning and human feedback align model outputs with human expectations. This step shapes tone, usefulness, and safety.</a:t>
            </a:r>
            <a:endParaRPr sz="2731">
              <a:solidFill>
                <a:srgbClr val="AEAEAE"/>
              </a:solidFill>
              <a:latin typeface="Jost"/>
              <a:ea typeface="Jost"/>
              <a:cs typeface="Jost"/>
              <a:sym typeface="Jost"/>
            </a:endParaRPr>
          </a:p>
        </p:txBody>
      </p:sp>
      <p:grpSp>
        <p:nvGrpSpPr>
          <p:cNvPr id="551" name="Google Shape;551;g393a02a1344_0_480"/>
          <p:cNvGrpSpPr/>
          <p:nvPr/>
        </p:nvGrpSpPr>
        <p:grpSpPr>
          <a:xfrm>
            <a:off x="1028700" y="7529704"/>
            <a:ext cx="259162" cy="400015"/>
            <a:chOff x="0" y="0"/>
            <a:chExt cx="80174" cy="123748"/>
          </a:xfrm>
        </p:grpSpPr>
        <p:sp>
          <p:nvSpPr>
            <p:cNvPr id="552" name="Google Shape;552;g393a02a1344_0_48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53" name="Google Shape;553;g393a02a1344_0_48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54" name="Google Shape;554;g393a02a1344_0_480"/>
          <p:cNvGrpSpPr/>
          <p:nvPr/>
        </p:nvGrpSpPr>
        <p:grpSpPr>
          <a:xfrm>
            <a:off x="1028700" y="5551541"/>
            <a:ext cx="259162" cy="400015"/>
            <a:chOff x="0" y="0"/>
            <a:chExt cx="80174" cy="123748"/>
          </a:xfrm>
        </p:grpSpPr>
        <p:sp>
          <p:nvSpPr>
            <p:cNvPr id="555" name="Google Shape;555;g393a02a1344_0_48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56" name="Google Shape;556;g393a02a1344_0_48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57" name="Google Shape;557;g393a02a1344_0_480"/>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7.4 </a:t>
            </a:r>
            <a:r>
              <a:rPr lang="en-US" sz="4262">
                <a:solidFill>
                  <a:srgbClr val="AEAEAE"/>
                </a:solidFill>
                <a:latin typeface="Jost"/>
                <a:ea typeface="Jost"/>
                <a:cs typeface="Jost"/>
                <a:sym typeface="Jost"/>
              </a:rPr>
              <a:t>Adaptation</a:t>
            </a:r>
            <a:r>
              <a:rPr b="1" lang="en-US" sz="4262">
                <a:solidFill>
                  <a:srgbClr val="AEAEAE"/>
                </a:solidFill>
                <a:latin typeface="Jost"/>
                <a:ea typeface="Jost"/>
                <a:cs typeface="Jost"/>
                <a:sym typeface="Jost"/>
              </a:rPr>
              <a:t>: </a:t>
            </a:r>
            <a:r>
              <a:rPr lang="en-US" sz="4262">
                <a:solidFill>
                  <a:srgbClr val="AEAEAE"/>
                </a:solidFill>
                <a:latin typeface="Jost"/>
                <a:ea typeface="Jost"/>
                <a:cs typeface="Jost"/>
                <a:sym typeface="Jost"/>
              </a:rPr>
              <a:t>Fine-Tuning and Alignment</a:t>
            </a:r>
            <a:endParaRPr sz="4262">
              <a:solidFill>
                <a:srgbClr val="AEAEAE"/>
              </a:solidFill>
              <a:latin typeface="Jost"/>
              <a:ea typeface="Jost"/>
              <a:cs typeface="Jost"/>
              <a:sym typeface="Jost"/>
            </a:endParaRPr>
          </a:p>
        </p:txBody>
      </p:sp>
      <p:grpSp>
        <p:nvGrpSpPr>
          <p:cNvPr id="558" name="Google Shape;558;g393a02a1344_0_480"/>
          <p:cNvGrpSpPr/>
          <p:nvPr/>
        </p:nvGrpSpPr>
        <p:grpSpPr>
          <a:xfrm>
            <a:off x="1028700" y="6187866"/>
            <a:ext cx="259162" cy="400015"/>
            <a:chOff x="0" y="0"/>
            <a:chExt cx="80174" cy="123748"/>
          </a:xfrm>
        </p:grpSpPr>
        <p:sp>
          <p:nvSpPr>
            <p:cNvPr id="559" name="Google Shape;559;g393a02a1344_0_48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60" name="Google Shape;560;g393a02a1344_0_48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61" name="Google Shape;561;g393a02a1344_0_480"/>
          <p:cNvGrpSpPr/>
          <p:nvPr/>
        </p:nvGrpSpPr>
        <p:grpSpPr>
          <a:xfrm>
            <a:off x="1028700" y="6861810"/>
            <a:ext cx="259162" cy="400015"/>
            <a:chOff x="0" y="0"/>
            <a:chExt cx="80174" cy="123748"/>
          </a:xfrm>
        </p:grpSpPr>
        <p:sp>
          <p:nvSpPr>
            <p:cNvPr id="562" name="Google Shape;562;g393a02a1344_0_48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63" name="Google Shape;563;g393a02a1344_0_48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564" name="Google Shape;564;g393a02a1344_0_480" title="Title_ RLHF_ Reinforcement Learning from Human Feedback - visual selection.png"/>
          <p:cNvPicPr preferRelativeResize="0"/>
          <p:nvPr/>
        </p:nvPicPr>
        <p:blipFill rotWithShape="1">
          <a:blip r:embed="rId5">
            <a:alphaModFix/>
          </a:blip>
          <a:srcRect b="9390" l="0" r="0" t="5321"/>
          <a:stretch/>
        </p:blipFill>
        <p:spPr>
          <a:xfrm>
            <a:off x="12024466" y="3088813"/>
            <a:ext cx="5234834" cy="4565862"/>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g393a02a1344_0_506"/>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570" name="Google Shape;570;g393a02a1344_0_506"/>
          <p:cNvSpPr txBox="1"/>
          <p:nvPr/>
        </p:nvSpPr>
        <p:spPr>
          <a:xfrm>
            <a:off x="1028700" y="2963425"/>
            <a:ext cx="100128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Parameter-Efficient Fine-Tuning (PEFT)</a:t>
            </a:r>
            <a:endParaRPr b="1" sz="4262">
              <a:solidFill>
                <a:srgbClr val="6592E6"/>
              </a:solidFill>
              <a:latin typeface="Jost"/>
              <a:ea typeface="Jost"/>
              <a:cs typeface="Jost"/>
              <a:sym typeface="Jost"/>
            </a:endParaRPr>
          </a:p>
        </p:txBody>
      </p:sp>
      <p:sp>
        <p:nvSpPr>
          <p:cNvPr id="571" name="Google Shape;571;g393a02a1344_0_506"/>
          <p:cNvSpPr txBox="1"/>
          <p:nvPr/>
        </p:nvSpPr>
        <p:spPr>
          <a:xfrm>
            <a:off x="1463225" y="5576150"/>
            <a:ext cx="8506200" cy="4371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Base model weights remain frozen.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Only a small % of parameters are trained.</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LoRA is the dominant PEFT technique.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Enables fast, low-cost domain adaptation.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572" name="Google Shape;572;g393a02a1344_0_506"/>
          <p:cNvGrpSpPr/>
          <p:nvPr/>
        </p:nvGrpSpPr>
        <p:grpSpPr>
          <a:xfrm>
            <a:off x="1028700" y="1028700"/>
            <a:ext cx="4030368" cy="777115"/>
            <a:chOff x="0" y="0"/>
            <a:chExt cx="1061489" cy="204671"/>
          </a:xfrm>
        </p:grpSpPr>
        <p:sp>
          <p:nvSpPr>
            <p:cNvPr id="573" name="Google Shape;573;g393a02a1344_0_506"/>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574" name="Google Shape;574;g393a02a1344_0_506"/>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575" name="Google Shape;575;g393a02a1344_0_506"/>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576" name="Google Shape;576;g393a02a1344_0_506"/>
          <p:cNvSpPr txBox="1"/>
          <p:nvPr/>
        </p:nvSpPr>
        <p:spPr>
          <a:xfrm>
            <a:off x="1028700" y="4131825"/>
            <a:ext cx="8019300" cy="13452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As models scale, full fine-tuning becomes impractical. PEFT enables specialization with minimal compute and memory.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577" name="Google Shape;577;g393a02a1344_0_506"/>
          <p:cNvGrpSpPr/>
          <p:nvPr/>
        </p:nvGrpSpPr>
        <p:grpSpPr>
          <a:xfrm>
            <a:off x="1028700" y="7529704"/>
            <a:ext cx="259162" cy="400015"/>
            <a:chOff x="0" y="0"/>
            <a:chExt cx="80174" cy="123748"/>
          </a:xfrm>
        </p:grpSpPr>
        <p:sp>
          <p:nvSpPr>
            <p:cNvPr id="578" name="Google Shape;578;g393a02a1344_0_50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79" name="Google Shape;579;g393a02a1344_0_50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80" name="Google Shape;580;g393a02a1344_0_506"/>
          <p:cNvGrpSpPr/>
          <p:nvPr/>
        </p:nvGrpSpPr>
        <p:grpSpPr>
          <a:xfrm>
            <a:off x="1028700" y="5551541"/>
            <a:ext cx="259162" cy="400015"/>
            <a:chOff x="0" y="0"/>
            <a:chExt cx="80174" cy="123748"/>
          </a:xfrm>
        </p:grpSpPr>
        <p:sp>
          <p:nvSpPr>
            <p:cNvPr id="581" name="Google Shape;581;g393a02a1344_0_50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82" name="Google Shape;582;g393a02a1344_0_50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83" name="Google Shape;583;g393a02a1344_0_506"/>
          <p:cNvSpPr txBox="1"/>
          <p:nvPr/>
        </p:nvSpPr>
        <p:spPr>
          <a:xfrm>
            <a:off x="1028700" y="2025600"/>
            <a:ext cx="129087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7.4 </a:t>
            </a:r>
            <a:r>
              <a:rPr lang="en-US" sz="4262">
                <a:solidFill>
                  <a:srgbClr val="AEAEAE"/>
                </a:solidFill>
                <a:latin typeface="Jost"/>
                <a:ea typeface="Jost"/>
                <a:cs typeface="Jost"/>
                <a:sym typeface="Jost"/>
              </a:rPr>
              <a:t>Adaptation</a:t>
            </a:r>
            <a:r>
              <a:rPr b="1" lang="en-US" sz="4262">
                <a:solidFill>
                  <a:srgbClr val="AEAEAE"/>
                </a:solidFill>
                <a:latin typeface="Jost"/>
                <a:ea typeface="Jost"/>
                <a:cs typeface="Jost"/>
                <a:sym typeface="Jost"/>
              </a:rPr>
              <a:t>: </a:t>
            </a:r>
            <a:r>
              <a:rPr lang="en-US" sz="4262">
                <a:solidFill>
                  <a:srgbClr val="AEAEAE"/>
                </a:solidFill>
                <a:latin typeface="Jost"/>
                <a:ea typeface="Jost"/>
                <a:cs typeface="Jost"/>
                <a:sym typeface="Jost"/>
              </a:rPr>
              <a:t>Fine-Tuning and Alignment</a:t>
            </a:r>
            <a:endParaRPr sz="4262">
              <a:solidFill>
                <a:srgbClr val="AEAEAE"/>
              </a:solidFill>
              <a:latin typeface="Jost"/>
              <a:ea typeface="Jost"/>
              <a:cs typeface="Jost"/>
              <a:sym typeface="Jost"/>
            </a:endParaRPr>
          </a:p>
        </p:txBody>
      </p:sp>
      <p:grpSp>
        <p:nvGrpSpPr>
          <p:cNvPr id="584" name="Google Shape;584;g393a02a1344_0_506"/>
          <p:cNvGrpSpPr/>
          <p:nvPr/>
        </p:nvGrpSpPr>
        <p:grpSpPr>
          <a:xfrm>
            <a:off x="1028700" y="6187866"/>
            <a:ext cx="259162" cy="400015"/>
            <a:chOff x="0" y="0"/>
            <a:chExt cx="80174" cy="123748"/>
          </a:xfrm>
        </p:grpSpPr>
        <p:sp>
          <p:nvSpPr>
            <p:cNvPr id="585" name="Google Shape;585;g393a02a1344_0_50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86" name="Google Shape;586;g393a02a1344_0_50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87" name="Google Shape;587;g393a02a1344_0_506"/>
          <p:cNvGrpSpPr/>
          <p:nvPr/>
        </p:nvGrpSpPr>
        <p:grpSpPr>
          <a:xfrm>
            <a:off x="1028700" y="6861810"/>
            <a:ext cx="259162" cy="400015"/>
            <a:chOff x="0" y="0"/>
            <a:chExt cx="80174" cy="123748"/>
          </a:xfrm>
        </p:grpSpPr>
        <p:sp>
          <p:nvSpPr>
            <p:cNvPr id="588" name="Google Shape;588;g393a02a1344_0_50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589" name="Google Shape;589;g393a02a1344_0_50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590" name="Google Shape;590;g393a02a1344_0_506" title="ChatGPT Image 5 feb 2026, 14_05_26.png"/>
          <p:cNvPicPr preferRelativeResize="0"/>
          <p:nvPr/>
        </p:nvPicPr>
        <p:blipFill rotWithShape="1">
          <a:blip r:embed="rId5">
            <a:alphaModFix/>
          </a:blip>
          <a:srcRect b="11240" l="0" r="0" t="4563"/>
          <a:stretch/>
        </p:blipFill>
        <p:spPr>
          <a:xfrm>
            <a:off x="10770728" y="4021775"/>
            <a:ext cx="6488571" cy="3642299"/>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4" name="Shape 594"/>
        <p:cNvGrpSpPr/>
        <p:nvPr/>
      </p:nvGrpSpPr>
      <p:grpSpPr>
        <a:xfrm>
          <a:off x="0" y="0"/>
          <a:ext cx="0" cy="0"/>
          <a:chOff x="0" y="0"/>
          <a:chExt cx="0" cy="0"/>
        </a:xfrm>
      </p:grpSpPr>
      <p:sp>
        <p:nvSpPr>
          <p:cNvPr id="595" name="Google Shape;595;g393a02a1344_0_532"/>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grpSp>
        <p:nvGrpSpPr>
          <p:cNvPr id="596" name="Google Shape;596;g393a02a1344_0_532"/>
          <p:cNvGrpSpPr/>
          <p:nvPr/>
        </p:nvGrpSpPr>
        <p:grpSpPr>
          <a:xfrm>
            <a:off x="1259561" y="710571"/>
            <a:ext cx="3086120" cy="600290"/>
            <a:chOff x="0" y="-9525"/>
            <a:chExt cx="812800" cy="158100"/>
          </a:xfrm>
        </p:grpSpPr>
        <p:sp>
          <p:nvSpPr>
            <p:cNvPr id="597" name="Google Shape;597;g393a02a1344_0_532"/>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598" name="Google Shape;598;g393a02a1344_0_532"/>
            <p:cNvSpPr txBox="1"/>
            <p:nvPr/>
          </p:nvSpPr>
          <p:spPr>
            <a:xfrm>
              <a:off x="0" y="-9525"/>
              <a:ext cx="812700" cy="158100"/>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599" name="Google Shape;599;g393a02a1344_0_532"/>
          <p:cNvGrpSpPr/>
          <p:nvPr/>
        </p:nvGrpSpPr>
        <p:grpSpPr>
          <a:xfrm>
            <a:off x="1160375" y="4781550"/>
            <a:ext cx="12457332" cy="720993"/>
            <a:chOff x="0" y="-9525"/>
            <a:chExt cx="2404287" cy="189900"/>
          </a:xfrm>
        </p:grpSpPr>
        <p:sp>
          <p:nvSpPr>
            <p:cNvPr id="600" name="Google Shape;600;g393a02a1344_0_532"/>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601" name="Google Shape;601;g393a02a1344_0_532"/>
            <p:cNvSpPr txBox="1"/>
            <p:nvPr/>
          </p:nvSpPr>
          <p:spPr>
            <a:xfrm>
              <a:off x="0" y="-9525"/>
              <a:ext cx="2404200" cy="189900"/>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02" name="Google Shape;602;g393a02a1344_0_532"/>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7.1</a:t>
            </a:r>
            <a:r>
              <a:rPr lang="en-US" sz="4123">
                <a:solidFill>
                  <a:srgbClr val="AEAEAE"/>
                </a:solidFill>
                <a:latin typeface="Jost"/>
                <a:ea typeface="Jost"/>
                <a:cs typeface="Jost"/>
                <a:sym typeface="Jost"/>
              </a:rPr>
              <a:t> Introduction to Large Language Models (LLMs)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7.2 </a:t>
            </a:r>
            <a:r>
              <a:rPr lang="en-US" sz="4123">
                <a:solidFill>
                  <a:srgbClr val="AEAEAE"/>
                </a:solidFill>
                <a:latin typeface="Jost"/>
                <a:ea typeface="Jost"/>
                <a:cs typeface="Jost"/>
                <a:sym typeface="Jost"/>
              </a:rPr>
              <a:t>LLM Scaling Laws: The Economics of AI</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7.3</a:t>
            </a:r>
            <a:r>
              <a:rPr lang="en-US" sz="4123">
                <a:solidFill>
                  <a:srgbClr val="AEAEAE"/>
                </a:solidFill>
                <a:latin typeface="Jost"/>
                <a:ea typeface="Jost"/>
                <a:cs typeface="Jost"/>
                <a:sym typeface="Jost"/>
              </a:rPr>
              <a:t> Foundation Model Pre-training Objectives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7.4</a:t>
            </a:r>
            <a:r>
              <a:rPr lang="en-US" sz="4123">
                <a:solidFill>
                  <a:srgbClr val="AEAEAE"/>
                </a:solidFill>
                <a:latin typeface="Jost"/>
                <a:ea typeface="Jost"/>
                <a:cs typeface="Jost"/>
                <a:sym typeface="Jost"/>
              </a:rPr>
              <a:t> Adaptation: Fine-Tuning and Alignment</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7.5 </a:t>
            </a:r>
            <a:r>
              <a:rPr b="1" lang="en-US" sz="4123">
                <a:solidFill>
                  <a:schemeClr val="lt1"/>
                </a:solidFill>
                <a:latin typeface="Jost"/>
                <a:ea typeface="Jost"/>
                <a:cs typeface="Jost"/>
                <a:sym typeface="Jost"/>
              </a:rPr>
              <a:t>Understanding and Extending Context Length</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7.6</a:t>
            </a:r>
            <a:r>
              <a:rPr lang="en-US" sz="4123">
                <a:solidFill>
                  <a:srgbClr val="AEAEAE"/>
                </a:solidFill>
                <a:latin typeface="Jost"/>
                <a:ea typeface="Jost"/>
                <a:cs typeface="Jost"/>
                <a:sym typeface="Jost"/>
              </a:rPr>
              <a:t> Summary and Key Takeaways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603" name="Google Shape;603;g393a02a1344_0_532"/>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604" name="Google Shape;604;g393a02a1344_0_532"/>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g393a02a1344_0_545"/>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610" name="Google Shape;610;g393a02a1344_0_545"/>
          <p:cNvSpPr txBox="1"/>
          <p:nvPr/>
        </p:nvSpPr>
        <p:spPr>
          <a:xfrm>
            <a:off x="1028700" y="2963425"/>
            <a:ext cx="78498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Context Window and Its Limits</a:t>
            </a:r>
            <a:endParaRPr b="1" sz="4262">
              <a:solidFill>
                <a:srgbClr val="6592E6"/>
              </a:solidFill>
              <a:latin typeface="Jost"/>
              <a:ea typeface="Jost"/>
              <a:cs typeface="Jost"/>
              <a:sym typeface="Jost"/>
            </a:endParaRPr>
          </a:p>
        </p:txBody>
      </p:sp>
      <p:sp>
        <p:nvSpPr>
          <p:cNvPr id="611" name="Google Shape;611;g393a02a1344_0_545"/>
          <p:cNvSpPr txBox="1"/>
          <p:nvPr/>
        </p:nvSpPr>
        <p:spPr>
          <a:xfrm>
            <a:off x="1463225" y="5576150"/>
            <a:ext cx="8506200" cy="30267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Context window = maximum tokens per inference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Early models: 512–2,048 tokens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Modern models: 128k → 1M+ tokens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Enables book-level, codebase, and video analysis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612" name="Google Shape;612;g393a02a1344_0_545"/>
          <p:cNvGrpSpPr/>
          <p:nvPr/>
        </p:nvGrpSpPr>
        <p:grpSpPr>
          <a:xfrm>
            <a:off x="1028700" y="1028700"/>
            <a:ext cx="4030368" cy="777115"/>
            <a:chOff x="0" y="0"/>
            <a:chExt cx="1061489" cy="204671"/>
          </a:xfrm>
        </p:grpSpPr>
        <p:sp>
          <p:nvSpPr>
            <p:cNvPr id="613" name="Google Shape;613;g393a02a1344_0_545"/>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614" name="Google Shape;614;g393a02a1344_0_545"/>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615" name="Google Shape;615;g393a02a1344_0_545"/>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616" name="Google Shape;616;g393a02a1344_0_545"/>
          <p:cNvSpPr txBox="1"/>
          <p:nvPr/>
        </p:nvSpPr>
        <p:spPr>
          <a:xfrm>
            <a:off x="1028700" y="4131825"/>
            <a:ext cx="91851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The context window defines how much information an LLM can “remember” at once. Extending it enables long-document reasoning but introduces severe computational constraints.</a:t>
            </a:r>
            <a:endParaRPr sz="2731">
              <a:solidFill>
                <a:srgbClr val="AEAEAE"/>
              </a:solidFill>
              <a:latin typeface="Jost"/>
              <a:ea typeface="Jost"/>
              <a:cs typeface="Jost"/>
              <a:sym typeface="Jost"/>
            </a:endParaRPr>
          </a:p>
        </p:txBody>
      </p:sp>
      <p:grpSp>
        <p:nvGrpSpPr>
          <p:cNvPr id="617" name="Google Shape;617;g393a02a1344_0_545"/>
          <p:cNvGrpSpPr/>
          <p:nvPr/>
        </p:nvGrpSpPr>
        <p:grpSpPr>
          <a:xfrm>
            <a:off x="1028700" y="7529704"/>
            <a:ext cx="259162" cy="400015"/>
            <a:chOff x="0" y="0"/>
            <a:chExt cx="80174" cy="123748"/>
          </a:xfrm>
        </p:grpSpPr>
        <p:sp>
          <p:nvSpPr>
            <p:cNvPr id="618" name="Google Shape;618;g393a02a1344_0_54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19" name="Google Shape;619;g393a02a1344_0_54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20" name="Google Shape;620;g393a02a1344_0_545"/>
          <p:cNvGrpSpPr/>
          <p:nvPr/>
        </p:nvGrpSpPr>
        <p:grpSpPr>
          <a:xfrm>
            <a:off x="1028700" y="5551541"/>
            <a:ext cx="259162" cy="400015"/>
            <a:chOff x="0" y="0"/>
            <a:chExt cx="80174" cy="123748"/>
          </a:xfrm>
        </p:grpSpPr>
        <p:sp>
          <p:nvSpPr>
            <p:cNvPr id="621" name="Google Shape;621;g393a02a1344_0_54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22" name="Google Shape;622;g393a02a1344_0_54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23" name="Google Shape;623;g393a02a1344_0_545"/>
          <p:cNvSpPr txBox="1"/>
          <p:nvPr/>
        </p:nvSpPr>
        <p:spPr>
          <a:xfrm>
            <a:off x="1028700" y="2025600"/>
            <a:ext cx="147894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7.5 </a:t>
            </a:r>
            <a:r>
              <a:rPr lang="en-US" sz="4262">
                <a:solidFill>
                  <a:srgbClr val="AEAEAE"/>
                </a:solidFill>
                <a:latin typeface="Jost"/>
                <a:ea typeface="Jost"/>
                <a:cs typeface="Jost"/>
                <a:sym typeface="Jost"/>
              </a:rPr>
              <a:t>Understanding and Extending Context Length.</a:t>
            </a:r>
            <a:endParaRPr b="1" sz="4262">
              <a:solidFill>
                <a:srgbClr val="AEAEAE"/>
              </a:solidFill>
              <a:latin typeface="Jost"/>
              <a:ea typeface="Jost"/>
              <a:cs typeface="Jost"/>
              <a:sym typeface="Jost"/>
            </a:endParaRPr>
          </a:p>
        </p:txBody>
      </p:sp>
      <p:grpSp>
        <p:nvGrpSpPr>
          <p:cNvPr id="624" name="Google Shape;624;g393a02a1344_0_545"/>
          <p:cNvGrpSpPr/>
          <p:nvPr/>
        </p:nvGrpSpPr>
        <p:grpSpPr>
          <a:xfrm>
            <a:off x="1028700" y="6187866"/>
            <a:ext cx="259162" cy="400015"/>
            <a:chOff x="0" y="0"/>
            <a:chExt cx="80174" cy="123748"/>
          </a:xfrm>
        </p:grpSpPr>
        <p:sp>
          <p:nvSpPr>
            <p:cNvPr id="625" name="Google Shape;625;g393a02a1344_0_54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26" name="Google Shape;626;g393a02a1344_0_54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27" name="Google Shape;627;g393a02a1344_0_545"/>
          <p:cNvGrpSpPr/>
          <p:nvPr/>
        </p:nvGrpSpPr>
        <p:grpSpPr>
          <a:xfrm>
            <a:off x="1028700" y="6861810"/>
            <a:ext cx="259162" cy="400015"/>
            <a:chOff x="0" y="0"/>
            <a:chExt cx="80174" cy="123748"/>
          </a:xfrm>
        </p:grpSpPr>
        <p:sp>
          <p:nvSpPr>
            <p:cNvPr id="628" name="Google Shape;628;g393a02a1344_0_545"/>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29" name="Google Shape;629;g393a02a1344_0_545"/>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630" name="Google Shape;630;g393a02a1344_0_545" title="Title_ Transformer Context Window Scaling - visual selection.png"/>
          <p:cNvPicPr preferRelativeResize="0"/>
          <p:nvPr/>
        </p:nvPicPr>
        <p:blipFill rotWithShape="1">
          <a:blip r:embed="rId5">
            <a:alphaModFix/>
          </a:blip>
          <a:srcRect b="3390" l="0" r="0" t="0"/>
          <a:stretch/>
        </p:blipFill>
        <p:spPr>
          <a:xfrm>
            <a:off x="10729400" y="3188050"/>
            <a:ext cx="6529901" cy="4583100"/>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g393a02a1344_0_57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636" name="Google Shape;636;g393a02a1344_0_571"/>
          <p:cNvSpPr txBox="1"/>
          <p:nvPr/>
        </p:nvSpPr>
        <p:spPr>
          <a:xfrm>
            <a:off x="1028700" y="2963425"/>
            <a:ext cx="78498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Context Window and Its Limits</a:t>
            </a:r>
            <a:endParaRPr b="1" sz="4262">
              <a:solidFill>
                <a:srgbClr val="6592E6"/>
              </a:solidFill>
              <a:latin typeface="Jost"/>
              <a:ea typeface="Jost"/>
              <a:cs typeface="Jost"/>
              <a:sym typeface="Jost"/>
            </a:endParaRPr>
          </a:p>
        </p:txBody>
      </p:sp>
      <p:sp>
        <p:nvSpPr>
          <p:cNvPr id="637" name="Google Shape;637;g393a02a1344_0_571"/>
          <p:cNvSpPr txBox="1"/>
          <p:nvPr/>
        </p:nvSpPr>
        <p:spPr>
          <a:xfrm>
            <a:off x="1463225" y="5576150"/>
            <a:ext cx="8506200" cy="30267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FlashAttention reduces memory overhead</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RoPE enables context extrapolation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ALiBi biases attention by distance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Solves ‘Lost in the Middle’ problem</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638" name="Google Shape;638;g393a02a1344_0_571"/>
          <p:cNvGrpSpPr/>
          <p:nvPr/>
        </p:nvGrpSpPr>
        <p:grpSpPr>
          <a:xfrm>
            <a:off x="1028700" y="1028700"/>
            <a:ext cx="4030368" cy="777115"/>
            <a:chOff x="0" y="0"/>
            <a:chExt cx="1061489" cy="204671"/>
          </a:xfrm>
        </p:grpSpPr>
        <p:sp>
          <p:nvSpPr>
            <p:cNvPr id="639" name="Google Shape;639;g393a02a1344_0_57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640" name="Google Shape;640;g393a02a1344_0_57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641" name="Google Shape;641;g393a02a1344_0_57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642" name="Google Shape;642;g393a02a1344_0_571"/>
          <p:cNvSpPr txBox="1"/>
          <p:nvPr/>
        </p:nvSpPr>
        <p:spPr>
          <a:xfrm>
            <a:off x="1028700" y="4131825"/>
            <a:ext cx="8940600" cy="10089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Modern architectures bypass attention limits through algorithmic and positional innovations that preserve reasoning across long sequences.</a:t>
            </a:r>
            <a:endParaRPr sz="2731">
              <a:solidFill>
                <a:srgbClr val="AEAEAE"/>
              </a:solidFill>
              <a:latin typeface="Jost"/>
              <a:ea typeface="Jost"/>
              <a:cs typeface="Jost"/>
              <a:sym typeface="Jost"/>
            </a:endParaRPr>
          </a:p>
        </p:txBody>
      </p:sp>
      <p:grpSp>
        <p:nvGrpSpPr>
          <p:cNvPr id="643" name="Google Shape;643;g393a02a1344_0_571"/>
          <p:cNvGrpSpPr/>
          <p:nvPr/>
        </p:nvGrpSpPr>
        <p:grpSpPr>
          <a:xfrm>
            <a:off x="1028700" y="7529704"/>
            <a:ext cx="259162" cy="400015"/>
            <a:chOff x="0" y="0"/>
            <a:chExt cx="80174" cy="123748"/>
          </a:xfrm>
        </p:grpSpPr>
        <p:sp>
          <p:nvSpPr>
            <p:cNvPr id="644" name="Google Shape;644;g393a02a1344_0_57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45" name="Google Shape;645;g393a02a1344_0_57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46" name="Google Shape;646;g393a02a1344_0_571"/>
          <p:cNvGrpSpPr/>
          <p:nvPr/>
        </p:nvGrpSpPr>
        <p:grpSpPr>
          <a:xfrm>
            <a:off x="1028700" y="5551541"/>
            <a:ext cx="259162" cy="400015"/>
            <a:chOff x="0" y="0"/>
            <a:chExt cx="80174" cy="123748"/>
          </a:xfrm>
        </p:grpSpPr>
        <p:sp>
          <p:nvSpPr>
            <p:cNvPr id="647" name="Google Shape;647;g393a02a1344_0_57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48" name="Google Shape;648;g393a02a1344_0_57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49" name="Google Shape;649;g393a02a1344_0_571"/>
          <p:cNvSpPr txBox="1"/>
          <p:nvPr/>
        </p:nvSpPr>
        <p:spPr>
          <a:xfrm>
            <a:off x="1028700" y="2025600"/>
            <a:ext cx="147894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7.5 </a:t>
            </a:r>
            <a:r>
              <a:rPr lang="en-US" sz="4262">
                <a:solidFill>
                  <a:srgbClr val="AEAEAE"/>
                </a:solidFill>
                <a:latin typeface="Jost"/>
                <a:ea typeface="Jost"/>
                <a:cs typeface="Jost"/>
                <a:sym typeface="Jost"/>
              </a:rPr>
              <a:t>Understanding and Extending Context Length.</a:t>
            </a:r>
            <a:endParaRPr b="1" sz="4262">
              <a:solidFill>
                <a:srgbClr val="AEAEAE"/>
              </a:solidFill>
              <a:latin typeface="Jost"/>
              <a:ea typeface="Jost"/>
              <a:cs typeface="Jost"/>
              <a:sym typeface="Jost"/>
            </a:endParaRPr>
          </a:p>
        </p:txBody>
      </p:sp>
      <p:grpSp>
        <p:nvGrpSpPr>
          <p:cNvPr id="650" name="Google Shape;650;g393a02a1344_0_571"/>
          <p:cNvGrpSpPr/>
          <p:nvPr/>
        </p:nvGrpSpPr>
        <p:grpSpPr>
          <a:xfrm>
            <a:off x="1028700" y="6187866"/>
            <a:ext cx="259162" cy="400015"/>
            <a:chOff x="0" y="0"/>
            <a:chExt cx="80174" cy="123748"/>
          </a:xfrm>
        </p:grpSpPr>
        <p:sp>
          <p:nvSpPr>
            <p:cNvPr id="651" name="Google Shape;651;g393a02a1344_0_57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52" name="Google Shape;652;g393a02a1344_0_57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53" name="Google Shape;653;g393a02a1344_0_571"/>
          <p:cNvGrpSpPr/>
          <p:nvPr/>
        </p:nvGrpSpPr>
        <p:grpSpPr>
          <a:xfrm>
            <a:off x="1028700" y="6861810"/>
            <a:ext cx="259162" cy="400015"/>
            <a:chOff x="0" y="0"/>
            <a:chExt cx="80174" cy="123748"/>
          </a:xfrm>
        </p:grpSpPr>
        <p:sp>
          <p:nvSpPr>
            <p:cNvPr id="654" name="Google Shape;654;g393a02a1344_0_57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55" name="Google Shape;655;g393a02a1344_0_57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656" name="Google Shape;656;g393a02a1344_0_571" title="ChatGPT Image 5 feb 2026, 14_11_41.png"/>
          <p:cNvPicPr preferRelativeResize="0"/>
          <p:nvPr/>
        </p:nvPicPr>
        <p:blipFill rotWithShape="1">
          <a:blip r:embed="rId5">
            <a:alphaModFix/>
          </a:blip>
          <a:srcRect b="9395" l="8513" r="8670" t="0"/>
          <a:stretch/>
        </p:blipFill>
        <p:spPr>
          <a:xfrm>
            <a:off x="11010400" y="3106550"/>
            <a:ext cx="6248901" cy="4557499"/>
          </a:xfrm>
          <a:prstGeom prst="rect">
            <a:avLst/>
          </a:prstGeom>
          <a:noFill/>
          <a:ln cap="flat" cmpd="sng" w="76200">
            <a:solidFill>
              <a:srgbClr val="6592E6"/>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g393a02a1344_0_597"/>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grpSp>
        <p:nvGrpSpPr>
          <p:cNvPr id="662" name="Google Shape;662;g393a02a1344_0_597"/>
          <p:cNvGrpSpPr/>
          <p:nvPr/>
        </p:nvGrpSpPr>
        <p:grpSpPr>
          <a:xfrm>
            <a:off x="1259561" y="710571"/>
            <a:ext cx="3086120" cy="600290"/>
            <a:chOff x="0" y="-9525"/>
            <a:chExt cx="812800" cy="158100"/>
          </a:xfrm>
        </p:grpSpPr>
        <p:sp>
          <p:nvSpPr>
            <p:cNvPr id="663" name="Google Shape;663;g393a02a1344_0_597"/>
            <p:cNvSpPr/>
            <p:nvPr/>
          </p:nvSpPr>
          <p:spPr>
            <a:xfrm>
              <a:off x="0" y="0"/>
              <a:ext cx="812800" cy="148524"/>
            </a:xfrm>
            <a:custGeom>
              <a:rect b="b" l="l" r="r" t="t"/>
              <a:pathLst>
                <a:path extrusionOk="0" h="148524" w="812800">
                  <a:moveTo>
                    <a:pt x="0" y="0"/>
                  </a:moveTo>
                  <a:lnTo>
                    <a:pt x="812800" y="0"/>
                  </a:lnTo>
                  <a:lnTo>
                    <a:pt x="812800" y="148524"/>
                  </a:lnTo>
                  <a:lnTo>
                    <a:pt x="0" y="148524"/>
                  </a:lnTo>
                  <a:close/>
                </a:path>
              </a:pathLst>
            </a:custGeom>
            <a:solidFill>
              <a:srgbClr val="6592E6"/>
            </a:solidFill>
            <a:ln>
              <a:noFill/>
            </a:ln>
          </p:spPr>
        </p:sp>
        <p:sp>
          <p:nvSpPr>
            <p:cNvPr id="664" name="Google Shape;664;g393a02a1344_0_597"/>
            <p:cNvSpPr txBox="1"/>
            <p:nvPr/>
          </p:nvSpPr>
          <p:spPr>
            <a:xfrm>
              <a:off x="0" y="-9525"/>
              <a:ext cx="812700" cy="158100"/>
            </a:xfrm>
            <a:prstGeom prst="rect">
              <a:avLst/>
            </a:prstGeom>
            <a:noFill/>
            <a:ln>
              <a:noFill/>
            </a:ln>
          </p:spPr>
          <p:txBody>
            <a:bodyPr anchorCtr="0" anchor="ctr" bIns="50800" lIns="50800" spcFirstLastPara="1" rIns="50800" wrap="square" tIns="50800">
              <a:noAutofit/>
            </a:bodyPr>
            <a:lstStyle/>
            <a:p>
              <a:pPr indent="0" lvl="0" marL="0" marR="0" rtl="0" algn="ctr">
                <a:lnSpc>
                  <a:spcPct val="120000"/>
                </a:lnSpc>
                <a:spcBef>
                  <a:spcPts val="0"/>
                </a:spcBef>
                <a:spcAft>
                  <a:spcPts val="0"/>
                </a:spcAft>
                <a:buClr>
                  <a:srgbClr val="000000"/>
                </a:buClr>
                <a:buSzPts val="2100"/>
                <a:buFont typeface="Arial"/>
                <a:buNone/>
              </a:pPr>
              <a:r>
                <a:rPr b="1" i="0" lang="en-US" sz="2100" u="none" cap="none" strike="noStrike">
                  <a:solidFill>
                    <a:srgbClr val="FFFFFF"/>
                  </a:solidFill>
                  <a:latin typeface="Jost"/>
                  <a:ea typeface="Jost"/>
                  <a:cs typeface="Jost"/>
                  <a:sym typeface="Jost"/>
                </a:rPr>
                <a:t>THEORY</a:t>
              </a:r>
              <a:endParaRPr b="0" i="0" sz="1400" u="none" cap="none" strike="noStrike">
                <a:solidFill>
                  <a:srgbClr val="000000"/>
                </a:solidFill>
                <a:latin typeface="Arial"/>
                <a:ea typeface="Arial"/>
                <a:cs typeface="Arial"/>
                <a:sym typeface="Arial"/>
              </a:endParaRPr>
            </a:p>
          </p:txBody>
        </p:sp>
      </p:grpSp>
      <p:grpSp>
        <p:nvGrpSpPr>
          <p:cNvPr id="665" name="Google Shape;665;g393a02a1344_0_597"/>
          <p:cNvGrpSpPr/>
          <p:nvPr/>
        </p:nvGrpSpPr>
        <p:grpSpPr>
          <a:xfrm>
            <a:off x="1160375" y="5486150"/>
            <a:ext cx="8564551" cy="720993"/>
            <a:chOff x="0" y="-9525"/>
            <a:chExt cx="2404287" cy="189900"/>
          </a:xfrm>
        </p:grpSpPr>
        <p:sp>
          <p:nvSpPr>
            <p:cNvPr id="666" name="Google Shape;666;g393a02a1344_0_597"/>
            <p:cNvSpPr/>
            <p:nvPr/>
          </p:nvSpPr>
          <p:spPr>
            <a:xfrm>
              <a:off x="0" y="0"/>
              <a:ext cx="2404287" cy="180338"/>
            </a:xfrm>
            <a:custGeom>
              <a:rect b="b" l="l" r="r" t="t"/>
              <a:pathLst>
                <a:path extrusionOk="0" h="180338" w="2404287">
                  <a:moveTo>
                    <a:pt x="0" y="0"/>
                  </a:moveTo>
                  <a:lnTo>
                    <a:pt x="2404287" y="0"/>
                  </a:lnTo>
                  <a:lnTo>
                    <a:pt x="2404287" y="180338"/>
                  </a:lnTo>
                  <a:lnTo>
                    <a:pt x="0" y="180338"/>
                  </a:lnTo>
                  <a:close/>
                </a:path>
              </a:pathLst>
            </a:custGeom>
            <a:solidFill>
              <a:srgbClr val="6592E6"/>
            </a:solidFill>
            <a:ln>
              <a:noFill/>
            </a:ln>
          </p:spPr>
        </p:sp>
        <p:sp>
          <p:nvSpPr>
            <p:cNvPr id="667" name="Google Shape;667;g393a02a1344_0_597"/>
            <p:cNvSpPr txBox="1"/>
            <p:nvPr/>
          </p:nvSpPr>
          <p:spPr>
            <a:xfrm>
              <a:off x="0" y="-9525"/>
              <a:ext cx="2404200" cy="189900"/>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68" name="Google Shape;668;g393a02a1344_0_597"/>
          <p:cNvSpPr txBox="1"/>
          <p:nvPr/>
        </p:nvSpPr>
        <p:spPr>
          <a:xfrm>
            <a:off x="1259550" y="2047825"/>
            <a:ext cx="15781200" cy="48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7.1</a:t>
            </a:r>
            <a:r>
              <a:rPr lang="en-US" sz="4123">
                <a:solidFill>
                  <a:srgbClr val="AEAEAE"/>
                </a:solidFill>
                <a:latin typeface="Jost"/>
                <a:ea typeface="Jost"/>
                <a:cs typeface="Jost"/>
                <a:sym typeface="Jost"/>
              </a:rPr>
              <a:t> Introduction to Large Language Models (LLMs)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7.2 </a:t>
            </a:r>
            <a:r>
              <a:rPr lang="en-US" sz="4123">
                <a:solidFill>
                  <a:srgbClr val="AEAEAE"/>
                </a:solidFill>
                <a:latin typeface="Jost"/>
                <a:ea typeface="Jost"/>
                <a:cs typeface="Jost"/>
                <a:sym typeface="Jost"/>
              </a:rPr>
              <a:t>LLM Scaling Laws: The Economics of AI</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7.3</a:t>
            </a:r>
            <a:r>
              <a:rPr lang="en-US" sz="4123">
                <a:solidFill>
                  <a:srgbClr val="AEAEAE"/>
                </a:solidFill>
                <a:latin typeface="Jost"/>
                <a:ea typeface="Jost"/>
                <a:cs typeface="Jost"/>
                <a:sym typeface="Jost"/>
              </a:rPr>
              <a:t> Foundation Model Pre-training Objectives</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7.4</a:t>
            </a:r>
            <a:r>
              <a:rPr lang="en-US" sz="4123">
                <a:solidFill>
                  <a:srgbClr val="AEAEAE"/>
                </a:solidFill>
                <a:latin typeface="Jost"/>
                <a:ea typeface="Jost"/>
                <a:cs typeface="Jost"/>
                <a:sym typeface="Jost"/>
              </a:rPr>
              <a:t> Adaptation: Fine-Tuning and Alignment</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rgbClr val="AEAEAE"/>
                </a:solidFill>
                <a:latin typeface="Jost"/>
                <a:ea typeface="Jost"/>
                <a:cs typeface="Jost"/>
                <a:sym typeface="Jost"/>
              </a:rPr>
              <a:t>7.5</a:t>
            </a:r>
            <a:r>
              <a:rPr lang="en-US" sz="4123">
                <a:solidFill>
                  <a:srgbClr val="AEAEAE"/>
                </a:solidFill>
                <a:latin typeface="Jost"/>
                <a:ea typeface="Jost"/>
                <a:cs typeface="Jost"/>
                <a:sym typeface="Jost"/>
              </a:rPr>
              <a:t> Understanding and Extending Context Length</a:t>
            </a:r>
            <a:endParaRPr sz="4123">
              <a:solidFill>
                <a:srgbClr val="AEAEAE"/>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rPr b="1" lang="en-US" sz="4123">
                <a:solidFill>
                  <a:schemeClr val="lt1"/>
                </a:solidFill>
                <a:latin typeface="Jost"/>
                <a:ea typeface="Jost"/>
                <a:cs typeface="Jost"/>
                <a:sym typeface="Jost"/>
              </a:rPr>
              <a:t>7.6</a:t>
            </a:r>
            <a:r>
              <a:rPr b="1" lang="en-US" sz="4123">
                <a:solidFill>
                  <a:schemeClr val="lt1"/>
                </a:solidFill>
                <a:latin typeface="Jost"/>
                <a:ea typeface="Jost"/>
                <a:cs typeface="Jost"/>
                <a:sym typeface="Jost"/>
              </a:rPr>
              <a:t> Summary and Key Takeaways</a:t>
            </a:r>
            <a:endParaRPr b="1" sz="4123">
              <a:solidFill>
                <a:schemeClr val="lt1"/>
              </a:solidFill>
              <a:latin typeface="Jost"/>
              <a:ea typeface="Jost"/>
              <a:cs typeface="Jost"/>
              <a:sym typeface="Jost"/>
            </a:endParaRPr>
          </a:p>
          <a:p>
            <a:pPr indent="0" lvl="0" marL="0" marR="0" rtl="0" algn="l">
              <a:lnSpc>
                <a:spcPct val="110000"/>
              </a:lnSpc>
              <a:spcBef>
                <a:spcPts val="0"/>
              </a:spcBef>
              <a:spcAft>
                <a:spcPts val="0"/>
              </a:spcAft>
              <a:buClr>
                <a:srgbClr val="000000"/>
              </a:buClr>
              <a:buSzPts val="4123"/>
              <a:buFont typeface="Arial"/>
              <a:buNone/>
            </a:pPr>
            <a:r>
              <a:t/>
            </a:r>
            <a:endParaRPr b="1" sz="4123">
              <a:solidFill>
                <a:schemeClr val="lt1"/>
              </a:solidFill>
              <a:latin typeface="Jost"/>
              <a:ea typeface="Jost"/>
              <a:cs typeface="Jost"/>
              <a:sym typeface="Jost"/>
            </a:endParaRPr>
          </a:p>
        </p:txBody>
      </p:sp>
      <p:sp>
        <p:nvSpPr>
          <p:cNvPr id="669" name="Google Shape;669;g393a02a1344_0_597"/>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670" name="Google Shape;670;g393a02a1344_0_597"/>
          <p:cNvSpPr txBox="1"/>
          <p:nvPr/>
        </p:nvSpPr>
        <p:spPr>
          <a:xfrm>
            <a:off x="4595148" y="787651"/>
            <a:ext cx="7371900" cy="555900"/>
          </a:xfrm>
          <a:prstGeom prst="rect">
            <a:avLst/>
          </a:prstGeom>
          <a:noFill/>
          <a:ln>
            <a:noFill/>
          </a:ln>
        </p:spPr>
        <p:txBody>
          <a:bodyPr anchorCtr="0" anchor="t" bIns="0" lIns="0" spcFirstLastPara="1" rIns="0" wrap="square" tIns="0">
            <a:spAutoFit/>
          </a:bodyPr>
          <a:lstStyle/>
          <a:p>
            <a:pPr indent="0" lvl="0" marL="0" marR="0" rtl="0" algn="l">
              <a:lnSpc>
                <a:spcPct val="79995"/>
              </a:lnSpc>
              <a:spcBef>
                <a:spcPts val="0"/>
              </a:spcBef>
              <a:spcAft>
                <a:spcPts val="0"/>
              </a:spcAft>
              <a:buClr>
                <a:srgbClr val="000000"/>
              </a:buClr>
              <a:buSzPts val="4514"/>
              <a:buFont typeface="Arial"/>
              <a:buNone/>
            </a:pPr>
            <a:r>
              <a:rPr b="1" i="0" lang="en-US" sz="4514" u="none" cap="none" strike="noStrike">
                <a:solidFill>
                  <a:srgbClr val="6592E6"/>
                </a:solidFill>
                <a:latin typeface="Jost"/>
                <a:ea typeface="Jost"/>
                <a:cs typeface="Jost"/>
                <a:sym typeface="Jost"/>
              </a:rPr>
              <a:t>Training Program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4" name="Shape 674"/>
        <p:cNvGrpSpPr/>
        <p:nvPr/>
      </p:nvGrpSpPr>
      <p:grpSpPr>
        <a:xfrm>
          <a:off x="0" y="0"/>
          <a:ext cx="0" cy="0"/>
          <a:chOff x="0" y="0"/>
          <a:chExt cx="0" cy="0"/>
        </a:xfrm>
      </p:grpSpPr>
      <p:sp>
        <p:nvSpPr>
          <p:cNvPr id="675" name="Google Shape;675;g393a02a1344_0_610"/>
          <p:cNvSpPr/>
          <p:nvPr/>
        </p:nvSpPr>
        <p:spPr>
          <a:xfrm>
            <a:off x="0" y="6"/>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676" name="Google Shape;676;g393a02a1344_0_610"/>
          <p:cNvSpPr txBox="1"/>
          <p:nvPr/>
        </p:nvSpPr>
        <p:spPr>
          <a:xfrm>
            <a:off x="1028700" y="2963425"/>
            <a:ext cx="74361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Core Takeaways from LLM Fundamentals</a:t>
            </a:r>
            <a:endParaRPr b="1" sz="4262">
              <a:solidFill>
                <a:srgbClr val="6592E6"/>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6592E6"/>
              </a:solidFill>
              <a:latin typeface="Jost"/>
              <a:ea typeface="Jost"/>
              <a:cs typeface="Jost"/>
              <a:sym typeface="Jost"/>
            </a:endParaRPr>
          </a:p>
        </p:txBody>
      </p:sp>
      <p:sp>
        <p:nvSpPr>
          <p:cNvPr id="677" name="Google Shape;677;g393a02a1344_0_610"/>
          <p:cNvSpPr txBox="1"/>
          <p:nvPr/>
        </p:nvSpPr>
        <p:spPr>
          <a:xfrm>
            <a:off x="1463225" y="6299550"/>
            <a:ext cx="8788200" cy="33630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Intelligence emerges from scale, not rules.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Performance depends on parameters, data, and compute.</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Pre-training builds knowledge, fine-tuning builds behavior.</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Context length defines reasoning depth.</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678" name="Google Shape;678;g393a02a1344_0_610"/>
          <p:cNvGrpSpPr/>
          <p:nvPr/>
        </p:nvGrpSpPr>
        <p:grpSpPr>
          <a:xfrm>
            <a:off x="1028700" y="1028700"/>
            <a:ext cx="4030368" cy="777115"/>
            <a:chOff x="0" y="0"/>
            <a:chExt cx="1061489" cy="204671"/>
          </a:xfrm>
        </p:grpSpPr>
        <p:sp>
          <p:nvSpPr>
            <p:cNvPr id="679" name="Google Shape;679;g393a02a1344_0_610"/>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680" name="Google Shape;680;g393a02a1344_0_610"/>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681" name="Google Shape;681;g393a02a1344_0_610"/>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682" name="Google Shape;682;g393a02a1344_0_610"/>
          <p:cNvSpPr txBox="1"/>
          <p:nvPr/>
        </p:nvSpPr>
        <p:spPr>
          <a:xfrm>
            <a:off x="1028700" y="4607831"/>
            <a:ext cx="8658600" cy="16815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Large Language Models follow predictable technical laws rather than magic. Their capabilities emerge from the structured interaction between scale, data quality, and optimization.</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683" name="Google Shape;683;g393a02a1344_0_610"/>
          <p:cNvGrpSpPr/>
          <p:nvPr/>
        </p:nvGrpSpPr>
        <p:grpSpPr>
          <a:xfrm>
            <a:off x="1028700" y="8253116"/>
            <a:ext cx="259162" cy="400015"/>
            <a:chOff x="0" y="0"/>
            <a:chExt cx="80174" cy="123748"/>
          </a:xfrm>
        </p:grpSpPr>
        <p:sp>
          <p:nvSpPr>
            <p:cNvPr id="684" name="Google Shape;684;g393a02a1344_0_61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85" name="Google Shape;685;g393a02a1344_0_61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86" name="Google Shape;686;g393a02a1344_0_610"/>
          <p:cNvGrpSpPr/>
          <p:nvPr/>
        </p:nvGrpSpPr>
        <p:grpSpPr>
          <a:xfrm>
            <a:off x="1028700" y="6274954"/>
            <a:ext cx="259162" cy="400015"/>
            <a:chOff x="0" y="0"/>
            <a:chExt cx="80174" cy="123748"/>
          </a:xfrm>
        </p:grpSpPr>
        <p:sp>
          <p:nvSpPr>
            <p:cNvPr id="687" name="Google Shape;687;g393a02a1344_0_61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88" name="Google Shape;688;g393a02a1344_0_61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689" name="Google Shape;689;g393a02a1344_0_610"/>
          <p:cNvSpPr txBox="1"/>
          <p:nvPr/>
        </p:nvSpPr>
        <p:spPr>
          <a:xfrm>
            <a:off x="1028700" y="2025600"/>
            <a:ext cx="147894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7.6 </a:t>
            </a:r>
            <a:r>
              <a:rPr lang="en-US" sz="4262">
                <a:solidFill>
                  <a:srgbClr val="AEAEAE"/>
                </a:solidFill>
                <a:latin typeface="Jost"/>
                <a:ea typeface="Jost"/>
                <a:cs typeface="Jost"/>
                <a:sym typeface="Jost"/>
              </a:rPr>
              <a:t>Summary and Key Takeaways</a:t>
            </a:r>
            <a:endParaRPr sz="4262">
              <a:solidFill>
                <a:srgbClr val="AEAEAE"/>
              </a:solidFill>
              <a:latin typeface="Jost"/>
              <a:ea typeface="Jost"/>
              <a:cs typeface="Jost"/>
              <a:sym typeface="Jost"/>
            </a:endParaRPr>
          </a:p>
        </p:txBody>
      </p:sp>
      <p:grpSp>
        <p:nvGrpSpPr>
          <p:cNvPr id="690" name="Google Shape;690;g393a02a1344_0_610"/>
          <p:cNvGrpSpPr/>
          <p:nvPr/>
        </p:nvGrpSpPr>
        <p:grpSpPr>
          <a:xfrm>
            <a:off x="1028700" y="6911279"/>
            <a:ext cx="259162" cy="400015"/>
            <a:chOff x="0" y="0"/>
            <a:chExt cx="80174" cy="123748"/>
          </a:xfrm>
        </p:grpSpPr>
        <p:sp>
          <p:nvSpPr>
            <p:cNvPr id="691" name="Google Shape;691;g393a02a1344_0_61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92" name="Google Shape;692;g393a02a1344_0_61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693" name="Google Shape;693;g393a02a1344_0_610"/>
          <p:cNvGrpSpPr/>
          <p:nvPr/>
        </p:nvGrpSpPr>
        <p:grpSpPr>
          <a:xfrm>
            <a:off x="1028700" y="7585222"/>
            <a:ext cx="259162" cy="400015"/>
            <a:chOff x="0" y="0"/>
            <a:chExt cx="80174" cy="123748"/>
          </a:xfrm>
        </p:grpSpPr>
        <p:sp>
          <p:nvSpPr>
            <p:cNvPr id="694" name="Google Shape;694;g393a02a1344_0_610"/>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695" name="Google Shape;695;g393a02a1344_0_610"/>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pic>
        <p:nvPicPr>
          <p:cNvPr id="696" name="Google Shape;696;g393a02a1344_0_610" title="ChatGPT Image 5 feb 2026, 14_14_03.png"/>
          <p:cNvPicPr preferRelativeResize="0"/>
          <p:nvPr/>
        </p:nvPicPr>
        <p:blipFill rotWithShape="1">
          <a:blip r:embed="rId5">
            <a:alphaModFix/>
          </a:blip>
          <a:srcRect b="22829" l="23184" r="17821" t="9244"/>
          <a:stretch/>
        </p:blipFill>
        <p:spPr>
          <a:xfrm>
            <a:off x="11135375" y="2963425"/>
            <a:ext cx="5923949" cy="454722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0" name="Shape 700"/>
        <p:cNvGrpSpPr/>
        <p:nvPr/>
      </p:nvGrpSpPr>
      <p:grpSpPr>
        <a:xfrm>
          <a:off x="0" y="0"/>
          <a:ext cx="0" cy="0"/>
          <a:chOff x="0" y="0"/>
          <a:chExt cx="0" cy="0"/>
        </a:xfrm>
      </p:grpSpPr>
      <p:sp>
        <p:nvSpPr>
          <p:cNvPr id="701" name="Google Shape;701;g393a02a1344_0_636"/>
          <p:cNvSpPr/>
          <p:nvPr/>
        </p:nvSpPr>
        <p:spPr>
          <a:xfrm>
            <a:off x="0" y="6"/>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702" name="Google Shape;702;g393a02a1344_0_636"/>
          <p:cNvSpPr txBox="1"/>
          <p:nvPr/>
        </p:nvSpPr>
        <p:spPr>
          <a:xfrm>
            <a:off x="1028700" y="2963425"/>
            <a:ext cx="122766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6592E6"/>
                </a:solidFill>
                <a:latin typeface="Jost"/>
                <a:ea typeface="Jost"/>
                <a:cs typeface="Jost"/>
                <a:sym typeface="Jost"/>
              </a:rPr>
              <a:t>Practical Trade-offs and Future Direction</a:t>
            </a:r>
            <a:endParaRPr b="1" sz="4262">
              <a:solidFill>
                <a:srgbClr val="6592E6"/>
              </a:solidFill>
              <a:latin typeface="Jost"/>
              <a:ea typeface="Jost"/>
              <a:cs typeface="Jost"/>
              <a:sym typeface="Jost"/>
            </a:endParaRPr>
          </a:p>
        </p:txBody>
      </p:sp>
      <p:sp>
        <p:nvSpPr>
          <p:cNvPr id="703" name="Google Shape;703;g393a02a1344_0_636"/>
          <p:cNvSpPr txBox="1"/>
          <p:nvPr/>
        </p:nvSpPr>
        <p:spPr>
          <a:xfrm>
            <a:off x="1463225" y="5747344"/>
            <a:ext cx="8788200" cy="36993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Trade-off between performance, cost, and latency.</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Data quality sets the upper intelligence limit.</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Scaling alone shows diminishing returns.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Future focus: efficiency, alignment, and control.</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a:t>
            </a:r>
            <a:endParaRPr sz="2731">
              <a:solidFill>
                <a:srgbClr val="AEAEAE"/>
              </a:solidFill>
              <a:latin typeface="Jost"/>
              <a:ea typeface="Jost"/>
              <a:cs typeface="Jost"/>
              <a:sym typeface="Jost"/>
            </a:endParaRPr>
          </a:p>
        </p:txBody>
      </p:sp>
      <p:grpSp>
        <p:nvGrpSpPr>
          <p:cNvPr id="704" name="Google Shape;704;g393a02a1344_0_636"/>
          <p:cNvGrpSpPr/>
          <p:nvPr/>
        </p:nvGrpSpPr>
        <p:grpSpPr>
          <a:xfrm>
            <a:off x="1028700" y="1028700"/>
            <a:ext cx="4030368" cy="777115"/>
            <a:chOff x="0" y="0"/>
            <a:chExt cx="1061489" cy="204671"/>
          </a:xfrm>
        </p:grpSpPr>
        <p:sp>
          <p:nvSpPr>
            <p:cNvPr id="705" name="Google Shape;705;g393a02a1344_0_636"/>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706" name="Google Shape;706;g393a02a1344_0_636"/>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a:t>
              </a:r>
              <a:r>
                <a:rPr b="1" lang="en-US" sz="3299">
                  <a:solidFill>
                    <a:srgbClr val="FFFFFF"/>
                  </a:solidFill>
                  <a:latin typeface="Jost"/>
                  <a:ea typeface="Jost"/>
                  <a:cs typeface="Jost"/>
                  <a:sym typeface="Jost"/>
                </a:rPr>
                <a:t>7</a:t>
              </a:r>
              <a:endParaRPr b="0" i="0" sz="1400" u="none" cap="none" strike="noStrike">
                <a:solidFill>
                  <a:srgbClr val="000000"/>
                </a:solidFill>
                <a:latin typeface="Arial"/>
                <a:ea typeface="Arial"/>
                <a:cs typeface="Arial"/>
                <a:sym typeface="Arial"/>
              </a:endParaRPr>
            </a:p>
          </p:txBody>
        </p:sp>
      </p:grpSp>
      <p:sp>
        <p:nvSpPr>
          <p:cNvPr id="707" name="Google Shape;707;g393a02a1344_0_636"/>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708" name="Google Shape;708;g393a02a1344_0_636"/>
          <p:cNvSpPr txBox="1"/>
          <p:nvPr/>
        </p:nvSpPr>
        <p:spPr>
          <a:xfrm>
            <a:off x="1028700" y="4055619"/>
            <a:ext cx="14996400" cy="1681500"/>
          </a:xfrm>
          <a:prstGeom prst="rect">
            <a:avLst/>
          </a:prstGeom>
          <a:noFill/>
          <a:ln>
            <a:noFill/>
          </a:ln>
        </p:spPr>
        <p:txBody>
          <a:bodyPr anchorCtr="0" anchor="t" bIns="0" lIns="0" spcFirstLastPara="1" rIns="0" wrap="square" tIns="0">
            <a:spAutoFit/>
          </a:bodyPr>
          <a:lstStyle/>
          <a:p>
            <a:pPr indent="0" lvl="0" marL="0" marR="0" rtl="0" algn="l">
              <a:lnSpc>
                <a:spcPct val="80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Rather than being opaque or unpredictable systems, LLMs follow measurable laws driven by scale, data quality, and optimization strategies. Understanding these constraints is essential for designing reliable and economically viable AI systems.</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80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p:txBody>
      </p:sp>
      <p:grpSp>
        <p:nvGrpSpPr>
          <p:cNvPr id="709" name="Google Shape;709;g393a02a1344_0_636"/>
          <p:cNvGrpSpPr/>
          <p:nvPr/>
        </p:nvGrpSpPr>
        <p:grpSpPr>
          <a:xfrm>
            <a:off x="1028700" y="7700910"/>
            <a:ext cx="259162" cy="400015"/>
            <a:chOff x="0" y="0"/>
            <a:chExt cx="80174" cy="123748"/>
          </a:xfrm>
        </p:grpSpPr>
        <p:sp>
          <p:nvSpPr>
            <p:cNvPr id="710" name="Google Shape;710;g393a02a1344_0_63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11" name="Google Shape;711;g393a02a1344_0_63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12" name="Google Shape;712;g393a02a1344_0_636"/>
          <p:cNvGrpSpPr/>
          <p:nvPr/>
        </p:nvGrpSpPr>
        <p:grpSpPr>
          <a:xfrm>
            <a:off x="1028700" y="5722748"/>
            <a:ext cx="259162" cy="400015"/>
            <a:chOff x="0" y="0"/>
            <a:chExt cx="80174" cy="123748"/>
          </a:xfrm>
        </p:grpSpPr>
        <p:sp>
          <p:nvSpPr>
            <p:cNvPr id="713" name="Google Shape;713;g393a02a1344_0_63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14" name="Google Shape;714;g393a02a1344_0_63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715" name="Google Shape;715;g393a02a1344_0_636"/>
          <p:cNvSpPr txBox="1"/>
          <p:nvPr/>
        </p:nvSpPr>
        <p:spPr>
          <a:xfrm>
            <a:off x="1028700" y="2025600"/>
            <a:ext cx="14789400" cy="6561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Chapter 7.6 </a:t>
            </a:r>
            <a:r>
              <a:rPr lang="en-US" sz="4262">
                <a:solidFill>
                  <a:srgbClr val="AEAEAE"/>
                </a:solidFill>
                <a:latin typeface="Jost"/>
                <a:ea typeface="Jost"/>
                <a:cs typeface="Jost"/>
                <a:sym typeface="Jost"/>
              </a:rPr>
              <a:t>Summary and Key Takeaways</a:t>
            </a:r>
            <a:endParaRPr sz="4262">
              <a:solidFill>
                <a:srgbClr val="AEAEAE"/>
              </a:solidFill>
              <a:latin typeface="Jost"/>
              <a:ea typeface="Jost"/>
              <a:cs typeface="Jost"/>
              <a:sym typeface="Jost"/>
            </a:endParaRPr>
          </a:p>
        </p:txBody>
      </p:sp>
      <p:grpSp>
        <p:nvGrpSpPr>
          <p:cNvPr id="716" name="Google Shape;716;g393a02a1344_0_636"/>
          <p:cNvGrpSpPr/>
          <p:nvPr/>
        </p:nvGrpSpPr>
        <p:grpSpPr>
          <a:xfrm>
            <a:off x="1028700" y="6359073"/>
            <a:ext cx="259162" cy="400015"/>
            <a:chOff x="0" y="0"/>
            <a:chExt cx="80174" cy="123748"/>
          </a:xfrm>
        </p:grpSpPr>
        <p:sp>
          <p:nvSpPr>
            <p:cNvPr id="717" name="Google Shape;717;g393a02a1344_0_63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18" name="Google Shape;718;g393a02a1344_0_63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19" name="Google Shape;719;g393a02a1344_0_636"/>
          <p:cNvGrpSpPr/>
          <p:nvPr/>
        </p:nvGrpSpPr>
        <p:grpSpPr>
          <a:xfrm>
            <a:off x="1028700" y="7033016"/>
            <a:ext cx="259162" cy="400015"/>
            <a:chOff x="0" y="0"/>
            <a:chExt cx="80174" cy="123748"/>
          </a:xfrm>
        </p:grpSpPr>
        <p:sp>
          <p:nvSpPr>
            <p:cNvPr id="720" name="Google Shape;720;g393a02a1344_0_636"/>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21" name="Google Shape;721;g393a02a1344_0_636"/>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5" name="Shape 725"/>
        <p:cNvGrpSpPr/>
        <p:nvPr/>
      </p:nvGrpSpPr>
      <p:grpSpPr>
        <a:xfrm>
          <a:off x="0" y="0"/>
          <a:ext cx="0" cy="0"/>
          <a:chOff x="0" y="0"/>
          <a:chExt cx="0" cy="0"/>
        </a:xfrm>
      </p:grpSpPr>
      <p:sp>
        <p:nvSpPr>
          <p:cNvPr id="726" name="Google Shape;726;g393a02a1344_0_66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727" name="Google Shape;727;g393a02a1344_0_661"/>
          <p:cNvSpPr txBox="1"/>
          <p:nvPr/>
        </p:nvSpPr>
        <p:spPr>
          <a:xfrm>
            <a:off x="1028700" y="2025600"/>
            <a:ext cx="148377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Academic &amp; Technical References</a:t>
            </a:r>
            <a:endParaRPr b="1"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i="0" sz="4262" u="none" cap="none" strike="noStrike">
              <a:solidFill>
                <a:srgbClr val="AEAEAE"/>
              </a:solidFill>
              <a:latin typeface="Jost"/>
              <a:ea typeface="Jost"/>
              <a:cs typeface="Jost"/>
              <a:sym typeface="Jost"/>
            </a:endParaRPr>
          </a:p>
        </p:txBody>
      </p:sp>
      <p:grpSp>
        <p:nvGrpSpPr>
          <p:cNvPr id="728" name="Google Shape;728;g393a02a1344_0_661"/>
          <p:cNvGrpSpPr/>
          <p:nvPr/>
        </p:nvGrpSpPr>
        <p:grpSpPr>
          <a:xfrm>
            <a:off x="1028700" y="1028700"/>
            <a:ext cx="4030368" cy="777115"/>
            <a:chOff x="0" y="0"/>
            <a:chExt cx="1061489" cy="204671"/>
          </a:xfrm>
        </p:grpSpPr>
        <p:sp>
          <p:nvSpPr>
            <p:cNvPr id="729" name="Google Shape;729;g393a02a1344_0_66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730" name="Google Shape;730;g393a02a1344_0_66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M04</a:t>
              </a:r>
              <a:endParaRPr b="0" i="0" sz="1400" u="none" cap="none" strike="noStrike">
                <a:solidFill>
                  <a:srgbClr val="000000"/>
                </a:solidFill>
                <a:latin typeface="Arial"/>
                <a:ea typeface="Arial"/>
                <a:cs typeface="Arial"/>
                <a:sym typeface="Arial"/>
              </a:endParaRPr>
            </a:p>
          </p:txBody>
        </p:sp>
      </p:grpSp>
      <p:sp>
        <p:nvSpPr>
          <p:cNvPr id="731" name="Google Shape;731;g393a02a1344_0_66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732" name="Google Shape;732;g393a02a1344_0_661"/>
          <p:cNvSpPr txBox="1"/>
          <p:nvPr/>
        </p:nvSpPr>
        <p:spPr>
          <a:xfrm>
            <a:off x="1463225" y="3700350"/>
            <a:ext cx="14837700" cy="5044500"/>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Vaswani et al. (2017) — Attention Is All You Need.</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Brown et al. (2020) — Language Models are Few-Shot Learners.</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Kaplan et al. (2020) — Scaling Laws for Neural Language Models.</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Hoffmann et al. (2022) — Training Compute-Optimal Large Language Models (Chinchilla).</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Wei et al. (2022) — Emergent Abilities of Large Language Models.</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Radford &amp; Narasimhan (2018) — Improving Language Understanding by Generative Pre-Training.</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Touvron et al. (2023) — LLaMA: Open and Efficient Foundation Language Models.</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p:txBody>
      </p:sp>
      <p:grpSp>
        <p:nvGrpSpPr>
          <p:cNvPr id="733" name="Google Shape;733;g393a02a1344_0_661"/>
          <p:cNvGrpSpPr/>
          <p:nvPr/>
        </p:nvGrpSpPr>
        <p:grpSpPr>
          <a:xfrm>
            <a:off x="1028700" y="3624145"/>
            <a:ext cx="259162" cy="400015"/>
            <a:chOff x="0" y="0"/>
            <a:chExt cx="80174" cy="123748"/>
          </a:xfrm>
        </p:grpSpPr>
        <p:sp>
          <p:nvSpPr>
            <p:cNvPr id="734" name="Google Shape;734;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35" name="Google Shape;735;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36" name="Google Shape;736;g393a02a1344_0_661"/>
          <p:cNvGrpSpPr/>
          <p:nvPr/>
        </p:nvGrpSpPr>
        <p:grpSpPr>
          <a:xfrm>
            <a:off x="1028700" y="4907111"/>
            <a:ext cx="259162" cy="400015"/>
            <a:chOff x="0" y="0"/>
            <a:chExt cx="80174" cy="123748"/>
          </a:xfrm>
        </p:grpSpPr>
        <p:sp>
          <p:nvSpPr>
            <p:cNvPr id="737" name="Google Shape;737;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38" name="Google Shape;738;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39" name="Google Shape;739;g393a02a1344_0_661"/>
          <p:cNvGrpSpPr/>
          <p:nvPr/>
        </p:nvGrpSpPr>
        <p:grpSpPr>
          <a:xfrm>
            <a:off x="1028700" y="5516064"/>
            <a:ext cx="259162" cy="400015"/>
            <a:chOff x="0" y="0"/>
            <a:chExt cx="80174" cy="123748"/>
          </a:xfrm>
        </p:grpSpPr>
        <p:sp>
          <p:nvSpPr>
            <p:cNvPr id="740" name="Google Shape;740;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41" name="Google Shape;741;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42" name="Google Shape;742;g393a02a1344_0_661"/>
          <p:cNvGrpSpPr/>
          <p:nvPr/>
        </p:nvGrpSpPr>
        <p:grpSpPr>
          <a:xfrm>
            <a:off x="1028700" y="6143836"/>
            <a:ext cx="259162" cy="400015"/>
            <a:chOff x="0" y="0"/>
            <a:chExt cx="80174" cy="123748"/>
          </a:xfrm>
        </p:grpSpPr>
        <p:sp>
          <p:nvSpPr>
            <p:cNvPr id="743" name="Google Shape;743;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44" name="Google Shape;744;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45" name="Google Shape;745;g393a02a1344_0_661"/>
          <p:cNvGrpSpPr/>
          <p:nvPr/>
        </p:nvGrpSpPr>
        <p:grpSpPr>
          <a:xfrm>
            <a:off x="1028700" y="6765051"/>
            <a:ext cx="259162" cy="400015"/>
            <a:chOff x="0" y="0"/>
            <a:chExt cx="80174" cy="123748"/>
          </a:xfrm>
        </p:grpSpPr>
        <p:sp>
          <p:nvSpPr>
            <p:cNvPr id="746" name="Google Shape;746;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47" name="Google Shape;747;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48" name="Google Shape;748;g393a02a1344_0_661"/>
          <p:cNvGrpSpPr/>
          <p:nvPr/>
        </p:nvGrpSpPr>
        <p:grpSpPr>
          <a:xfrm>
            <a:off x="1028700" y="4241730"/>
            <a:ext cx="259162" cy="400015"/>
            <a:chOff x="0" y="0"/>
            <a:chExt cx="80174" cy="123748"/>
          </a:xfrm>
        </p:grpSpPr>
        <p:sp>
          <p:nvSpPr>
            <p:cNvPr id="749" name="Google Shape;749;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50" name="Google Shape;750;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51" name="Google Shape;751;g393a02a1344_0_661"/>
          <p:cNvGrpSpPr/>
          <p:nvPr/>
        </p:nvGrpSpPr>
        <p:grpSpPr>
          <a:xfrm>
            <a:off x="1028700" y="7386280"/>
            <a:ext cx="259162" cy="400015"/>
            <a:chOff x="0" y="0"/>
            <a:chExt cx="80174" cy="123748"/>
          </a:xfrm>
        </p:grpSpPr>
        <p:sp>
          <p:nvSpPr>
            <p:cNvPr id="752" name="Google Shape;752;g393a02a1344_0_66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53" name="Google Shape;753;g393a02a1344_0_66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sp>
        <p:nvSpPr>
          <p:cNvPr id="758" name="Google Shape;758;g393a02a1344_0_701"/>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77" l="0" r="-56479" t="-52937"/>
            </a:stretch>
          </a:blipFill>
          <a:ln>
            <a:noFill/>
          </a:ln>
        </p:spPr>
      </p:sp>
      <p:sp>
        <p:nvSpPr>
          <p:cNvPr id="759" name="Google Shape;759;g393a02a1344_0_701"/>
          <p:cNvSpPr txBox="1"/>
          <p:nvPr/>
        </p:nvSpPr>
        <p:spPr>
          <a:xfrm>
            <a:off x="1028700" y="2025600"/>
            <a:ext cx="14837700" cy="1980900"/>
          </a:xfrm>
          <a:prstGeom prst="rect">
            <a:avLst/>
          </a:prstGeom>
          <a:noFill/>
          <a:ln>
            <a:noFill/>
          </a:ln>
        </p:spPr>
        <p:txBody>
          <a:bodyPr anchorCtr="0" anchor="t" bIns="0" lIns="0" spcFirstLastPara="1" rIns="0" wrap="square" tIns="0">
            <a:spAutoFit/>
          </a:bodyPr>
          <a:lstStyle/>
          <a:p>
            <a:pPr indent="0" lvl="0" marL="0" marR="0" rtl="0" algn="l">
              <a:lnSpc>
                <a:spcPct val="100985"/>
              </a:lnSpc>
              <a:spcBef>
                <a:spcPts val="0"/>
              </a:spcBef>
              <a:spcAft>
                <a:spcPts val="0"/>
              </a:spcAft>
              <a:buClr>
                <a:srgbClr val="000000"/>
              </a:buClr>
              <a:buSzPts val="4262"/>
              <a:buFont typeface="Arial"/>
              <a:buNone/>
            </a:pPr>
            <a:r>
              <a:rPr b="1" lang="en-US" sz="4262">
                <a:solidFill>
                  <a:srgbClr val="AEAEAE"/>
                </a:solidFill>
                <a:latin typeface="Jost"/>
                <a:ea typeface="Jost"/>
                <a:cs typeface="Jost"/>
                <a:sym typeface="Jost"/>
              </a:rPr>
              <a:t>Academic &amp; Technical References</a:t>
            </a:r>
            <a:endParaRPr b="1"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sz="4262">
              <a:solidFill>
                <a:srgbClr val="AEAEAE"/>
              </a:solidFill>
              <a:latin typeface="Jost"/>
              <a:ea typeface="Jost"/>
              <a:cs typeface="Jost"/>
              <a:sym typeface="Jost"/>
            </a:endParaRPr>
          </a:p>
          <a:p>
            <a:pPr indent="0" lvl="0" marL="0" marR="0" rtl="0" algn="l">
              <a:lnSpc>
                <a:spcPct val="100985"/>
              </a:lnSpc>
              <a:spcBef>
                <a:spcPts val="0"/>
              </a:spcBef>
              <a:spcAft>
                <a:spcPts val="0"/>
              </a:spcAft>
              <a:buClr>
                <a:srgbClr val="000000"/>
              </a:buClr>
              <a:buSzPts val="4262"/>
              <a:buFont typeface="Arial"/>
              <a:buNone/>
            </a:pPr>
            <a:r>
              <a:t/>
            </a:r>
            <a:endParaRPr b="1" i="0" sz="4262" u="none" cap="none" strike="noStrike">
              <a:solidFill>
                <a:srgbClr val="AEAEAE"/>
              </a:solidFill>
              <a:latin typeface="Jost"/>
              <a:ea typeface="Jost"/>
              <a:cs typeface="Jost"/>
              <a:sym typeface="Jost"/>
            </a:endParaRPr>
          </a:p>
        </p:txBody>
      </p:sp>
      <p:grpSp>
        <p:nvGrpSpPr>
          <p:cNvPr id="760" name="Google Shape;760;g393a02a1344_0_701"/>
          <p:cNvGrpSpPr/>
          <p:nvPr/>
        </p:nvGrpSpPr>
        <p:grpSpPr>
          <a:xfrm>
            <a:off x="1028700" y="1028700"/>
            <a:ext cx="4030368" cy="777115"/>
            <a:chOff x="0" y="0"/>
            <a:chExt cx="1061489" cy="204671"/>
          </a:xfrm>
        </p:grpSpPr>
        <p:sp>
          <p:nvSpPr>
            <p:cNvPr id="761" name="Google Shape;761;g393a02a1344_0_701"/>
            <p:cNvSpPr/>
            <p:nvPr/>
          </p:nvSpPr>
          <p:spPr>
            <a:xfrm>
              <a:off x="0" y="0"/>
              <a:ext cx="1061489" cy="204671"/>
            </a:xfrm>
            <a:custGeom>
              <a:rect b="b" l="l" r="r" t="t"/>
              <a:pathLst>
                <a:path extrusionOk="0" h="204671" w="1061489">
                  <a:moveTo>
                    <a:pt x="0" y="0"/>
                  </a:moveTo>
                  <a:lnTo>
                    <a:pt x="1061489" y="0"/>
                  </a:lnTo>
                  <a:lnTo>
                    <a:pt x="1061489" y="204671"/>
                  </a:lnTo>
                  <a:lnTo>
                    <a:pt x="0" y="204671"/>
                  </a:lnTo>
                  <a:close/>
                </a:path>
              </a:pathLst>
            </a:custGeom>
            <a:solidFill>
              <a:srgbClr val="6592E6"/>
            </a:solidFill>
            <a:ln>
              <a:noFill/>
            </a:ln>
          </p:spPr>
        </p:sp>
        <p:sp>
          <p:nvSpPr>
            <p:cNvPr id="762" name="Google Shape;762;g393a02a1344_0_701"/>
            <p:cNvSpPr txBox="1"/>
            <p:nvPr/>
          </p:nvSpPr>
          <p:spPr>
            <a:xfrm>
              <a:off x="0" y="0"/>
              <a:ext cx="1061400" cy="204600"/>
            </a:xfrm>
            <a:prstGeom prst="rect">
              <a:avLst/>
            </a:prstGeom>
            <a:noFill/>
            <a:ln>
              <a:noFill/>
            </a:ln>
          </p:spPr>
          <p:txBody>
            <a:bodyPr anchorCtr="0" anchor="ctr" bIns="50800" lIns="50800" spcFirstLastPara="1" rIns="50800" wrap="square" tIns="50800">
              <a:noAutofit/>
            </a:bodyPr>
            <a:lstStyle/>
            <a:p>
              <a:pPr indent="0" lvl="0" marL="0" marR="0" rtl="0" algn="ctr">
                <a:lnSpc>
                  <a:spcPct val="120006"/>
                </a:lnSpc>
                <a:spcBef>
                  <a:spcPts val="0"/>
                </a:spcBef>
                <a:spcAft>
                  <a:spcPts val="0"/>
                </a:spcAft>
                <a:buClr>
                  <a:srgbClr val="000000"/>
                </a:buClr>
                <a:buSzPts val="3299"/>
                <a:buFont typeface="Arial"/>
                <a:buNone/>
              </a:pPr>
              <a:r>
                <a:rPr b="1" i="0" lang="en-US" sz="3299" u="none" cap="none" strike="noStrike">
                  <a:solidFill>
                    <a:srgbClr val="FFFFFF"/>
                  </a:solidFill>
                  <a:latin typeface="Jost"/>
                  <a:ea typeface="Jost"/>
                  <a:cs typeface="Jost"/>
                  <a:sym typeface="Jost"/>
                </a:rPr>
                <a:t>M04</a:t>
              </a:r>
              <a:endParaRPr b="0" i="0" sz="1400" u="none" cap="none" strike="noStrike">
                <a:solidFill>
                  <a:srgbClr val="000000"/>
                </a:solidFill>
                <a:latin typeface="Arial"/>
                <a:ea typeface="Arial"/>
                <a:cs typeface="Arial"/>
                <a:sym typeface="Arial"/>
              </a:endParaRPr>
            </a:p>
          </p:txBody>
        </p:sp>
      </p:grpSp>
      <p:sp>
        <p:nvSpPr>
          <p:cNvPr id="763" name="Google Shape;763;g393a02a1344_0_701"/>
          <p:cNvSpPr/>
          <p:nvPr/>
        </p:nvSpPr>
        <p:spPr>
          <a:xfrm>
            <a:off x="13305333" y="8066322"/>
            <a:ext cx="3953967" cy="1263927"/>
          </a:xfrm>
          <a:custGeom>
            <a:rect b="b" l="l" r="r" t="t"/>
            <a:pathLst>
              <a:path extrusionOk="0" h="1263927" w="3953967">
                <a:moveTo>
                  <a:pt x="0" y="0"/>
                </a:moveTo>
                <a:lnTo>
                  <a:pt x="3953967" y="0"/>
                </a:lnTo>
                <a:lnTo>
                  <a:pt x="3953967" y="1263928"/>
                </a:lnTo>
                <a:lnTo>
                  <a:pt x="0" y="1263928"/>
                </a:lnTo>
                <a:lnTo>
                  <a:pt x="0" y="0"/>
                </a:lnTo>
                <a:close/>
              </a:path>
            </a:pathLst>
          </a:custGeom>
          <a:blipFill rotWithShape="1">
            <a:blip r:embed="rId4">
              <a:alphaModFix/>
            </a:blip>
            <a:stretch>
              <a:fillRect b="0" l="0" r="0" t="0"/>
            </a:stretch>
          </a:blipFill>
          <a:ln>
            <a:noFill/>
          </a:ln>
        </p:spPr>
      </p:sp>
      <p:sp>
        <p:nvSpPr>
          <p:cNvPr id="764" name="Google Shape;764;g393a02a1344_0_701"/>
          <p:cNvSpPr txBox="1"/>
          <p:nvPr/>
        </p:nvSpPr>
        <p:spPr>
          <a:xfrm>
            <a:off x="1463225" y="3700350"/>
            <a:ext cx="14837700" cy="4098600"/>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Penedo et al. (2023) — The RefinedWeb Dataset.</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Ouyang et al. (2022) — Training Language Models to Follow Instructions with Human Feedback.</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Rafailov et al. (2023) — Direct Preference Optimization (DPO).</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Su et al. (2021) — RoFormer: Rotary Position Embedding.</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rPr lang="en-US" sz="2731">
                <a:solidFill>
                  <a:srgbClr val="AEAEAE"/>
                </a:solidFill>
                <a:latin typeface="Jost"/>
                <a:ea typeface="Jost"/>
                <a:cs typeface="Jost"/>
                <a:sym typeface="Jost"/>
              </a:rPr>
              <a:t>Dao et al. (2022) — FlashAttention.</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sz="2731">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a:p>
            <a:pPr indent="0" lvl="0" marL="0" marR="0" rtl="0" algn="l">
              <a:lnSpc>
                <a:spcPct val="75000"/>
              </a:lnSpc>
              <a:spcBef>
                <a:spcPts val="0"/>
              </a:spcBef>
              <a:spcAft>
                <a:spcPts val="0"/>
              </a:spcAft>
              <a:buClr>
                <a:srgbClr val="000000"/>
              </a:buClr>
              <a:buSzPts val="2731"/>
              <a:buFont typeface="Arial"/>
              <a:buNone/>
            </a:pPr>
            <a:r>
              <a:t/>
            </a:r>
            <a:endParaRPr b="0" i="0" sz="2731" u="none" cap="none" strike="noStrike">
              <a:solidFill>
                <a:srgbClr val="AEAEAE"/>
              </a:solidFill>
              <a:latin typeface="Jost"/>
              <a:ea typeface="Jost"/>
              <a:cs typeface="Jost"/>
              <a:sym typeface="Jost"/>
            </a:endParaRPr>
          </a:p>
        </p:txBody>
      </p:sp>
      <p:grpSp>
        <p:nvGrpSpPr>
          <p:cNvPr id="765" name="Google Shape;765;g393a02a1344_0_701"/>
          <p:cNvGrpSpPr/>
          <p:nvPr/>
        </p:nvGrpSpPr>
        <p:grpSpPr>
          <a:xfrm>
            <a:off x="1028700" y="3624145"/>
            <a:ext cx="259162" cy="400015"/>
            <a:chOff x="0" y="0"/>
            <a:chExt cx="80174" cy="123748"/>
          </a:xfrm>
        </p:grpSpPr>
        <p:sp>
          <p:nvSpPr>
            <p:cNvPr id="766" name="Google Shape;766;g393a02a1344_0_7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67" name="Google Shape;767;g393a02a1344_0_7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68" name="Google Shape;768;g393a02a1344_0_701"/>
          <p:cNvGrpSpPr/>
          <p:nvPr/>
        </p:nvGrpSpPr>
        <p:grpSpPr>
          <a:xfrm>
            <a:off x="1028700" y="4907111"/>
            <a:ext cx="259162" cy="400015"/>
            <a:chOff x="0" y="0"/>
            <a:chExt cx="80174" cy="123748"/>
          </a:xfrm>
        </p:grpSpPr>
        <p:sp>
          <p:nvSpPr>
            <p:cNvPr id="769" name="Google Shape;769;g393a02a1344_0_7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70" name="Google Shape;770;g393a02a1344_0_7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71" name="Google Shape;771;g393a02a1344_0_701"/>
          <p:cNvGrpSpPr/>
          <p:nvPr/>
        </p:nvGrpSpPr>
        <p:grpSpPr>
          <a:xfrm>
            <a:off x="1028700" y="5516064"/>
            <a:ext cx="259162" cy="400015"/>
            <a:chOff x="0" y="0"/>
            <a:chExt cx="80174" cy="123748"/>
          </a:xfrm>
        </p:grpSpPr>
        <p:sp>
          <p:nvSpPr>
            <p:cNvPr id="772" name="Google Shape;772;g393a02a1344_0_7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73" name="Google Shape;773;g393a02a1344_0_7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74" name="Google Shape;774;g393a02a1344_0_701"/>
          <p:cNvGrpSpPr/>
          <p:nvPr/>
        </p:nvGrpSpPr>
        <p:grpSpPr>
          <a:xfrm>
            <a:off x="1028700" y="6143836"/>
            <a:ext cx="259162" cy="400015"/>
            <a:chOff x="0" y="0"/>
            <a:chExt cx="80174" cy="123748"/>
          </a:xfrm>
        </p:grpSpPr>
        <p:sp>
          <p:nvSpPr>
            <p:cNvPr id="775" name="Google Shape;775;g393a02a1344_0_7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76" name="Google Shape;776;g393a02a1344_0_7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777" name="Google Shape;777;g393a02a1344_0_701"/>
          <p:cNvGrpSpPr/>
          <p:nvPr/>
        </p:nvGrpSpPr>
        <p:grpSpPr>
          <a:xfrm>
            <a:off x="1028700" y="4241730"/>
            <a:ext cx="259162" cy="400015"/>
            <a:chOff x="0" y="0"/>
            <a:chExt cx="80174" cy="123748"/>
          </a:xfrm>
        </p:grpSpPr>
        <p:sp>
          <p:nvSpPr>
            <p:cNvPr id="778" name="Google Shape;778;g393a02a1344_0_701"/>
            <p:cNvSpPr/>
            <p:nvPr/>
          </p:nvSpPr>
          <p:spPr>
            <a:xfrm>
              <a:off x="0" y="0"/>
              <a:ext cx="80174" cy="123748"/>
            </a:xfrm>
            <a:custGeom>
              <a:rect b="b" l="l" r="r" t="t"/>
              <a:pathLst>
                <a:path extrusionOk="0" h="123748" w="80174">
                  <a:moveTo>
                    <a:pt x="0" y="0"/>
                  </a:moveTo>
                  <a:lnTo>
                    <a:pt x="80174" y="0"/>
                  </a:lnTo>
                  <a:lnTo>
                    <a:pt x="80174" y="123748"/>
                  </a:lnTo>
                  <a:lnTo>
                    <a:pt x="0" y="123748"/>
                  </a:lnTo>
                  <a:close/>
                </a:path>
              </a:pathLst>
            </a:custGeom>
            <a:solidFill>
              <a:srgbClr val="6592E6"/>
            </a:solidFill>
            <a:ln>
              <a:noFill/>
            </a:ln>
          </p:spPr>
        </p:sp>
        <p:sp>
          <p:nvSpPr>
            <p:cNvPr id="779" name="Google Shape;779;g393a02a1344_0_701"/>
            <p:cNvSpPr txBox="1"/>
            <p:nvPr/>
          </p:nvSpPr>
          <p:spPr>
            <a:xfrm>
              <a:off x="0" y="0"/>
              <a:ext cx="80100" cy="123600"/>
            </a:xfrm>
            <a:prstGeom prst="rect">
              <a:avLst/>
            </a:prstGeom>
            <a:noFill/>
            <a:ln>
              <a:noFill/>
            </a:ln>
          </p:spPr>
          <p:txBody>
            <a:bodyPr anchorCtr="0" anchor="ctr" bIns="50800" lIns="50800" spcFirstLastPara="1" rIns="50800" wrap="square" tIns="50800">
              <a:noAutofit/>
            </a:bodyPr>
            <a:lstStyle/>
            <a:p>
              <a:pPr indent="0" lvl="0" marL="0" marR="0" rtl="0" algn="ctr">
                <a:lnSpc>
                  <a:spcPct val="219944"/>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g393a02a1344_0_690"/>
          <p:cNvSpPr/>
          <p:nvPr/>
        </p:nvSpPr>
        <p:spPr>
          <a:xfrm>
            <a:off x="0" y="0"/>
            <a:ext cx="18288000" cy="10287000"/>
          </a:xfrm>
          <a:custGeom>
            <a:rect b="b" l="l" r="r" t="t"/>
            <a:pathLst>
              <a:path extrusionOk="0" h="10287000" w="18288000">
                <a:moveTo>
                  <a:pt x="0" y="0"/>
                </a:moveTo>
                <a:lnTo>
                  <a:pt x="18288000" y="0"/>
                </a:lnTo>
                <a:lnTo>
                  <a:pt x="18288000" y="10287000"/>
                </a:lnTo>
                <a:lnTo>
                  <a:pt x="0" y="10287000"/>
                </a:lnTo>
                <a:lnTo>
                  <a:pt x="0" y="0"/>
                </a:lnTo>
                <a:close/>
              </a:path>
            </a:pathLst>
          </a:custGeom>
          <a:blipFill rotWithShape="1">
            <a:blip r:embed="rId3">
              <a:alphaModFix/>
            </a:blip>
            <a:stretch>
              <a:fillRect b="-57889" l="0" r="-56467" t="-52938"/>
            </a:stretch>
          </a:blipFill>
          <a:ln>
            <a:noFill/>
          </a:ln>
        </p:spPr>
      </p:sp>
      <p:sp>
        <p:nvSpPr>
          <p:cNvPr id="785" name="Google Shape;785;g393a02a1344_0_690"/>
          <p:cNvSpPr/>
          <p:nvPr/>
        </p:nvSpPr>
        <p:spPr>
          <a:xfrm>
            <a:off x="5915603" y="4111509"/>
            <a:ext cx="6456794" cy="2063982"/>
          </a:xfrm>
          <a:custGeom>
            <a:rect b="b" l="l" r="r" t="t"/>
            <a:pathLst>
              <a:path extrusionOk="0" h="2063982" w="6456794">
                <a:moveTo>
                  <a:pt x="0" y="0"/>
                </a:moveTo>
                <a:lnTo>
                  <a:pt x="6456794" y="0"/>
                </a:lnTo>
                <a:lnTo>
                  <a:pt x="6456794" y="2063982"/>
                </a:lnTo>
                <a:lnTo>
                  <a:pt x="0" y="2063982"/>
                </a:lnTo>
                <a:lnTo>
                  <a:pt x="0" y="0"/>
                </a:lnTo>
                <a:close/>
              </a:path>
            </a:pathLst>
          </a:custGeom>
          <a:blipFill rotWithShape="1">
            <a:blip r:embed="rId4">
              <a:alphaModFix/>
            </a:blip>
            <a:stretch>
              <a:fillRect b="0" l="0" r="0" t="0"/>
            </a:stretch>
          </a:blipFill>
          <a:ln>
            <a:noFill/>
          </a:ln>
        </p:spPr>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